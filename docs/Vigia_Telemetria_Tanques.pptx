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71b89ee3-de1d-7d5b-b5d6-c0cb69ee474b}">
          <p14:sldIdLst>
            <p14:sldId id="256"/>
            <p14:sldId id="257"/>
          </p14:sldIdLst>
        </p14:section>
        <p14:section name="Já existe" id="{daef6c02-5f9e-f9de-463c-4eb7242cc3a8}">
          <p14:sldIdLst>
            <p14:sldId id="258"/>
          </p14:sldIdLst>
        </p14:section>
        <p14:section name="Arquitetura" id="{0aa230a8-7cf3-6201-6a87-b5854968632a}">
          <p14:sldIdLst>
            <p14:sldId id="259"/>
          </p14:sldIdLst>
        </p14:section>
        <p14:section name="As camadas em detalhe" id="{964fd79a-98d1-034e-5f49-f86a92260e82}">
          <p14:sldIdLst>
            <p14:sldId id="260"/>
            <p14:sldId id="261"/>
            <p14:sldId id="262"/>
            <p14:sldId id="263"/>
            <p14:sldId id="264"/>
            <p14:sldId id="265"/>
          </p14:sldIdLst>
        </p14:section>
        <p14:section name="O que a plataforma calcula" id="{575998b3-eecb-665f-f891-552ec5129c0a}">
          <p14:sldIdLst>
            <p14:sldId id="266"/>
            <p14:sldId id="267"/>
            <p14:sldId id="268"/>
            <p14:sldId id="269"/>
          </p14:sldIdLst>
        </p14:section>
        <p14:section name="Segurança" id="{11c58e9c-b11e-b414-1d25-a7004880bac2}">
          <p14:sldIdLst>
            <p14:sldId id="270"/>
          </p14:sldIdLst>
        </p14:section>
        <p14:section name="Piloto e próximo passo" id="{61ccdacd-f3d3-7e62-5c64-cd2ba6baca6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Esta apresentação responde à pergunta que a Sonangol mais coloca: como monitorizar remotamente qualquer posto. Vou mostrar a tecnologia camada a camada — sonda, gateway, rede, plataforma e ecrãs — com exemplos concretos.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boa notícia: não é preciso inventar nada. O medidor já está dentro do tanque na maioria dos postos modernos, e a rede móvel já chega ao posto. O que falta é ligar os dois a uma plataforma central — é exatamente isso que o Vigia 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monitorização remota de tanques é um mercado estabelecido. O maior fabricante de medidores (Gilbarco Veeder-Root) vende uma plataforma na nuvem, e há empresas africanas a instalar sistemas com envio por 4G em sete países. O que não encontrei foi um caso público numa rede inteira em Angola — e os números africanos são dos próprios fornecedores. Por isso propomos um piloto que mede os resultados na rede da Sonangol. Porquê o Vigia: as plataformas dos fabricantes funcionam melhor com uma só marca; o Vigia junta todas as fontes, fica sob controlo da Sonangol e é adaptado à logística angolana.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é a arquitetura inteira numa imagem. Passo 1: a sonda dentro do tanque mede continuamente. Passo 2: um pequeno gateway no escritório lê a consola do medidor a cada 10 minutos — só leitura. Passo 3: envia a leitura pela rede móvel, cifrada. Passo 4: a plataforma converte em litros, deteta vendas e entregas e prevê a hora de rutura. Passo 5: o alerta aparece no painel de despacho e no telemóvel do gestor regional. As linhas tracejadas são a parte que viaja por rede pública, sempre cifrada.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tanques são subterrâneos, tipicamente 20 a 50 mil litros, um por produto. A sonda é uma haste vertical instalada pela boca de visita. Tem dois flutuadores com ímanes: um segue a superfície do combustível, o outro, mais denso, só flutua na água do fundo. A consola envia um pulso elétrico pela haste; quando passa pelo íman cria uma onda que volta ao topo, e o tempo de regresso dá a altura com precisão da ordem do milímetro. Com a tabela de arqueação, a consola converte altura em litros e corrige para 15 °C, porque o combustível dilata com o calor. O interior do tanque é Zona 0 e a boca de visita é Zona 1: atmosfera explosiva, por isso tudo o que lá estiver é certificado.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piloto começa por um levantamento: em cada posto vemos o que já existe. O caso ideal é o posto que já tem medidor automático (ATG): não se instala nada no tanque, só se liga um cabo de dados à consola. Onde não há ATG, instala-se uma sonda nova ou um radar no topo, sempre certificados. O ultrassónico é pouco adequado a gasolina por causa dos vapores. E a vareta manual com registo numa app é um passo intermédio que pode começar já, sem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do posto, o Vigia acrescenta um só equipamento: o gateway, no escritório, ao lado da consola do medidor. Liga-se à consola por um cabo série (RS-232) e só pede leituras. Fica numa rede própria, separada da rede da loja: não toca no sistema de caixa, no controlador das bombas nem no router da loja. Tem antena externa e bateria para os cortes de energia. Numa fase 2 opcional, e só com aprovação da TI da Sonangol, pode ler as vendas do controlador de bombas para a reconciliação.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gateway é do tamanho de um router. Tem dois cartões SIM de operadores diferentes e troca sozinho se um falhar. Liga-se à consola por porta série ou rede. Tem bateria, guarda 30 dias de leituras se a rede cair, comunica cifrado com um certificado único, e é de gama industrial para calor e poeira. Existem várias marcas desta classe; a escolha final faz-se depois do levantamento.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posto fala diretamente com a plataforma central — uma topologia em estrela. Se um posto perder a rede, os outros continuam normalmente. Cada posto tem dois caminhos: dois operadores, ou fibra mais 4G, com troca automática. Postos rurais sem cobertura usam satélite. Com uma APN privada contratada ao operador, os gateways nem sequer ficam visíveis na Internet pública. Tudo entra por um firewall na plataforma, que pode estar no datacenter da Sonangol ou numa nuvem escolhida pela Sonangol.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Isto é a conversa real, simplificada. O gateway envia à consola o comando i201 — o relatório de inventário do protocolo Veeder-Root, que é o padrão do setor e é imitado por muitas outras marcas. A consola responde com volume, altura, água e temperatura de cada tanque. O gateway transforma isso numa mensagem pequena e envia-a à plataforma por MQTT, um protocolo leve feito para redes móveis instáveis, cifrado com TLS. São cerca de 1 KB por leitura: com três tanques a cada 10 minutos, dá uns 5 MB por mês por posto — um pacote de dados M2M básico chega.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leitura passa por esta cadeia: valida-se, converte-se em litros a 15 °C, e compara-se com as anteriores para reconhecer eventos. Uma venda é uma descida gradual. Uma entrega é uma subida brusca — e a plataforma confere o volume recebido com a fatura. Uma anomalia é uma descida sem vendas, por exemplo de madrugada, o que pode indicar fuga ou desvio. Depois, a previsão calcula a hora de rutura e a prioridade junta o tempo de viagem do camião.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com dados ilustrativos de um tanque de gasóleo de 30 mil litros. Durante a noite o consumo é baixo; de manhã desce mais depressa. Às 10h05 a plataforma deteta a entrega sozinha e confere: mediu 19 700 litros contra 20 000 faturados. Às 19h há 12 100 litros. A previsão mostra que chega ao nível crítico às 01h10 de quarta; como o camião precisa de 3 horas, a recomendação é despachar até às 22h00.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cálculos automáticos. Primeiro, a hora-limite de despacho, a partir da previsão e do tempo de viagem. Segundo, a confirmação de entregas: a diferença entre fatura e volume medido, corrigido para 15 °C. Terceiro, a reconciliação diária: o que saiu do tanque contra o que as bombas venderam — diferenças acima do limite apontam para fuga, calibração ou desvio. Este último exige ler as vendas das bombas, numa fase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mesmos dados chegam a pessoas diferentes. A sede e o despacho veem a rede no computador: indicadores, mapa e a fila de reabastecimento por prioridade. O gestor regional recebe um alerta no telemóvel e confirma o despacho com um toque. E o SMS garante que o alerta crítico chega mesmo sem dados móveis. O acesso é por perfil: um gerente de posto só vê o seu posto. Ecrãs ilustrativos.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ponto mais importante para a TI e a segurança: o sistema só lê. Não pode mexer nas bombas nem nos preços, porque não está ligado a eles. Os dados viajam cifrados, cada gateway tem identidade própria, e o acesso é por perfil com dois fatores. Para as condições angolanas: bateria para os cortes de energia, dois operadores e memória de 30 dias para falhas de rede. Na segurança física, nos postos com medidor existente não se instala nada dentro do tanque; qualquer sonda nova é certificada para atmosferas explosivas e instalada por técnico credenciado.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Proposta concreta: piloto de 90 dias em 10 a 20 postos de Luanda — por exemplo Talatona, Kilamba Kiaxi e Viana — com postos com e sem medidor automático, para testar os dois cenários. Semanas 1 e 2: levantamento. Até à semana 6: instalação e primeira leitura real no painel. Depois, painel ao vivo, modelo de previsão e avaliação. Medimos horas de posto seco, ruturas e entregas de emergência, o erro da previsão e as diferenças entre faturas e volumes recebidos — antes e durante o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Ordem de grandeza, para orientação: o gateway com antena custa entre 150 e 500 dólares por posto, uma vez. Uma UPS dedicada, se o posto não tiver, 50 a 150. Os dados móveis são poucos dólares por mês. O custo grande está nos postos sem medidor automático, onde é preciso instalar uma sonda certificada. Sublinho: são estimativas, não uma cotação — os números reais saem do levantamento.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Proponho como próximo passo uma visita técnica a dois ou três postos em Luanda, com um técnico da Sonangol. Com isso respondemos às três perguntas que decidem o desenho do piloto: que medidores existem, onde alojar a plataforma, e quem lidera do lado da Sonangol.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GIA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65760"/>
          </a:xfrm>
          <a:prstGeom prst="rect">
            <a:avLst/>
          </a:prstGeom>
          <a:noFill/>
          <a:ln/>
        </p:spPr>
        <p:txBody>
          <a:bodyPr wrap="square" rtlCol="0"/>
          <a:lstStyle>
            <a:lvl1pPr indent="0" marL="0">
              <a:buNone/>
              <a:defRPr lang="en-US" sz="1300" b="1" spc="300" kern="0"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300" dirty="0"/>
          </a:p>
        </p:txBody>
      </p:sp>
      <p:sp>
        <p:nvSpPr>
          <p:cNvPr id="3" name="Text 0"/>
          <p:cNvSpPr/>
          <p:nvPr>
            <p:ph idx="101" type="title" hasCustomPrompt="1"/>
          </p:nvPr>
        </p:nvSpPr>
        <p:spPr>
          <a:xfrm>
            <a:off x="548640" y="868680"/>
            <a:ext cx="1106424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GIA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rtlCol="0"/>
          <a:lstStyle>
            <a:lvl1pPr indent="0" marL="0">
              <a:buNone/>
              <a:defRPr lang="en-US" sz="1200" b="1" spc="3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tx2"/>
                </a:solidFill>
              </a:rPr>
              <a:t>Vigia · Telemetria remota de tanques · preparado para a Sonangol Distribuidora</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65760"/>
          </a:xfrm>
          <a:prstGeom prst="rect">
            <a:avLst/>
          </a:prstGeom>
          <a:noFill/>
          <a:ln/>
        </p:spPr>
        <p:txBody>
          <a:bodyPr wrap="square" lIns="0" tIns="0" rIns="0" bIns="0" rtlCol="0"/>
          <a:lstStyle/>
          <a:p>
            <a:pPr indent="0" marL="0">
              <a:buNone/>
            </a:pPr>
            <a:r>
              <a:rPr lang="en-US" sz="1300" b="1" spc="300" kern="0" dirty="0">
                <a:solidFill>
                  <a:schemeClr val="accent2"/>
                </a:solidFill>
                <a:latin typeface="Courier New" pitchFamily="34" charset="0"/>
                <a:ea typeface="Courier New" pitchFamily="34" charset="-122"/>
                <a:cs typeface="Courier New" pitchFamily="34" charset="-120"/>
              </a:rPr>
              <a:t>APRESENTAÇÃO TÉCNICA · OUTUBRO 2026</a:t>
            </a:r>
            <a:endParaRPr lang="en-US" sz="1300" dirty="0"/>
          </a:p>
        </p:txBody>
      </p:sp>
      <p:sp>
        <p:nvSpPr>
          <p:cNvPr id="3" name="Text 0"/>
          <p:cNvSpPr/>
          <p:nvPr>
            <p:ph idx="101" type="title" hasCustomPrompt="1"/>
          </p:nvPr>
        </p:nvSpPr>
        <p:spPr>
          <a:xfrm>
            <a:off x="548640" y="868680"/>
            <a:ext cx="11064240" cy="914400"/>
          </a:xfrm>
          <a:prstGeom prst="rect">
            <a:avLst/>
          </a:prstGeom>
          <a:noFill/>
          <a:ln/>
        </p:spPr>
        <p:txBody>
          <a:bodyPr wrap="square" lIns="0" tIns="0" rIns="0" bIns="0" rtlCol="0" anchor="t"/>
          <a:lstStyle/>
          <a:p>
            <a:pPr algn="l" indent="0" marL="0">
              <a:buNone/>
            </a:pPr>
            <a:endParaRPr lang="en-US" sz="4000" dirty="0"/>
          </a:p>
        </p:txBody>
      </p:sp>
      <p:sp>
        <p:nvSpPr>
          <p:cNvPr id="4" name="Text 2"/>
          <p:cNvSpPr txBox="1"/>
          <p:nvPr/>
        </p:nvSpPr>
        <p:spPr>
          <a:xfrm>
            <a:off x="7498080" y="457200"/>
            <a:ext cx="2148840" cy="292608"/>
          </a:xfrm>
          <a:prstGeom prst="rect">
            <a:avLst/>
          </a:prstGeom>
          <a:noFill/>
          <a:ln/>
        </p:spPr>
        <p:txBody>
          <a:bodyPr wrap="square" lIns="0" tIns="0" rIns="0" bIns="0" rtlCol="0" anchor="t"/>
          <a:lstStyle/>
          <a:p>
            <a:pPr algn="r" indent="0" marL="0">
              <a:buNone/>
            </a:pPr>
            <a:r>
              <a:rPr lang="en-US" sz="1100" b="1" spc="200" kern="0" dirty="0">
                <a:solidFill>
                  <a:srgbClr val="C9CFDD"/>
                </a:solidFill>
                <a:latin typeface="Courier New" pitchFamily="34" charset="0"/>
                <a:ea typeface="Courier New" pitchFamily="34" charset="-122"/>
                <a:cs typeface="Courier New" pitchFamily="34" charset="-120"/>
              </a:rPr>
              <a:t>PREPARADO PARA</a:t>
            </a:r>
            <a:endParaRPr lang="en-US" sz="1100" dirty="0"/>
          </a:p>
        </p:txBody>
      </p:sp>
      <p:pic>
        <p:nvPicPr>
          <p:cNvPr id="5" name="logo-sonangol" descr="Sonangol">    </p:cNvPr>
          <p:cNvPicPr>
            <a:picLocks noChangeAspect="1"/>
          </p:cNvPicPr>
          <p:nvPr/>
        </p:nvPicPr>
        <p:blipFill>
          <a:blip r:embed="rId1"/>
          <a:stretch>
            <a:fillRect/>
          </a:stretch>
        </p:blipFill>
        <p:spPr>
          <a:xfrm>
            <a:off x="9829800" y="347472"/>
            <a:ext cx="1822804" cy="512064"/>
          </a:xfrm>
          <a:prstGeom prst="rect">
            <a:avLst/>
          </a:prstGeom>
        </p:spPr>
      </p:pic>
      <p:sp>
        <p:nvSpPr>
          <p:cNvPr id="6" name="Text 3"/>
          <p:cNvSpPr txBox="1"/>
          <p:nvPr/>
        </p:nvSpPr>
        <p:spPr>
          <a:xfrm>
            <a:off x="548640" y="960120"/>
            <a:ext cx="7315200" cy="1188720"/>
          </a:xfrm>
          <a:prstGeom prst="rect">
            <a:avLst/>
          </a:prstGeom>
          <a:noFill/>
          <a:ln/>
        </p:spPr>
        <p:txBody>
          <a:bodyPr wrap="square" lIns="0" tIns="0" rIns="0" bIns="0" rtlCol="0" anchor="t"/>
          <a:lstStyle/>
          <a:p>
            <a:pPr indent="0" marL="0">
              <a:buNone/>
            </a:pPr>
            <a:r>
              <a:rPr lang="en-US" sz="8800" b="1" spc="600" kern="0" dirty="0">
                <a:solidFill>
                  <a:schemeClr val="bg1"/>
                </a:solidFill>
                <a:latin typeface="Courier New" pitchFamily="34" charset="0"/>
                <a:ea typeface="Courier New" pitchFamily="34" charset="-122"/>
                <a:cs typeface="Courier New" pitchFamily="34" charset="-120"/>
              </a:rPr>
              <a:t>VIGIA</a:t>
            </a:r>
            <a:endParaRPr lang="en-US" sz="8800" dirty="0"/>
          </a:p>
        </p:txBody>
      </p:sp>
      <p:sp>
        <p:nvSpPr>
          <p:cNvPr id="7" name="Text 4"/>
          <p:cNvSpPr txBox="1"/>
          <p:nvPr/>
        </p:nvSpPr>
        <p:spPr>
          <a:xfrm>
            <a:off x="548640" y="2331720"/>
            <a:ext cx="8412480" cy="1188720"/>
          </a:xfrm>
          <a:prstGeom prst="rect">
            <a:avLst/>
          </a:prstGeom>
          <a:noFill/>
          <a:ln/>
        </p:spPr>
        <p:txBody>
          <a:bodyPr wrap="square" lIns="0" tIns="0" rIns="0" bIns="0" rtlCol="0" anchor="t"/>
          <a:lstStyle/>
          <a:p>
            <a:pPr indent="0" marL="0">
              <a:buNone/>
            </a:pPr>
            <a:r>
              <a:rPr lang="en-US" sz="3600" b="1" dirty="0">
                <a:solidFill>
                  <a:schemeClr val="bg1"/>
                </a:solidFill>
              </a:rPr>
              <a:t>Telemetria remota de tanques para a rede Sonangol Distribuidora</a:t>
            </a:r>
            <a:endParaRPr lang="en-US" sz="3600" dirty="0"/>
          </a:p>
        </p:txBody>
      </p:sp>
      <p:sp>
        <p:nvSpPr>
          <p:cNvPr id="8" name="Text 5"/>
          <p:cNvSpPr txBox="1"/>
          <p:nvPr/>
        </p:nvSpPr>
        <p:spPr>
          <a:xfrm>
            <a:off x="548640" y="3611880"/>
            <a:ext cx="8229600" cy="457200"/>
          </a:xfrm>
          <a:prstGeom prst="rect">
            <a:avLst/>
          </a:prstGeom>
          <a:noFill/>
          <a:ln/>
        </p:spPr>
        <p:txBody>
          <a:bodyPr wrap="square" lIns="0" tIns="0" rIns="0" bIns="0" rtlCol="0" anchor="t"/>
          <a:lstStyle/>
          <a:p>
            <a:pPr indent="0" marL="0">
              <a:buNone/>
            </a:pPr>
            <a:r>
              <a:rPr lang="en-US" sz="2000" dirty="0">
                <a:solidFill>
                  <a:schemeClr val="accent2"/>
                </a:solidFill>
              </a:rPr>
              <a:t>Como funciona — do tanque ao telemóvel</a:t>
            </a:r>
            <a:endParaRPr lang="en-US" sz="2000" dirty="0"/>
          </a:p>
        </p:txBody>
      </p:sp>
      <p:sp>
        <p:nvSpPr>
          <p:cNvPr id="9" name="Shape 6"/>
          <p:cNvSpPr/>
          <p:nvPr/>
        </p:nvSpPr>
        <p:spPr>
          <a:xfrm>
            <a:off x="548640" y="4434840"/>
            <a:ext cx="777240" cy="777240"/>
          </a:xfrm>
          <a:prstGeom prst="ellipse">
            <a:avLst/>
          </a:prstGeom>
          <a:solidFill>
            <a:srgbClr val="5B4BC4"/>
          </a:solidFill>
          <a:ln/>
        </p:spPr>
      </p:sp>
      <p:pic>
        <p:nvPicPr>
          <p:cNvPr id="10" name="Image 1" descr="preencoded.png">    </p:cNvPr>
          <p:cNvPicPr>
            <a:picLocks noChangeAspect="1"/>
          </p:cNvPicPr>
          <p:nvPr/>
        </p:nvPicPr>
        <p:blipFill>
          <a:blip r:embed="rId2"/>
          <a:stretch>
            <a:fillRect/>
          </a:stretch>
        </p:blipFill>
        <p:spPr>
          <a:xfrm>
            <a:off x="719633" y="4605833"/>
            <a:ext cx="435254" cy="435254"/>
          </a:xfrm>
          <a:prstGeom prst="rect">
            <a:avLst/>
          </a:prstGeom>
        </p:spPr>
      </p:pic>
      <p:sp>
        <p:nvSpPr>
          <p:cNvPr id="11" name="Text 7"/>
          <p:cNvSpPr txBox="1"/>
          <p:nvPr/>
        </p:nvSpPr>
        <p:spPr>
          <a:xfrm>
            <a:off x="274320" y="5285232"/>
            <a:ext cx="1325880" cy="320040"/>
          </a:xfrm>
          <a:prstGeom prst="rect">
            <a:avLst/>
          </a:prstGeom>
          <a:noFill/>
          <a:ln/>
        </p:spPr>
        <p:txBody>
          <a:bodyPr wrap="square" lIns="0" tIns="0" rIns="0" bIns="0" rtlCol="0" anchor="t"/>
          <a:lstStyle/>
          <a:p>
            <a:pPr algn="ctr" indent="0" marL="0">
              <a:buNone/>
            </a:pPr>
            <a:r>
              <a:rPr lang="en-US" sz="1400" dirty="0">
                <a:solidFill>
                  <a:schemeClr val="bg1"/>
                </a:solidFill>
              </a:rPr>
              <a:t>Sonda</a:t>
            </a:r>
            <a:endParaRPr lang="en-US" sz="1400" dirty="0"/>
          </a:p>
        </p:txBody>
      </p:sp>
      <p:sp>
        <p:nvSpPr>
          <p:cNvPr id="12" name="Shape 8"/>
          <p:cNvSpPr/>
          <p:nvPr/>
        </p:nvSpPr>
        <p:spPr>
          <a:xfrm>
            <a:off x="1417320" y="4823460"/>
            <a:ext cx="640080" cy="914"/>
          </a:xfrm>
          <a:prstGeom prst="line">
            <a:avLst/>
          </a:prstGeom>
          <a:noFill/>
          <a:ln w="25400">
            <a:solidFill>
              <a:schemeClr val="accent2"/>
            </a:solidFill>
            <a:prstDash val="solid"/>
            <a:tailEnd type="triangle"/>
          </a:ln>
        </p:spPr>
      </p:sp>
      <p:sp>
        <p:nvSpPr>
          <p:cNvPr id="13" name="Shape 9"/>
          <p:cNvSpPr/>
          <p:nvPr/>
        </p:nvSpPr>
        <p:spPr>
          <a:xfrm>
            <a:off x="2148840" y="4434840"/>
            <a:ext cx="777240" cy="777240"/>
          </a:xfrm>
          <a:prstGeom prst="ellipse">
            <a:avLst/>
          </a:prstGeom>
          <a:solidFill>
            <a:srgbClr val="5B4BC4"/>
          </a:solidFill>
          <a:ln/>
        </p:spPr>
      </p:sp>
      <p:pic>
        <p:nvPicPr>
          <p:cNvPr id="14" name="Image 2" descr="preencoded.png">    </p:cNvPr>
          <p:cNvPicPr>
            <a:picLocks noChangeAspect="1"/>
          </p:cNvPicPr>
          <p:nvPr/>
        </p:nvPicPr>
        <p:blipFill>
          <a:blip r:embed="rId3"/>
          <a:stretch>
            <a:fillRect/>
          </a:stretch>
        </p:blipFill>
        <p:spPr>
          <a:xfrm>
            <a:off x="2319833" y="4605833"/>
            <a:ext cx="435254" cy="435254"/>
          </a:xfrm>
          <a:prstGeom prst="rect">
            <a:avLst/>
          </a:prstGeom>
        </p:spPr>
      </p:pic>
      <p:sp>
        <p:nvSpPr>
          <p:cNvPr id="15" name="Text 10"/>
          <p:cNvSpPr txBox="1"/>
          <p:nvPr/>
        </p:nvSpPr>
        <p:spPr>
          <a:xfrm>
            <a:off x="1874520" y="5285232"/>
            <a:ext cx="1325880" cy="320040"/>
          </a:xfrm>
          <a:prstGeom prst="rect">
            <a:avLst/>
          </a:prstGeom>
          <a:noFill/>
          <a:ln/>
        </p:spPr>
        <p:txBody>
          <a:bodyPr wrap="square" lIns="0" tIns="0" rIns="0" bIns="0" rtlCol="0" anchor="t"/>
          <a:lstStyle/>
          <a:p>
            <a:pPr algn="ctr" indent="0" marL="0">
              <a:buNone/>
            </a:pPr>
            <a:r>
              <a:rPr lang="en-US" sz="1400" dirty="0">
                <a:solidFill>
                  <a:schemeClr val="bg1"/>
                </a:solidFill>
              </a:rPr>
              <a:t>Gateway</a:t>
            </a:r>
            <a:endParaRPr lang="en-US" sz="1400" dirty="0"/>
          </a:p>
        </p:txBody>
      </p:sp>
      <p:sp>
        <p:nvSpPr>
          <p:cNvPr id="16" name="Shape 11"/>
          <p:cNvSpPr/>
          <p:nvPr/>
        </p:nvSpPr>
        <p:spPr>
          <a:xfrm>
            <a:off x="3017520" y="4823460"/>
            <a:ext cx="640080" cy="914"/>
          </a:xfrm>
          <a:prstGeom prst="line">
            <a:avLst/>
          </a:prstGeom>
          <a:noFill/>
          <a:ln w="25400">
            <a:solidFill>
              <a:schemeClr val="accent2"/>
            </a:solidFill>
            <a:prstDash val="solid"/>
            <a:tailEnd type="triangle"/>
          </a:ln>
        </p:spPr>
      </p:sp>
      <p:sp>
        <p:nvSpPr>
          <p:cNvPr id="17" name="Shape 12"/>
          <p:cNvSpPr/>
          <p:nvPr/>
        </p:nvSpPr>
        <p:spPr>
          <a:xfrm>
            <a:off x="3749040" y="4434840"/>
            <a:ext cx="777240" cy="777240"/>
          </a:xfrm>
          <a:prstGeom prst="ellipse">
            <a:avLst/>
          </a:prstGeom>
          <a:solidFill>
            <a:srgbClr val="5B4BC4"/>
          </a:solidFill>
          <a:ln/>
        </p:spPr>
      </p:sp>
      <p:pic>
        <p:nvPicPr>
          <p:cNvPr id="18" name="Image 3" descr="preencoded.png">    </p:cNvPr>
          <p:cNvPicPr>
            <a:picLocks noChangeAspect="1"/>
          </p:cNvPicPr>
          <p:nvPr/>
        </p:nvPicPr>
        <p:blipFill>
          <a:blip r:embed="rId4"/>
          <a:stretch>
            <a:fillRect/>
          </a:stretch>
        </p:blipFill>
        <p:spPr>
          <a:xfrm>
            <a:off x="3920033" y="4605833"/>
            <a:ext cx="435254" cy="435254"/>
          </a:xfrm>
          <a:prstGeom prst="rect">
            <a:avLst/>
          </a:prstGeom>
        </p:spPr>
      </p:pic>
      <p:sp>
        <p:nvSpPr>
          <p:cNvPr id="19" name="Text 13"/>
          <p:cNvSpPr txBox="1"/>
          <p:nvPr/>
        </p:nvSpPr>
        <p:spPr>
          <a:xfrm>
            <a:off x="3474720" y="5285232"/>
            <a:ext cx="1325880" cy="320040"/>
          </a:xfrm>
          <a:prstGeom prst="rect">
            <a:avLst/>
          </a:prstGeom>
          <a:noFill/>
          <a:ln/>
        </p:spPr>
        <p:txBody>
          <a:bodyPr wrap="square" lIns="0" tIns="0" rIns="0" bIns="0" rtlCol="0" anchor="t"/>
          <a:lstStyle/>
          <a:p>
            <a:pPr algn="ctr" indent="0" marL="0">
              <a:buNone/>
            </a:pPr>
            <a:r>
              <a:rPr lang="en-US" sz="1400" dirty="0">
                <a:solidFill>
                  <a:schemeClr val="bg1"/>
                </a:solidFill>
              </a:rPr>
              <a:t>Rede 4G</a:t>
            </a:r>
            <a:endParaRPr lang="en-US" sz="1400" dirty="0"/>
          </a:p>
        </p:txBody>
      </p:sp>
      <p:sp>
        <p:nvSpPr>
          <p:cNvPr id="20" name="Shape 14"/>
          <p:cNvSpPr/>
          <p:nvPr/>
        </p:nvSpPr>
        <p:spPr>
          <a:xfrm>
            <a:off x="4617720" y="4823460"/>
            <a:ext cx="640080" cy="914"/>
          </a:xfrm>
          <a:prstGeom prst="line">
            <a:avLst/>
          </a:prstGeom>
          <a:noFill/>
          <a:ln w="25400">
            <a:solidFill>
              <a:schemeClr val="accent2"/>
            </a:solidFill>
            <a:prstDash val="solid"/>
            <a:tailEnd type="triangle"/>
          </a:ln>
        </p:spPr>
      </p:sp>
      <p:sp>
        <p:nvSpPr>
          <p:cNvPr id="21" name="Shape 15"/>
          <p:cNvSpPr/>
          <p:nvPr/>
        </p:nvSpPr>
        <p:spPr>
          <a:xfrm>
            <a:off x="5349240" y="4434840"/>
            <a:ext cx="777240" cy="777240"/>
          </a:xfrm>
          <a:prstGeom prst="ellipse">
            <a:avLst/>
          </a:prstGeom>
          <a:solidFill>
            <a:srgbClr val="5B4BC4"/>
          </a:solidFill>
          <a:ln/>
        </p:spPr>
      </p:sp>
      <p:pic>
        <p:nvPicPr>
          <p:cNvPr id="22" name="Image 4" descr="preencoded.png">    </p:cNvPr>
          <p:cNvPicPr>
            <a:picLocks noChangeAspect="1"/>
          </p:cNvPicPr>
          <p:nvPr/>
        </p:nvPicPr>
        <p:blipFill>
          <a:blip r:embed="rId5"/>
          <a:stretch>
            <a:fillRect/>
          </a:stretch>
        </p:blipFill>
        <p:spPr>
          <a:xfrm>
            <a:off x="5520233" y="4605833"/>
            <a:ext cx="435254" cy="435254"/>
          </a:xfrm>
          <a:prstGeom prst="rect">
            <a:avLst/>
          </a:prstGeom>
        </p:spPr>
      </p:pic>
      <p:sp>
        <p:nvSpPr>
          <p:cNvPr id="23" name="Text 16"/>
          <p:cNvSpPr txBox="1"/>
          <p:nvPr/>
        </p:nvSpPr>
        <p:spPr>
          <a:xfrm>
            <a:off x="5074920" y="5285232"/>
            <a:ext cx="1325880" cy="320040"/>
          </a:xfrm>
          <a:prstGeom prst="rect">
            <a:avLst/>
          </a:prstGeom>
          <a:noFill/>
          <a:ln/>
        </p:spPr>
        <p:txBody>
          <a:bodyPr wrap="square" lIns="0" tIns="0" rIns="0" bIns="0" rtlCol="0" anchor="t"/>
          <a:lstStyle/>
          <a:p>
            <a:pPr algn="ctr" indent="0" marL="0">
              <a:buNone/>
            </a:pPr>
            <a:r>
              <a:rPr lang="en-US" sz="1400" dirty="0">
                <a:solidFill>
                  <a:schemeClr val="bg1"/>
                </a:solidFill>
              </a:rPr>
              <a:t>Plataforma</a:t>
            </a:r>
            <a:endParaRPr lang="en-US" sz="1400" dirty="0"/>
          </a:p>
        </p:txBody>
      </p:sp>
      <p:sp>
        <p:nvSpPr>
          <p:cNvPr id="24" name="Shape 17"/>
          <p:cNvSpPr/>
          <p:nvPr/>
        </p:nvSpPr>
        <p:spPr>
          <a:xfrm>
            <a:off x="6217920" y="4823460"/>
            <a:ext cx="640080" cy="914"/>
          </a:xfrm>
          <a:prstGeom prst="line">
            <a:avLst/>
          </a:prstGeom>
          <a:noFill/>
          <a:ln w="25400">
            <a:solidFill>
              <a:schemeClr val="accent2"/>
            </a:solidFill>
            <a:prstDash val="solid"/>
            <a:tailEnd type="triangle"/>
          </a:ln>
        </p:spPr>
      </p:sp>
      <p:sp>
        <p:nvSpPr>
          <p:cNvPr id="25" name="Shape 18"/>
          <p:cNvSpPr/>
          <p:nvPr/>
        </p:nvSpPr>
        <p:spPr>
          <a:xfrm>
            <a:off x="6949440" y="4434840"/>
            <a:ext cx="777240" cy="777240"/>
          </a:xfrm>
          <a:prstGeom prst="ellipse">
            <a:avLst/>
          </a:prstGeom>
          <a:solidFill>
            <a:srgbClr val="5B4BC4"/>
          </a:solidFill>
          <a:ln/>
        </p:spPr>
      </p:sp>
      <p:pic>
        <p:nvPicPr>
          <p:cNvPr id="26" name="Image 5" descr="preencoded.png">    </p:cNvPr>
          <p:cNvPicPr>
            <a:picLocks noChangeAspect="1"/>
          </p:cNvPicPr>
          <p:nvPr/>
        </p:nvPicPr>
        <p:blipFill>
          <a:blip r:embed="rId6"/>
          <a:stretch>
            <a:fillRect/>
          </a:stretch>
        </p:blipFill>
        <p:spPr>
          <a:xfrm>
            <a:off x="7120433" y="4605833"/>
            <a:ext cx="435254" cy="435254"/>
          </a:xfrm>
          <a:prstGeom prst="rect">
            <a:avLst/>
          </a:prstGeom>
        </p:spPr>
      </p:pic>
      <p:sp>
        <p:nvSpPr>
          <p:cNvPr id="27" name="Text 19"/>
          <p:cNvSpPr txBox="1"/>
          <p:nvPr/>
        </p:nvSpPr>
        <p:spPr>
          <a:xfrm>
            <a:off x="6675120" y="5285232"/>
            <a:ext cx="1325880" cy="320040"/>
          </a:xfrm>
          <a:prstGeom prst="rect">
            <a:avLst/>
          </a:prstGeom>
          <a:noFill/>
          <a:ln/>
        </p:spPr>
        <p:txBody>
          <a:bodyPr wrap="square" lIns="0" tIns="0" rIns="0" bIns="0" rtlCol="0" anchor="t"/>
          <a:lstStyle/>
          <a:p>
            <a:pPr algn="ctr" indent="0" marL="0">
              <a:buNone/>
            </a:pPr>
            <a:r>
              <a:rPr lang="en-US" sz="1400" dirty="0">
                <a:solidFill>
                  <a:schemeClr val="bg1"/>
                </a:solidFill>
              </a:rPr>
              <a:t>Ecrãs</a:t>
            </a:r>
            <a:endParaRPr lang="en-US" sz="1400" dirty="0"/>
          </a:p>
        </p:txBody>
      </p:sp>
      <p:sp>
        <p:nvSpPr>
          <p:cNvPr id="28" name="Text 20"/>
          <p:cNvSpPr txBox="1"/>
          <p:nvPr/>
        </p:nvSpPr>
        <p:spPr>
          <a:xfrm>
            <a:off x="548640" y="5897880"/>
            <a:ext cx="6858000" cy="594360"/>
          </a:xfrm>
          <a:prstGeom prst="rect">
            <a:avLst/>
          </a:prstGeom>
          <a:noFill/>
          <a:ln/>
        </p:spPr>
        <p:txBody>
          <a:bodyPr wrap="square" lIns="0" tIns="0" rIns="0" bIns="0" rtlCol="0" anchor="t"/>
          <a:lstStyle/>
          <a:p>
            <a:pPr indent="0" marL="0">
              <a:buNone/>
            </a:pPr>
            <a:r>
              <a:rPr lang="en-US" sz="1400" b="1" dirty="0">
                <a:solidFill>
                  <a:schemeClr val="bg1"/>
                </a:solidFill>
              </a:rPr>
              <a:t>Aires Augusto Miguêns</a:t>
            </a:r>
            <a:endParaRPr lang="en-US" sz="1400" dirty="0"/>
          </a:p>
          <a:p>
            <a:pPr indent="0" marL="0">
              <a:buNone/>
            </a:pPr>
            <a:r>
              <a:rPr lang="en-US" sz="1400" dirty="0">
                <a:solidFill>
                  <a:schemeClr val="bg1"/>
                </a:solidFill>
              </a:rPr>
              <a:t>Cientista de Dados · airesmiguens@gmail.com · +244 931 391 063</a:t>
            </a:r>
            <a:endParaRPr lang="en-US" sz="1400" dirty="0"/>
          </a:p>
        </p:txBody>
      </p:sp>
      <p:sp>
        <p:nvSpPr>
          <p:cNvPr id="29" name="Text 21"/>
          <p:cNvSpPr txBox="1"/>
          <p:nvPr/>
        </p:nvSpPr>
        <p:spPr>
          <a:xfrm>
            <a:off x="7589520" y="6172200"/>
            <a:ext cx="4069080" cy="320040"/>
          </a:xfrm>
          <a:prstGeom prst="rect">
            <a:avLst/>
          </a:prstGeom>
          <a:noFill/>
          <a:ln/>
        </p:spPr>
        <p:txBody>
          <a:bodyPr wrap="square" lIns="0" tIns="0" rIns="0" bIns="0" rtlCol="0" anchor="t"/>
          <a:lstStyle/>
          <a:p>
            <a:pPr algn="r" indent="0" marL="0">
              <a:buNone/>
            </a:pPr>
            <a:r>
              <a:rPr lang="en-US" sz="1100" dirty="0">
                <a:solidFill>
                  <a:srgbClr val="C9CFDD"/>
                </a:solidFill>
              </a:rPr>
              <a:t>Documento independente · não afiliado nem aprovado pela Sonangol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65760"/>
          </a:xfrm>
          <a:prstGeom prst="rect">
            <a:avLst/>
          </a:prstGeom>
          <a:noFill/>
          <a:ln/>
        </p:spPr>
        <p:txBody>
          <a:bodyPr wrap="square" lIns="0" tIns="0" rIns="0" bIns="0" rtlCol="0"/>
          <a:lstStyle/>
          <a:p>
            <a:pPr indent="0" marL="0">
              <a:buNone/>
            </a:pPr>
            <a:r>
              <a:rPr lang="en-US" sz="1300" b="1" spc="300" kern="0" dirty="0">
                <a:solidFill>
                  <a:schemeClr val="accent2"/>
                </a:solidFill>
                <a:latin typeface="Courier New" pitchFamily="34" charset="0"/>
                <a:ea typeface="Courier New" pitchFamily="34" charset="-122"/>
                <a:cs typeface="Courier New" pitchFamily="34" charset="-120"/>
              </a:rPr>
              <a:t>A PERGUNTA</a:t>
            </a:r>
            <a:endParaRPr lang="en-US" sz="1300" dirty="0"/>
          </a:p>
        </p:txBody>
      </p:sp>
      <p:sp>
        <p:nvSpPr>
          <p:cNvPr id="3" name="Text 0"/>
          <p:cNvSpPr/>
          <p:nvPr>
            <p:ph idx="101" type="title" hasCustomPrompt="1"/>
          </p:nvPr>
        </p:nvSpPr>
        <p:spPr>
          <a:xfrm>
            <a:off x="548640" y="868680"/>
            <a:ext cx="11064240" cy="914400"/>
          </a:xfrm>
          <a:prstGeom prst="rect">
            <a:avLst/>
          </a:prstGeom>
          <a:noFill/>
          <a:ln/>
        </p:spPr>
        <p:txBody>
          <a:bodyPr wrap="square" lIns="0" tIns="0" rIns="0" bIns="0" rtlCol="0" anchor="t"/>
          <a:lstStyle/>
          <a:p>
            <a:pPr algn="l" indent="0" marL="0">
              <a:buNone/>
            </a:pPr>
            <a:r>
              <a:rPr lang="en-US" sz="4000" b="1" dirty="0">
                <a:solidFill>
                  <a:schemeClr val="bg1"/>
                </a:solidFill>
              </a:rPr>
              <a:t>Como ver, a partir da sede, quanto combustível há em cada tanque de cada posto — agora?</a:t>
            </a:r>
            <a:endParaRPr lang="en-US" sz="4000" dirty="0"/>
          </a:p>
        </p:txBody>
      </p:sp>
      <p:sp>
        <p:nvSpPr>
          <p:cNvPr id="4" name="Shape 2"/>
          <p:cNvSpPr/>
          <p:nvPr/>
        </p:nvSpPr>
        <p:spPr>
          <a:xfrm>
            <a:off x="548640" y="3063240"/>
            <a:ext cx="3520440" cy="2651760"/>
          </a:xfrm>
          <a:prstGeom prst="roundRect">
            <a:avLst>
              <a:gd name="adj" fmla="val 4138"/>
            </a:avLst>
          </a:prstGeom>
          <a:solidFill>
            <a:schemeClr val="bg1">
              <a:alpha val="8000"/>
            </a:schemeClr>
          </a:solidFill>
          <a:ln w="12700">
            <a:solidFill>
              <a:srgbClr val="3A4A6B"/>
            </a:solidFill>
            <a:prstDash val="solid"/>
          </a:ln>
        </p:spPr>
      </p:sp>
      <p:sp>
        <p:nvSpPr>
          <p:cNvPr id="5" name="Shape 3"/>
          <p:cNvSpPr/>
          <p:nvPr/>
        </p:nvSpPr>
        <p:spPr>
          <a:xfrm>
            <a:off x="868680" y="3383280"/>
            <a:ext cx="868680" cy="868680"/>
          </a:xfrm>
          <a:prstGeom prst="ellipse">
            <a:avLst/>
          </a:prstGeom>
          <a:solidFill>
            <a:srgbClr val="5B4BC4"/>
          </a:solidFill>
          <a:ln/>
        </p:spPr>
      </p:sp>
      <p:pic>
        <p:nvPicPr>
          <p:cNvPr id="6" name="Image 0" descr="preencoded.png">    </p:cNvPr>
          <p:cNvPicPr>
            <a:picLocks noChangeAspect="1"/>
          </p:cNvPicPr>
          <p:nvPr/>
        </p:nvPicPr>
        <p:blipFill>
          <a:blip r:embed="rId1"/>
          <a:stretch>
            <a:fillRect/>
          </a:stretch>
        </p:blipFill>
        <p:spPr>
          <a:xfrm>
            <a:off x="1059790" y="3574390"/>
            <a:ext cx="486461" cy="486461"/>
          </a:xfrm>
          <a:prstGeom prst="rect">
            <a:avLst/>
          </a:prstGeom>
        </p:spPr>
      </p:pic>
      <p:sp>
        <p:nvSpPr>
          <p:cNvPr id="7" name="Text 4"/>
          <p:cNvSpPr txBox="1"/>
          <p:nvPr/>
        </p:nvSpPr>
        <p:spPr>
          <a:xfrm>
            <a:off x="868680" y="4480560"/>
            <a:ext cx="2926080" cy="457200"/>
          </a:xfrm>
          <a:prstGeom prst="rect">
            <a:avLst/>
          </a:prstGeom>
          <a:noFill/>
          <a:ln/>
        </p:spPr>
        <p:txBody>
          <a:bodyPr wrap="square" lIns="0" tIns="0" rIns="0" bIns="0" rtlCol="0" anchor="t"/>
          <a:lstStyle/>
          <a:p>
            <a:pPr indent="0" marL="0">
              <a:buNone/>
            </a:pPr>
            <a:r>
              <a:rPr lang="en-US" sz="2200" b="1" dirty="0">
                <a:solidFill>
                  <a:schemeClr val="bg1"/>
                </a:solidFill>
              </a:rPr>
              <a:t>Medidor no tanque</a:t>
            </a:r>
            <a:endParaRPr lang="en-US" sz="2200" dirty="0"/>
          </a:p>
        </p:txBody>
      </p:sp>
      <p:sp>
        <p:nvSpPr>
          <p:cNvPr id="8" name="Text 5"/>
          <p:cNvSpPr txBox="1"/>
          <p:nvPr/>
        </p:nvSpPr>
        <p:spPr>
          <a:xfrm>
            <a:off x="868680" y="4937760"/>
            <a:ext cx="2926080" cy="640080"/>
          </a:xfrm>
          <a:prstGeom prst="rect">
            <a:avLst/>
          </a:prstGeom>
          <a:noFill/>
          <a:ln/>
        </p:spPr>
        <p:txBody>
          <a:bodyPr wrap="square" lIns="0" tIns="0" rIns="0" bIns="0" rtlCol="0" anchor="t"/>
          <a:lstStyle/>
          <a:p>
            <a:pPr indent="0" marL="0">
              <a:buNone/>
            </a:pPr>
            <a:r>
              <a:rPr lang="en-US" sz="1600" dirty="0">
                <a:solidFill>
                  <a:srgbClr val="C9CFDD"/>
                </a:solidFill>
              </a:rPr>
              <a:t>Já existe na maioria dos postos modernos</a:t>
            </a:r>
            <a:endParaRPr lang="en-US" sz="1600" dirty="0"/>
          </a:p>
        </p:txBody>
      </p:sp>
      <p:sp>
        <p:nvSpPr>
          <p:cNvPr id="9" name="Text 6"/>
          <p:cNvSpPr txBox="1"/>
          <p:nvPr/>
        </p:nvSpPr>
        <p:spPr>
          <a:xfrm>
            <a:off x="4069080" y="4069080"/>
            <a:ext cx="228600" cy="548640"/>
          </a:xfrm>
          <a:prstGeom prst="rect">
            <a:avLst/>
          </a:prstGeom>
          <a:noFill/>
          <a:ln/>
        </p:spPr>
        <p:txBody>
          <a:bodyPr wrap="square" lIns="0" tIns="0" rIns="0" bIns="0" rtlCol="0" anchor="t"/>
          <a:lstStyle/>
          <a:p>
            <a:pPr algn="ctr" indent="0" marL="0">
              <a:buNone/>
            </a:pPr>
            <a:r>
              <a:rPr lang="en-US" sz="2800" b="1" dirty="0">
                <a:solidFill>
                  <a:schemeClr val="accent2"/>
                </a:solidFill>
              </a:rPr>
              <a:t>+</a:t>
            </a:r>
            <a:endParaRPr lang="en-US" sz="2800" dirty="0"/>
          </a:p>
        </p:txBody>
      </p:sp>
      <p:sp>
        <p:nvSpPr>
          <p:cNvPr id="10" name="Shape 7"/>
          <p:cNvSpPr/>
          <p:nvPr/>
        </p:nvSpPr>
        <p:spPr>
          <a:xfrm>
            <a:off x="4297680" y="3063240"/>
            <a:ext cx="3520440" cy="2651760"/>
          </a:xfrm>
          <a:prstGeom prst="roundRect">
            <a:avLst>
              <a:gd name="adj" fmla="val 4138"/>
            </a:avLst>
          </a:prstGeom>
          <a:solidFill>
            <a:schemeClr val="bg1">
              <a:alpha val="8000"/>
            </a:schemeClr>
          </a:solidFill>
          <a:ln w="12700">
            <a:solidFill>
              <a:srgbClr val="3A4A6B"/>
            </a:solidFill>
            <a:prstDash val="solid"/>
          </a:ln>
        </p:spPr>
      </p:sp>
      <p:sp>
        <p:nvSpPr>
          <p:cNvPr id="11" name="Shape 8"/>
          <p:cNvSpPr/>
          <p:nvPr/>
        </p:nvSpPr>
        <p:spPr>
          <a:xfrm>
            <a:off x="4617720" y="3383280"/>
            <a:ext cx="868680" cy="868680"/>
          </a:xfrm>
          <a:prstGeom prst="ellipse">
            <a:avLst/>
          </a:prstGeom>
          <a:solidFill>
            <a:srgbClr val="5B4BC4"/>
          </a:solidFill>
          <a:ln/>
        </p:spPr>
      </p:sp>
      <p:pic>
        <p:nvPicPr>
          <p:cNvPr id="12" name="Image 1" descr="preencoded.png">    </p:cNvPr>
          <p:cNvPicPr>
            <a:picLocks noChangeAspect="1"/>
          </p:cNvPicPr>
          <p:nvPr/>
        </p:nvPicPr>
        <p:blipFill>
          <a:blip r:embed="rId2"/>
          <a:stretch>
            <a:fillRect/>
          </a:stretch>
        </p:blipFill>
        <p:spPr>
          <a:xfrm>
            <a:off x="4808830" y="3574390"/>
            <a:ext cx="486461" cy="486461"/>
          </a:xfrm>
          <a:prstGeom prst="rect">
            <a:avLst/>
          </a:prstGeom>
        </p:spPr>
      </p:pic>
      <p:sp>
        <p:nvSpPr>
          <p:cNvPr id="13" name="Text 9"/>
          <p:cNvSpPr txBox="1"/>
          <p:nvPr/>
        </p:nvSpPr>
        <p:spPr>
          <a:xfrm>
            <a:off x="4617720" y="4480560"/>
            <a:ext cx="2926080" cy="457200"/>
          </a:xfrm>
          <a:prstGeom prst="rect">
            <a:avLst/>
          </a:prstGeom>
          <a:noFill/>
          <a:ln/>
        </p:spPr>
        <p:txBody>
          <a:bodyPr wrap="square" lIns="0" tIns="0" rIns="0" bIns="0" rtlCol="0" anchor="t"/>
          <a:lstStyle/>
          <a:p>
            <a:pPr indent="0" marL="0">
              <a:buNone/>
            </a:pPr>
            <a:r>
              <a:rPr lang="en-US" sz="2200" b="1" dirty="0">
                <a:solidFill>
                  <a:schemeClr val="bg1"/>
                </a:solidFill>
              </a:rPr>
              <a:t>Rede móvel no posto</a:t>
            </a:r>
            <a:endParaRPr lang="en-US" sz="2200" dirty="0"/>
          </a:p>
        </p:txBody>
      </p:sp>
      <p:sp>
        <p:nvSpPr>
          <p:cNvPr id="14" name="Text 10"/>
          <p:cNvSpPr txBox="1"/>
          <p:nvPr/>
        </p:nvSpPr>
        <p:spPr>
          <a:xfrm>
            <a:off x="4617720" y="4937760"/>
            <a:ext cx="2926080" cy="640080"/>
          </a:xfrm>
          <a:prstGeom prst="rect">
            <a:avLst/>
          </a:prstGeom>
          <a:noFill/>
          <a:ln/>
        </p:spPr>
        <p:txBody>
          <a:bodyPr wrap="square" lIns="0" tIns="0" rIns="0" bIns="0" rtlCol="0" anchor="t"/>
          <a:lstStyle/>
          <a:p>
            <a:pPr indent="0" marL="0">
              <a:buNone/>
            </a:pPr>
            <a:r>
              <a:rPr lang="en-US" sz="1600" dirty="0">
                <a:solidFill>
                  <a:srgbClr val="C9CFDD"/>
                </a:solidFill>
              </a:rPr>
              <a:t>Unitel, Africell, Movicel — ou internet fixa</a:t>
            </a:r>
            <a:endParaRPr lang="en-US" sz="1600" dirty="0"/>
          </a:p>
        </p:txBody>
      </p:sp>
      <p:sp>
        <p:nvSpPr>
          <p:cNvPr id="15" name="Text 11"/>
          <p:cNvSpPr txBox="1"/>
          <p:nvPr/>
        </p:nvSpPr>
        <p:spPr>
          <a:xfrm>
            <a:off x="7818120" y="4069080"/>
            <a:ext cx="228600" cy="548640"/>
          </a:xfrm>
          <a:prstGeom prst="rect">
            <a:avLst/>
          </a:prstGeom>
          <a:noFill/>
          <a:ln/>
        </p:spPr>
        <p:txBody>
          <a:bodyPr wrap="square" lIns="0" tIns="0" rIns="0" bIns="0" rtlCol="0" anchor="t"/>
          <a:lstStyle/>
          <a:p>
            <a:pPr algn="ctr" indent="0" marL="0">
              <a:buNone/>
            </a:pPr>
            <a:r>
              <a:rPr lang="en-US" sz="2800" b="1" dirty="0">
                <a:solidFill>
                  <a:schemeClr val="accent2"/>
                </a:solidFill>
              </a:rPr>
              <a:t>+</a:t>
            </a:r>
            <a:endParaRPr lang="en-US" sz="2800" dirty="0"/>
          </a:p>
        </p:txBody>
      </p:sp>
      <p:sp>
        <p:nvSpPr>
          <p:cNvPr id="16" name="Shape 12"/>
          <p:cNvSpPr/>
          <p:nvPr/>
        </p:nvSpPr>
        <p:spPr>
          <a:xfrm>
            <a:off x="8046720" y="3063240"/>
            <a:ext cx="3520440" cy="2651760"/>
          </a:xfrm>
          <a:prstGeom prst="roundRect">
            <a:avLst>
              <a:gd name="adj" fmla="val 4138"/>
            </a:avLst>
          </a:prstGeom>
          <a:solidFill>
            <a:schemeClr val="accent2"/>
          </a:solidFill>
          <a:ln/>
        </p:spPr>
      </p:sp>
      <p:sp>
        <p:nvSpPr>
          <p:cNvPr id="17" name="Shape 13"/>
          <p:cNvSpPr/>
          <p:nvPr/>
        </p:nvSpPr>
        <p:spPr>
          <a:xfrm>
            <a:off x="8366760" y="3383280"/>
            <a:ext cx="868680" cy="868680"/>
          </a:xfrm>
          <a:prstGeom prst="ellipse">
            <a:avLst/>
          </a:prstGeom>
          <a:solidFill>
            <a:schemeClr val="bg1"/>
          </a:solidFill>
          <a:ln/>
        </p:spPr>
      </p:sp>
      <p:pic>
        <p:nvPicPr>
          <p:cNvPr id="18" name="Image 2" descr="preencoded.png">    </p:cNvPr>
          <p:cNvPicPr>
            <a:picLocks noChangeAspect="1"/>
          </p:cNvPicPr>
          <p:nvPr/>
        </p:nvPicPr>
        <p:blipFill>
          <a:blip r:embed="rId3"/>
          <a:stretch>
            <a:fillRect/>
          </a:stretch>
        </p:blipFill>
        <p:spPr>
          <a:xfrm>
            <a:off x="8558784" y="3575304"/>
            <a:ext cx="484632" cy="484632"/>
          </a:xfrm>
          <a:prstGeom prst="rect">
            <a:avLst/>
          </a:prstGeom>
        </p:spPr>
      </p:pic>
      <p:sp>
        <p:nvSpPr>
          <p:cNvPr id="19" name="Text 14"/>
          <p:cNvSpPr txBox="1"/>
          <p:nvPr/>
        </p:nvSpPr>
        <p:spPr>
          <a:xfrm>
            <a:off x="8366760" y="4480560"/>
            <a:ext cx="2926080" cy="457200"/>
          </a:xfrm>
          <a:prstGeom prst="rect">
            <a:avLst/>
          </a:prstGeom>
          <a:noFill/>
          <a:ln/>
        </p:spPr>
        <p:txBody>
          <a:bodyPr wrap="square" lIns="0" tIns="0" rIns="0" bIns="0" rtlCol="0" anchor="t"/>
          <a:lstStyle/>
          <a:p>
            <a:pPr indent="0" marL="0">
              <a:buNone/>
            </a:pPr>
            <a:r>
              <a:rPr lang="en-US" sz="2200" b="1" dirty="0">
                <a:solidFill>
                  <a:schemeClr val="tx1"/>
                </a:solidFill>
              </a:rPr>
              <a:t>Falta só ligar os dois</a:t>
            </a:r>
            <a:endParaRPr lang="en-US" sz="2200" dirty="0"/>
          </a:p>
        </p:txBody>
      </p:sp>
      <p:sp>
        <p:nvSpPr>
          <p:cNvPr id="20" name="Text 15"/>
          <p:cNvSpPr txBox="1"/>
          <p:nvPr/>
        </p:nvSpPr>
        <p:spPr>
          <a:xfrm>
            <a:off x="8366760" y="4937760"/>
            <a:ext cx="2926080" cy="640080"/>
          </a:xfrm>
          <a:prstGeom prst="rect">
            <a:avLst/>
          </a:prstGeom>
          <a:noFill/>
          <a:ln/>
        </p:spPr>
        <p:txBody>
          <a:bodyPr wrap="square" lIns="0" tIns="0" rIns="0" bIns="0" rtlCol="0" anchor="t"/>
          <a:lstStyle/>
          <a:p>
            <a:pPr indent="0" marL="0">
              <a:buNone/>
            </a:pPr>
            <a:r>
              <a:rPr lang="en-US" sz="1600" dirty="0">
                <a:solidFill>
                  <a:schemeClr val="tx1"/>
                </a:solidFill>
              </a:rPr>
              <a:t>a uma plataforma central: é isso o Vigia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01 · ISTO JÁ FOI FEITO?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Sim — é tecnologia comercial, já usada em África</a:t>
            </a:r>
            <a:endParaRPr lang="en-US" sz="3400" dirty="0"/>
          </a:p>
        </p:txBody>
      </p:sp>
      <p:sp>
        <p:nvSpPr>
          <p:cNvPr id="4" name="Shape 2"/>
          <p:cNvSpPr/>
          <p:nvPr/>
        </p:nvSpPr>
        <p:spPr>
          <a:xfrm>
            <a:off x="548640" y="1600200"/>
            <a:ext cx="2606040" cy="2880360"/>
          </a:xfrm>
          <a:prstGeom prst="roundRect">
            <a:avLst>
              <a:gd name="adj" fmla="val 4211"/>
            </a:avLst>
          </a:prstGeom>
          <a:solidFill>
            <a:schemeClr val="bg2"/>
          </a:solidFill>
          <a:ln/>
        </p:spPr>
      </p:sp>
      <p:sp>
        <p:nvSpPr>
          <p:cNvPr id="5" name="Shape 3"/>
          <p:cNvSpPr/>
          <p:nvPr/>
        </p:nvSpPr>
        <p:spPr>
          <a:xfrm>
            <a:off x="822960" y="1874520"/>
            <a:ext cx="731520" cy="731520"/>
          </a:xfrm>
          <a:prstGeom prst="ellipse">
            <a:avLst/>
          </a:prstGeom>
          <a:solidFill>
            <a:srgbClr val="5B4BC4"/>
          </a:solidFill>
          <a:ln/>
        </p:spPr>
      </p:sp>
      <p:pic>
        <p:nvPicPr>
          <p:cNvPr id="6" name="Image 0" descr="preencoded.png">    </p:cNvPr>
          <p:cNvPicPr>
            <a:picLocks noChangeAspect="1"/>
          </p:cNvPicPr>
          <p:nvPr/>
        </p:nvPicPr>
        <p:blipFill>
          <a:blip r:embed="rId1"/>
          <a:stretch>
            <a:fillRect/>
          </a:stretch>
        </p:blipFill>
        <p:spPr>
          <a:xfrm>
            <a:off x="983894" y="2035454"/>
            <a:ext cx="409651" cy="409651"/>
          </a:xfrm>
          <a:prstGeom prst="rect">
            <a:avLst/>
          </a:prstGeom>
        </p:spPr>
      </p:pic>
      <p:sp>
        <p:nvSpPr>
          <p:cNvPr id="7" name="Text 4"/>
          <p:cNvSpPr txBox="1"/>
          <p:nvPr/>
        </p:nvSpPr>
        <p:spPr>
          <a:xfrm>
            <a:off x="822960" y="2743200"/>
            <a:ext cx="2148840" cy="411480"/>
          </a:xfrm>
          <a:prstGeom prst="rect">
            <a:avLst/>
          </a:prstGeom>
          <a:noFill/>
          <a:ln/>
        </p:spPr>
        <p:txBody>
          <a:bodyPr wrap="square" lIns="0" tIns="0" rIns="0" bIns="0" rtlCol="0" anchor="t"/>
          <a:lstStyle/>
          <a:p>
            <a:pPr indent="0" marL="0">
              <a:buNone/>
            </a:pPr>
            <a:r>
              <a:rPr lang="en-US" sz="2200" b="1" dirty="0">
                <a:solidFill>
                  <a:schemeClr val="tx1"/>
                </a:solidFill>
              </a:rPr>
              <a:t>Insite360</a:t>
            </a:r>
            <a:endParaRPr lang="en-US" sz="2200" dirty="0"/>
          </a:p>
        </p:txBody>
      </p:sp>
      <p:sp>
        <p:nvSpPr>
          <p:cNvPr id="8" name="Text 5"/>
          <p:cNvSpPr txBox="1"/>
          <p:nvPr/>
        </p:nvSpPr>
        <p:spPr>
          <a:xfrm>
            <a:off x="822960" y="3127248"/>
            <a:ext cx="2148840" cy="274320"/>
          </a:xfrm>
          <a:prstGeom prst="rect">
            <a:avLst/>
          </a:prstGeom>
          <a:noFill/>
          <a:ln/>
        </p:spPr>
        <p:txBody>
          <a:bodyPr wrap="square" lIns="0" tIns="0" rIns="0" bIns="0" rtlCol="0" anchor="t"/>
          <a:lstStyle/>
          <a:p>
            <a:pPr indent="0" marL="0">
              <a:buNone/>
            </a:pPr>
            <a:r>
              <a:rPr lang="en-US" sz="1300" dirty="0">
                <a:solidFill>
                  <a:schemeClr val="tx2"/>
                </a:solidFill>
              </a:rPr>
              <a:t>Gilbarco Veeder-Root</a:t>
            </a:r>
            <a:endParaRPr lang="en-US" sz="1300" dirty="0"/>
          </a:p>
        </p:txBody>
      </p:sp>
      <p:sp>
        <p:nvSpPr>
          <p:cNvPr id="9" name="Text 6"/>
          <p:cNvSpPr txBox="1"/>
          <p:nvPr/>
        </p:nvSpPr>
        <p:spPr>
          <a:xfrm>
            <a:off x="822960" y="34564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GLOBAL · BRASIL · EUROPA</a:t>
            </a:r>
            <a:endParaRPr lang="en-US" sz="1100" dirty="0"/>
          </a:p>
        </p:txBody>
      </p:sp>
      <p:sp>
        <p:nvSpPr>
          <p:cNvPr id="10" name="Text 7"/>
          <p:cNvSpPr txBox="1"/>
          <p:nvPr/>
        </p:nvSpPr>
        <p:spPr>
          <a:xfrm>
            <a:off x="822960" y="3749040"/>
            <a:ext cx="2148840" cy="685800"/>
          </a:xfrm>
          <a:prstGeom prst="rect">
            <a:avLst/>
          </a:prstGeom>
          <a:noFill/>
          <a:ln/>
        </p:spPr>
        <p:txBody>
          <a:bodyPr wrap="square" lIns="0" tIns="0" rIns="0" bIns="0" rtlCol="0" anchor="t"/>
          <a:lstStyle/>
          <a:p>
            <a:pPr indent="0" marL="0">
              <a:buNone/>
            </a:pPr>
            <a:r>
              <a:rPr lang="en-US" sz="1400" dirty="0">
                <a:solidFill>
                  <a:schemeClr val="tx1"/>
                </a:solidFill>
              </a:rPr>
              <a:t>Nuvem que lê os medidores de tanque de toda a rede de postos</a:t>
            </a:r>
            <a:endParaRPr lang="en-US" sz="1400" dirty="0"/>
          </a:p>
        </p:txBody>
      </p:sp>
      <p:sp>
        <p:nvSpPr>
          <p:cNvPr id="11" name="Shape 8"/>
          <p:cNvSpPr/>
          <p:nvPr/>
        </p:nvSpPr>
        <p:spPr>
          <a:xfrm>
            <a:off x="3383280" y="1600200"/>
            <a:ext cx="2606040" cy="2880360"/>
          </a:xfrm>
          <a:prstGeom prst="roundRect">
            <a:avLst>
              <a:gd name="adj" fmla="val 4211"/>
            </a:avLst>
          </a:prstGeom>
          <a:solidFill>
            <a:schemeClr val="bg2"/>
          </a:solidFill>
          <a:ln/>
        </p:spPr>
      </p:sp>
      <p:sp>
        <p:nvSpPr>
          <p:cNvPr id="12" name="Shape 9"/>
          <p:cNvSpPr/>
          <p:nvPr/>
        </p:nvSpPr>
        <p:spPr>
          <a:xfrm>
            <a:off x="3657600" y="1874520"/>
            <a:ext cx="731520" cy="731520"/>
          </a:xfrm>
          <a:prstGeom prst="ellipse">
            <a:avLst/>
          </a:prstGeom>
          <a:solidFill>
            <a:srgbClr val="5B4BC4"/>
          </a:solidFill>
          <a:ln/>
        </p:spPr>
      </p:sp>
      <p:pic>
        <p:nvPicPr>
          <p:cNvPr id="13" name="Image 1" descr="preencoded.png">    </p:cNvPr>
          <p:cNvPicPr>
            <a:picLocks noChangeAspect="1"/>
          </p:cNvPicPr>
          <p:nvPr/>
        </p:nvPicPr>
        <p:blipFill>
          <a:blip r:embed="rId2"/>
          <a:stretch>
            <a:fillRect/>
          </a:stretch>
        </p:blipFill>
        <p:spPr>
          <a:xfrm>
            <a:off x="3818534" y="2035454"/>
            <a:ext cx="409651" cy="409651"/>
          </a:xfrm>
          <a:prstGeom prst="rect">
            <a:avLst/>
          </a:prstGeom>
        </p:spPr>
      </p:pic>
      <p:sp>
        <p:nvSpPr>
          <p:cNvPr id="14" name="Text 10"/>
          <p:cNvSpPr txBox="1"/>
          <p:nvPr/>
        </p:nvSpPr>
        <p:spPr>
          <a:xfrm>
            <a:off x="3657600" y="2743200"/>
            <a:ext cx="2148840" cy="411480"/>
          </a:xfrm>
          <a:prstGeom prst="rect">
            <a:avLst/>
          </a:prstGeom>
          <a:noFill/>
          <a:ln/>
        </p:spPr>
        <p:txBody>
          <a:bodyPr wrap="square" lIns="0" tIns="0" rIns="0" bIns="0" rtlCol="0" anchor="t"/>
          <a:lstStyle/>
          <a:p>
            <a:pPr indent="0" marL="0">
              <a:buNone/>
            </a:pPr>
            <a:r>
              <a:rPr lang="en-US" sz="2200" b="1" dirty="0">
                <a:solidFill>
                  <a:schemeClr val="tx1"/>
                </a:solidFill>
              </a:rPr>
              <a:t>AFTECH</a:t>
            </a:r>
            <a:endParaRPr lang="en-US" sz="2200" dirty="0"/>
          </a:p>
        </p:txBody>
      </p:sp>
      <p:sp>
        <p:nvSpPr>
          <p:cNvPr id="15" name="Text 11"/>
          <p:cNvSpPr txBox="1"/>
          <p:nvPr/>
        </p:nvSpPr>
        <p:spPr>
          <a:xfrm>
            <a:off x="3657600" y="3127248"/>
            <a:ext cx="2148840" cy="274320"/>
          </a:xfrm>
          <a:prstGeom prst="rect">
            <a:avLst/>
          </a:prstGeom>
          <a:noFill/>
          <a:ln/>
        </p:spPr>
        <p:txBody>
          <a:bodyPr wrap="square" lIns="0" tIns="0" rIns="0" bIns="0" rtlCol="0" anchor="t"/>
          <a:lstStyle/>
          <a:p>
            <a:pPr indent="0" marL="0">
              <a:buNone/>
            </a:pPr>
            <a:r>
              <a:rPr lang="en-US" sz="1300" dirty="0">
                <a:solidFill>
                  <a:schemeClr val="tx2"/>
                </a:solidFill>
              </a:rPr>
              <a:t>Medição + 4G</a:t>
            </a:r>
            <a:endParaRPr lang="en-US" sz="1300" dirty="0"/>
          </a:p>
        </p:txBody>
      </p:sp>
      <p:sp>
        <p:nvSpPr>
          <p:cNvPr id="16" name="Text 12"/>
          <p:cNvSpPr txBox="1"/>
          <p:nvPr/>
        </p:nvSpPr>
        <p:spPr>
          <a:xfrm>
            <a:off x="3657600" y="34564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7 PAÍSES AFRICANOS</a:t>
            </a:r>
            <a:endParaRPr lang="en-US" sz="1100" dirty="0"/>
          </a:p>
        </p:txBody>
      </p:sp>
      <p:sp>
        <p:nvSpPr>
          <p:cNvPr id="17" name="Text 13"/>
          <p:cNvSpPr txBox="1"/>
          <p:nvPr/>
        </p:nvSpPr>
        <p:spPr>
          <a:xfrm>
            <a:off x="3657600" y="3749040"/>
            <a:ext cx="2148840" cy="685800"/>
          </a:xfrm>
          <a:prstGeom prst="rect">
            <a:avLst/>
          </a:prstGeom>
          <a:noFill/>
          <a:ln/>
        </p:spPr>
        <p:txBody>
          <a:bodyPr wrap="square" lIns="0" tIns="0" rIns="0" bIns="0" rtlCol="0" anchor="t"/>
          <a:lstStyle/>
          <a:p>
            <a:pPr indent="0" marL="0">
              <a:buNone/>
            </a:pPr>
            <a:r>
              <a:rPr lang="en-US" sz="1400" dirty="0">
                <a:solidFill>
                  <a:schemeClr val="tx1"/>
                </a:solidFill>
              </a:rPr>
              <a:t>Envio por LTE, alertas de nível baixo, fuga ou furto</a:t>
            </a:r>
            <a:endParaRPr lang="en-US" sz="1400" dirty="0"/>
          </a:p>
        </p:txBody>
      </p:sp>
      <p:sp>
        <p:nvSpPr>
          <p:cNvPr id="18" name="Shape 14"/>
          <p:cNvSpPr/>
          <p:nvPr/>
        </p:nvSpPr>
        <p:spPr>
          <a:xfrm>
            <a:off x="6217920" y="1600200"/>
            <a:ext cx="2606040" cy="2880360"/>
          </a:xfrm>
          <a:prstGeom prst="roundRect">
            <a:avLst>
              <a:gd name="adj" fmla="val 4211"/>
            </a:avLst>
          </a:prstGeom>
          <a:solidFill>
            <a:schemeClr val="bg2"/>
          </a:solidFill>
          <a:ln/>
        </p:spPr>
      </p:sp>
      <p:sp>
        <p:nvSpPr>
          <p:cNvPr id="19" name="Shape 15"/>
          <p:cNvSpPr/>
          <p:nvPr/>
        </p:nvSpPr>
        <p:spPr>
          <a:xfrm>
            <a:off x="6492240" y="1874520"/>
            <a:ext cx="731520" cy="731520"/>
          </a:xfrm>
          <a:prstGeom prst="ellipse">
            <a:avLst/>
          </a:prstGeom>
          <a:solidFill>
            <a:srgbClr val="5B4BC4"/>
          </a:solidFill>
          <a:ln/>
        </p:spPr>
      </p:sp>
      <p:pic>
        <p:nvPicPr>
          <p:cNvPr id="20" name="Image 2" descr="preencoded.png">    </p:cNvPr>
          <p:cNvPicPr>
            <a:picLocks noChangeAspect="1"/>
          </p:cNvPicPr>
          <p:nvPr/>
        </p:nvPicPr>
        <p:blipFill>
          <a:blip r:embed="rId3"/>
          <a:stretch>
            <a:fillRect/>
          </a:stretch>
        </p:blipFill>
        <p:spPr>
          <a:xfrm>
            <a:off x="6653174" y="2035454"/>
            <a:ext cx="409651" cy="409651"/>
          </a:xfrm>
          <a:prstGeom prst="rect">
            <a:avLst/>
          </a:prstGeom>
        </p:spPr>
      </p:pic>
      <p:sp>
        <p:nvSpPr>
          <p:cNvPr id="21" name="Text 16"/>
          <p:cNvSpPr txBox="1"/>
          <p:nvPr/>
        </p:nvSpPr>
        <p:spPr>
          <a:xfrm>
            <a:off x="6492240" y="2743200"/>
            <a:ext cx="2148840" cy="411480"/>
          </a:xfrm>
          <a:prstGeom prst="rect">
            <a:avLst/>
          </a:prstGeom>
          <a:noFill/>
          <a:ln/>
        </p:spPr>
        <p:txBody>
          <a:bodyPr wrap="square" lIns="0" tIns="0" rIns="0" bIns="0" rtlCol="0" anchor="t"/>
          <a:lstStyle/>
          <a:p>
            <a:pPr indent="0" marL="0">
              <a:buNone/>
            </a:pPr>
            <a:r>
              <a:rPr lang="en-US" sz="2200" b="1" dirty="0">
                <a:solidFill>
                  <a:schemeClr val="tx1"/>
                </a:solidFill>
              </a:rPr>
              <a:t>AdvaIoT</a:t>
            </a:r>
            <a:endParaRPr lang="en-US" sz="2200" dirty="0"/>
          </a:p>
        </p:txBody>
      </p:sp>
      <p:sp>
        <p:nvSpPr>
          <p:cNvPr id="22" name="Text 17"/>
          <p:cNvSpPr txBox="1"/>
          <p:nvPr/>
        </p:nvSpPr>
        <p:spPr>
          <a:xfrm>
            <a:off x="6492240" y="3127248"/>
            <a:ext cx="2148840" cy="274320"/>
          </a:xfrm>
          <a:prstGeom prst="rect">
            <a:avLst/>
          </a:prstGeom>
          <a:noFill/>
          <a:ln/>
        </p:spPr>
        <p:txBody>
          <a:bodyPr wrap="square" lIns="0" tIns="0" rIns="0" bIns="0" rtlCol="0" anchor="t"/>
          <a:lstStyle/>
          <a:p>
            <a:pPr indent="0" marL="0">
              <a:buNone/>
            </a:pPr>
            <a:r>
              <a:rPr lang="en-US" sz="1300" dirty="0">
                <a:solidFill>
                  <a:schemeClr val="tx2"/>
                </a:solidFill>
              </a:rPr>
              <a:t>Gestão de pista</a:t>
            </a:r>
            <a:endParaRPr lang="en-US" sz="1300" dirty="0"/>
          </a:p>
        </p:txBody>
      </p:sp>
      <p:sp>
        <p:nvSpPr>
          <p:cNvPr id="23" name="Text 18"/>
          <p:cNvSpPr txBox="1"/>
          <p:nvPr/>
        </p:nvSpPr>
        <p:spPr>
          <a:xfrm>
            <a:off x="6492240" y="34564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ÁFRICA</a:t>
            </a:r>
            <a:endParaRPr lang="en-US" sz="1100" dirty="0"/>
          </a:p>
        </p:txBody>
      </p:sp>
      <p:sp>
        <p:nvSpPr>
          <p:cNvPr id="24" name="Text 19"/>
          <p:cNvSpPr txBox="1"/>
          <p:nvPr/>
        </p:nvSpPr>
        <p:spPr>
          <a:xfrm>
            <a:off x="6492240" y="3749040"/>
            <a:ext cx="2148840" cy="685800"/>
          </a:xfrm>
          <a:prstGeom prst="rect">
            <a:avLst/>
          </a:prstGeom>
          <a:noFill/>
          <a:ln/>
        </p:spPr>
        <p:txBody>
          <a:bodyPr wrap="square" lIns="0" tIns="0" rIns="0" bIns="0" rtlCol="0" anchor="t"/>
          <a:lstStyle/>
          <a:p>
            <a:pPr indent="0" marL="0">
              <a:buNone/>
            </a:pPr>
            <a:r>
              <a:rPr lang="en-US" sz="1400" dirty="0">
                <a:solidFill>
                  <a:schemeClr val="tx1"/>
                </a:solidFill>
              </a:rPr>
              <a:t>Tanques, bombas e caixa numa só plataforma</a:t>
            </a:r>
            <a:endParaRPr lang="en-US" sz="1400" dirty="0"/>
          </a:p>
        </p:txBody>
      </p:sp>
      <p:sp>
        <p:nvSpPr>
          <p:cNvPr id="25" name="Shape 20"/>
          <p:cNvSpPr/>
          <p:nvPr/>
        </p:nvSpPr>
        <p:spPr>
          <a:xfrm>
            <a:off x="9052560" y="1600200"/>
            <a:ext cx="2606040" cy="2880360"/>
          </a:xfrm>
          <a:prstGeom prst="roundRect">
            <a:avLst>
              <a:gd name="adj" fmla="val 4211"/>
            </a:avLst>
          </a:prstGeom>
          <a:solidFill>
            <a:schemeClr val="bg2"/>
          </a:solidFill>
          <a:ln/>
        </p:spPr>
      </p:sp>
      <p:sp>
        <p:nvSpPr>
          <p:cNvPr id="26" name="Shape 21"/>
          <p:cNvSpPr/>
          <p:nvPr/>
        </p:nvSpPr>
        <p:spPr>
          <a:xfrm>
            <a:off x="9326880" y="1874520"/>
            <a:ext cx="731520" cy="731520"/>
          </a:xfrm>
          <a:prstGeom prst="ellipse">
            <a:avLst/>
          </a:prstGeom>
          <a:solidFill>
            <a:srgbClr val="5B4BC4"/>
          </a:solidFill>
          <a:ln/>
        </p:spPr>
      </p:sp>
      <p:pic>
        <p:nvPicPr>
          <p:cNvPr id="27" name="Image 3" descr="preencoded.png">    </p:cNvPr>
          <p:cNvPicPr>
            <a:picLocks noChangeAspect="1"/>
          </p:cNvPicPr>
          <p:nvPr/>
        </p:nvPicPr>
        <p:blipFill>
          <a:blip r:embed="rId4"/>
          <a:stretch>
            <a:fillRect/>
          </a:stretch>
        </p:blipFill>
        <p:spPr>
          <a:xfrm>
            <a:off x="9487814" y="2035454"/>
            <a:ext cx="409651" cy="409651"/>
          </a:xfrm>
          <a:prstGeom prst="rect">
            <a:avLst/>
          </a:prstGeom>
        </p:spPr>
      </p:pic>
      <p:sp>
        <p:nvSpPr>
          <p:cNvPr id="28" name="Text 22"/>
          <p:cNvSpPr txBox="1"/>
          <p:nvPr/>
        </p:nvSpPr>
        <p:spPr>
          <a:xfrm>
            <a:off x="9326880" y="2743200"/>
            <a:ext cx="2148840" cy="411480"/>
          </a:xfrm>
          <a:prstGeom prst="rect">
            <a:avLst/>
          </a:prstGeom>
          <a:noFill/>
          <a:ln/>
        </p:spPr>
        <p:txBody>
          <a:bodyPr wrap="square" lIns="0" tIns="0" rIns="0" bIns="0" rtlCol="0" anchor="t"/>
          <a:lstStyle/>
          <a:p>
            <a:pPr indent="0" marL="0">
              <a:buNone/>
            </a:pPr>
            <a:r>
              <a:rPr lang="en-US" sz="2200" b="1" dirty="0">
                <a:solidFill>
                  <a:schemeClr val="tx1"/>
                </a:solidFill>
              </a:rPr>
              <a:t>OTS Group</a:t>
            </a:r>
            <a:endParaRPr lang="en-US" sz="2200" dirty="0"/>
          </a:p>
        </p:txBody>
      </p:sp>
      <p:sp>
        <p:nvSpPr>
          <p:cNvPr id="29" name="Text 23"/>
          <p:cNvSpPr txBox="1"/>
          <p:nvPr/>
        </p:nvSpPr>
        <p:spPr>
          <a:xfrm>
            <a:off x="9326880" y="3127248"/>
            <a:ext cx="2148840" cy="274320"/>
          </a:xfrm>
          <a:prstGeom prst="rect">
            <a:avLst/>
          </a:prstGeom>
          <a:noFill/>
          <a:ln/>
        </p:spPr>
        <p:txBody>
          <a:bodyPr wrap="square" lIns="0" tIns="0" rIns="0" bIns="0" rtlCol="0" anchor="t"/>
          <a:lstStyle/>
          <a:p>
            <a:pPr indent="0" marL="0">
              <a:buNone/>
            </a:pPr>
            <a:r>
              <a:rPr lang="en-US" sz="1300" dirty="0">
                <a:solidFill>
                  <a:schemeClr val="tx2"/>
                </a:solidFill>
              </a:rPr>
              <a:t>Monitorização remota</a:t>
            </a:r>
            <a:endParaRPr lang="en-US" sz="1300" dirty="0"/>
          </a:p>
        </p:txBody>
      </p:sp>
      <p:sp>
        <p:nvSpPr>
          <p:cNvPr id="30" name="Text 24"/>
          <p:cNvSpPr txBox="1"/>
          <p:nvPr/>
        </p:nvSpPr>
        <p:spPr>
          <a:xfrm>
            <a:off x="9326880" y="3456432"/>
            <a:ext cx="219456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REINO UNIDO</a:t>
            </a:r>
            <a:endParaRPr lang="en-US" sz="1100" dirty="0"/>
          </a:p>
        </p:txBody>
      </p:sp>
      <p:sp>
        <p:nvSpPr>
          <p:cNvPr id="31" name="Text 25"/>
          <p:cNvSpPr txBox="1"/>
          <p:nvPr/>
        </p:nvSpPr>
        <p:spPr>
          <a:xfrm>
            <a:off x="9326880" y="3749040"/>
            <a:ext cx="2148840" cy="685800"/>
          </a:xfrm>
          <a:prstGeom prst="rect">
            <a:avLst/>
          </a:prstGeom>
          <a:noFill/>
          <a:ln/>
        </p:spPr>
        <p:txBody>
          <a:bodyPr wrap="square" lIns="0" tIns="0" rIns="0" bIns="0" rtlCol="0" anchor="t"/>
          <a:lstStyle/>
          <a:p>
            <a:pPr indent="0" marL="0">
              <a:buNone/>
            </a:pPr>
            <a:r>
              <a:rPr lang="en-US" sz="1400" dirty="0">
                <a:solidFill>
                  <a:schemeClr val="tx1"/>
                </a:solidFill>
              </a:rPr>
              <a:t>Mais de 300 tanques lidos à distância</a:t>
            </a:r>
            <a:endParaRPr lang="en-US" sz="1400" dirty="0"/>
          </a:p>
        </p:txBody>
      </p:sp>
      <p:sp>
        <p:nvSpPr>
          <p:cNvPr id="32" name="Text 26"/>
          <p:cNvSpPr txBox="1"/>
          <p:nvPr/>
        </p:nvSpPr>
        <p:spPr>
          <a:xfrm>
            <a:off x="548640" y="4681728"/>
            <a:ext cx="11064240" cy="320040"/>
          </a:xfrm>
          <a:prstGeom prst="rect">
            <a:avLst/>
          </a:prstGeom>
          <a:noFill/>
          <a:ln/>
        </p:spPr>
        <p:txBody>
          <a:bodyPr wrap="square" lIns="0" tIns="0" rIns="0" bIns="0" rtlCol="0" anchor="t"/>
          <a:lstStyle/>
          <a:p>
            <a:pPr indent="0" marL="0">
              <a:buNone/>
            </a:pPr>
            <a:r>
              <a:rPr lang="en-US" sz="1400" dirty="0">
                <a:solidFill>
                  <a:schemeClr val="tx2"/>
                </a:solidFill>
              </a:rPr>
              <a:t>AFTECH em: Senegal · Guiné · Serra Leoa · Libéria · Côte d’Ivoire · Zâmbia · África do Sul</a:t>
            </a:r>
            <a:endParaRPr lang="en-US" sz="1400" dirty="0"/>
          </a:p>
        </p:txBody>
      </p:sp>
      <p:sp>
        <p:nvSpPr>
          <p:cNvPr id="33" name="Shape 27"/>
          <p:cNvSpPr/>
          <p:nvPr/>
        </p:nvSpPr>
        <p:spPr>
          <a:xfrm>
            <a:off x="548640" y="5166360"/>
            <a:ext cx="11109960" cy="960120"/>
          </a:xfrm>
          <a:prstGeom prst="roundRect">
            <a:avLst>
              <a:gd name="adj" fmla="val 9524"/>
            </a:avLst>
          </a:prstGeom>
          <a:solidFill>
            <a:schemeClr val="accent1">
              <a:alpha val="12000"/>
            </a:schemeClr>
          </a:solidFill>
          <a:ln/>
        </p:spPr>
      </p:sp>
      <p:sp>
        <p:nvSpPr>
          <p:cNvPr id="34" name="Text 28"/>
          <p:cNvSpPr txBox="1"/>
          <p:nvPr/>
        </p:nvSpPr>
        <p:spPr>
          <a:xfrm>
            <a:off x="777240" y="5212080"/>
            <a:ext cx="731520" cy="868680"/>
          </a:xfrm>
          <a:prstGeom prst="rect">
            <a:avLst/>
          </a:prstGeom>
          <a:noFill/>
          <a:ln/>
        </p:spPr>
        <p:txBody>
          <a:bodyPr wrap="square" lIns="0" tIns="0" rIns="0" bIns="0" rtlCol="0" anchor="ctr"/>
          <a:lstStyle/>
          <a:p>
            <a:pPr indent="0" marL="0">
              <a:buNone/>
            </a:pPr>
            <a:r>
              <a:rPr lang="en-US" sz="4800" b="1" dirty="0">
                <a:solidFill>
                  <a:schemeClr val="accent1"/>
                </a:solidFill>
              </a:rPr>
              <a:t>0</a:t>
            </a:r>
            <a:endParaRPr lang="en-US" sz="4800" dirty="0"/>
          </a:p>
        </p:txBody>
      </p:sp>
      <p:sp>
        <p:nvSpPr>
          <p:cNvPr id="35" name="Text 29"/>
          <p:cNvSpPr txBox="1"/>
          <p:nvPr/>
        </p:nvSpPr>
        <p:spPr>
          <a:xfrm>
            <a:off x="1508760" y="5285232"/>
            <a:ext cx="9966960" cy="777240"/>
          </a:xfrm>
          <a:prstGeom prst="rect">
            <a:avLst/>
          </a:prstGeom>
          <a:noFill/>
          <a:ln/>
        </p:spPr>
        <p:txBody>
          <a:bodyPr wrap="square" lIns="0" tIns="0" rIns="0" bIns="0" rtlCol="0" anchor="ctr"/>
          <a:lstStyle/>
          <a:p>
            <a:pPr indent="0" marL="0">
              <a:buNone/>
            </a:pPr>
            <a:r>
              <a:rPr lang="en-US" sz="1500" b="1" dirty="0">
                <a:solidFill>
                  <a:schemeClr val="tx1"/>
                </a:solidFill>
              </a:rPr>
              <a:t>casos públicos numa rede inteira de distribuidor em Angola</a:t>
            </a:r>
            <a:endParaRPr lang="en-US" sz="1500" dirty="0"/>
          </a:p>
          <a:p>
            <a:pPr indent="0" marL="0">
              <a:buNone/>
            </a:pPr>
            <a:r>
              <a:rPr lang="en-US" sz="1500" dirty="0">
                <a:solidFill>
                  <a:schemeClr val="tx1"/>
                </a:solidFill>
              </a:rPr>
              <a:t>Resultados acima são afirmações dos fornecedores — o piloto vai medi-los na rede da Sonangol.</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02 · ARQUITETURA GERAL</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Do tanque ao telemóvel em cinco passos</a:t>
            </a:r>
            <a:endParaRPr lang="en-US" sz="3400" dirty="0"/>
          </a:p>
        </p:txBody>
      </p:sp>
      <p:sp>
        <p:nvSpPr>
          <p:cNvPr id="4" name="Shape 2"/>
          <p:cNvSpPr/>
          <p:nvPr/>
        </p:nvSpPr>
        <p:spPr>
          <a:xfrm>
            <a:off x="411480" y="1508760"/>
            <a:ext cx="4526280" cy="3611880"/>
          </a:xfrm>
          <a:prstGeom prst="roundRect">
            <a:avLst>
              <a:gd name="adj" fmla="val 3038"/>
            </a:avLst>
          </a:prstGeom>
          <a:solidFill>
            <a:schemeClr val="bg2"/>
          </a:solidFill>
          <a:ln/>
        </p:spPr>
      </p:sp>
      <p:sp>
        <p:nvSpPr>
          <p:cNvPr id="5" name="Text 3"/>
          <p:cNvSpPr txBox="1"/>
          <p:nvPr/>
        </p:nvSpPr>
        <p:spPr>
          <a:xfrm>
            <a:off x="594360" y="1645920"/>
            <a:ext cx="416052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NO POSTO</a:t>
            </a:r>
            <a:endParaRPr lang="en-US" sz="1100" dirty="0"/>
          </a:p>
        </p:txBody>
      </p:sp>
      <p:sp>
        <p:nvSpPr>
          <p:cNvPr id="6" name="Shape 4"/>
          <p:cNvSpPr/>
          <p:nvPr/>
        </p:nvSpPr>
        <p:spPr>
          <a:xfrm>
            <a:off x="5029200" y="1508760"/>
            <a:ext cx="2148840" cy="3611880"/>
          </a:xfrm>
          <a:prstGeom prst="roundRect">
            <a:avLst>
              <a:gd name="adj" fmla="val 5106"/>
            </a:avLst>
          </a:prstGeom>
          <a:solidFill>
            <a:schemeClr val="bg2"/>
          </a:solidFill>
          <a:ln/>
        </p:spPr>
      </p:sp>
      <p:sp>
        <p:nvSpPr>
          <p:cNvPr id="7" name="Text 5"/>
          <p:cNvSpPr txBox="1"/>
          <p:nvPr/>
        </p:nvSpPr>
        <p:spPr>
          <a:xfrm>
            <a:off x="5212080" y="1645920"/>
            <a:ext cx="178308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NA REDE</a:t>
            </a:r>
            <a:endParaRPr lang="en-US" sz="1100" dirty="0"/>
          </a:p>
        </p:txBody>
      </p:sp>
      <p:sp>
        <p:nvSpPr>
          <p:cNvPr id="8" name="Shape 6"/>
          <p:cNvSpPr/>
          <p:nvPr/>
        </p:nvSpPr>
        <p:spPr>
          <a:xfrm>
            <a:off x="7269480" y="1508760"/>
            <a:ext cx="2148840" cy="3611880"/>
          </a:xfrm>
          <a:prstGeom prst="roundRect">
            <a:avLst>
              <a:gd name="adj" fmla="val 5106"/>
            </a:avLst>
          </a:prstGeom>
          <a:solidFill>
            <a:schemeClr val="bg2"/>
          </a:solidFill>
          <a:ln/>
        </p:spPr>
      </p:sp>
      <p:sp>
        <p:nvSpPr>
          <p:cNvPr id="9" name="Text 7"/>
          <p:cNvSpPr txBox="1"/>
          <p:nvPr/>
        </p:nvSpPr>
        <p:spPr>
          <a:xfrm>
            <a:off x="7452360" y="1645920"/>
            <a:ext cx="178308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NO SERVIDOR</a:t>
            </a:r>
            <a:endParaRPr lang="en-US" sz="1100" dirty="0"/>
          </a:p>
        </p:txBody>
      </p:sp>
      <p:sp>
        <p:nvSpPr>
          <p:cNvPr id="10" name="Shape 8"/>
          <p:cNvSpPr/>
          <p:nvPr/>
        </p:nvSpPr>
        <p:spPr>
          <a:xfrm>
            <a:off x="9509760" y="1508760"/>
            <a:ext cx="2194560" cy="3611880"/>
          </a:xfrm>
          <a:prstGeom prst="roundRect">
            <a:avLst>
              <a:gd name="adj" fmla="val 5000"/>
            </a:avLst>
          </a:prstGeom>
          <a:solidFill>
            <a:schemeClr val="bg2"/>
          </a:solidFill>
          <a:ln/>
        </p:spPr>
      </p:sp>
      <p:sp>
        <p:nvSpPr>
          <p:cNvPr id="11" name="Text 9"/>
          <p:cNvSpPr txBox="1"/>
          <p:nvPr/>
        </p:nvSpPr>
        <p:spPr>
          <a:xfrm>
            <a:off x="9692640" y="1645920"/>
            <a:ext cx="18288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NA MÃO</a:t>
            </a:r>
            <a:endParaRPr lang="en-US" sz="1100" dirty="0"/>
          </a:p>
        </p:txBody>
      </p:sp>
      <p:sp>
        <p:nvSpPr>
          <p:cNvPr id="12" name="Shape 10"/>
          <p:cNvSpPr/>
          <p:nvPr/>
        </p:nvSpPr>
        <p:spPr>
          <a:xfrm>
            <a:off x="1097280" y="2103120"/>
            <a:ext cx="1051560" cy="1051560"/>
          </a:xfrm>
          <a:prstGeom prst="ellipse">
            <a:avLst/>
          </a:prstGeom>
          <a:solidFill>
            <a:srgbClr val="5B4BC4"/>
          </a:solidFill>
          <a:ln/>
        </p:spPr>
      </p:sp>
      <p:pic>
        <p:nvPicPr>
          <p:cNvPr id="13" name="Image 0" descr="preencoded.png">    </p:cNvPr>
          <p:cNvPicPr>
            <a:picLocks noChangeAspect="1"/>
          </p:cNvPicPr>
          <p:nvPr/>
        </p:nvPicPr>
        <p:blipFill>
          <a:blip r:embed="rId1"/>
          <a:stretch>
            <a:fillRect/>
          </a:stretch>
        </p:blipFill>
        <p:spPr>
          <a:xfrm>
            <a:off x="1328623" y="2334463"/>
            <a:ext cx="588874" cy="588874"/>
          </a:xfrm>
          <a:prstGeom prst="rect">
            <a:avLst/>
          </a:prstGeom>
        </p:spPr>
      </p:pic>
      <p:sp>
        <p:nvSpPr>
          <p:cNvPr id="14" name="Text 11"/>
          <p:cNvSpPr txBox="1"/>
          <p:nvPr/>
        </p:nvSpPr>
        <p:spPr>
          <a:xfrm>
            <a:off x="640080" y="3337560"/>
            <a:ext cx="1965960" cy="411480"/>
          </a:xfrm>
          <a:prstGeom prst="rect">
            <a:avLst/>
          </a:prstGeom>
          <a:noFill/>
          <a:ln/>
        </p:spPr>
        <p:txBody>
          <a:bodyPr wrap="square" lIns="0" tIns="0" rIns="0" bIns="0" rtlCol="0" anchor="t"/>
          <a:lstStyle/>
          <a:p>
            <a:pPr algn="ctr" indent="0" marL="0">
              <a:buNone/>
            </a:pPr>
            <a:r>
              <a:rPr lang="en-US" sz="1800" b="1" dirty="0">
                <a:solidFill>
                  <a:schemeClr val="tx1"/>
                </a:solidFill>
              </a:rPr>
              <a:t>1 · Sonda</a:t>
            </a:r>
            <a:endParaRPr lang="en-US" sz="1800" dirty="0"/>
          </a:p>
        </p:txBody>
      </p:sp>
      <p:sp>
        <p:nvSpPr>
          <p:cNvPr id="15" name="Text 12"/>
          <p:cNvSpPr txBox="1"/>
          <p:nvPr/>
        </p:nvSpPr>
        <p:spPr>
          <a:xfrm>
            <a:off x="685800" y="3767328"/>
            <a:ext cx="1874520" cy="914400"/>
          </a:xfrm>
          <a:prstGeom prst="rect">
            <a:avLst/>
          </a:prstGeom>
          <a:noFill/>
          <a:ln/>
        </p:spPr>
        <p:txBody>
          <a:bodyPr wrap="square" lIns="0" tIns="0" rIns="0" bIns="0" rtlCol="0" anchor="t"/>
          <a:lstStyle/>
          <a:p>
            <a:pPr algn="ctr" indent="0" marL="0">
              <a:buNone/>
            </a:pPr>
            <a:r>
              <a:rPr lang="en-US" sz="1400" dirty="0">
                <a:solidFill>
                  <a:schemeClr val="tx2"/>
                </a:solidFill>
              </a:rPr>
              <a:t>No tanque: mede nível, água e temperatura</a:t>
            </a:r>
            <a:endParaRPr lang="en-US" sz="1400" dirty="0"/>
          </a:p>
        </p:txBody>
      </p:sp>
      <p:sp>
        <p:nvSpPr>
          <p:cNvPr id="16" name="Shape 13"/>
          <p:cNvSpPr/>
          <p:nvPr/>
        </p:nvSpPr>
        <p:spPr>
          <a:xfrm>
            <a:off x="2240280" y="2628900"/>
            <a:ext cx="1024128" cy="914"/>
          </a:xfrm>
          <a:prstGeom prst="line">
            <a:avLst/>
          </a:prstGeom>
          <a:noFill/>
          <a:ln w="31750">
            <a:solidFill>
              <a:schemeClr val="accent1"/>
            </a:solidFill>
            <a:prstDash val="solid"/>
            <a:tailEnd type="triangle"/>
          </a:ln>
        </p:spPr>
      </p:sp>
      <p:sp>
        <p:nvSpPr>
          <p:cNvPr id="17" name="Shape 14"/>
          <p:cNvSpPr/>
          <p:nvPr/>
        </p:nvSpPr>
        <p:spPr>
          <a:xfrm>
            <a:off x="3337560" y="2103120"/>
            <a:ext cx="1051560" cy="1051560"/>
          </a:xfrm>
          <a:prstGeom prst="ellipse">
            <a:avLst/>
          </a:prstGeom>
          <a:solidFill>
            <a:srgbClr val="5B4BC4"/>
          </a:solidFill>
          <a:ln/>
        </p:spPr>
      </p:sp>
      <p:pic>
        <p:nvPicPr>
          <p:cNvPr id="18" name="Image 1" descr="preencoded.png">    </p:cNvPr>
          <p:cNvPicPr>
            <a:picLocks noChangeAspect="1"/>
          </p:cNvPicPr>
          <p:nvPr/>
        </p:nvPicPr>
        <p:blipFill>
          <a:blip r:embed="rId2"/>
          <a:stretch>
            <a:fillRect/>
          </a:stretch>
        </p:blipFill>
        <p:spPr>
          <a:xfrm>
            <a:off x="3568903" y="2334463"/>
            <a:ext cx="588874" cy="588874"/>
          </a:xfrm>
          <a:prstGeom prst="rect">
            <a:avLst/>
          </a:prstGeom>
        </p:spPr>
      </p:pic>
      <p:sp>
        <p:nvSpPr>
          <p:cNvPr id="19" name="Text 15"/>
          <p:cNvSpPr txBox="1"/>
          <p:nvPr/>
        </p:nvSpPr>
        <p:spPr>
          <a:xfrm>
            <a:off x="2880360" y="3337560"/>
            <a:ext cx="1965960" cy="411480"/>
          </a:xfrm>
          <a:prstGeom prst="rect">
            <a:avLst/>
          </a:prstGeom>
          <a:noFill/>
          <a:ln/>
        </p:spPr>
        <p:txBody>
          <a:bodyPr wrap="square" lIns="0" tIns="0" rIns="0" bIns="0" rtlCol="0" anchor="t"/>
          <a:lstStyle/>
          <a:p>
            <a:pPr algn="ctr" indent="0" marL="0">
              <a:buNone/>
            </a:pPr>
            <a:r>
              <a:rPr lang="en-US" sz="1800" b="1" dirty="0">
                <a:solidFill>
                  <a:schemeClr val="tx1"/>
                </a:solidFill>
              </a:rPr>
              <a:t>2 · Gateway</a:t>
            </a:r>
            <a:endParaRPr lang="en-US" sz="1800" dirty="0"/>
          </a:p>
        </p:txBody>
      </p:sp>
      <p:sp>
        <p:nvSpPr>
          <p:cNvPr id="20" name="Text 16"/>
          <p:cNvSpPr txBox="1"/>
          <p:nvPr/>
        </p:nvSpPr>
        <p:spPr>
          <a:xfrm>
            <a:off x="2926080" y="3767328"/>
            <a:ext cx="1874520" cy="914400"/>
          </a:xfrm>
          <a:prstGeom prst="rect">
            <a:avLst/>
          </a:prstGeom>
          <a:noFill/>
          <a:ln/>
        </p:spPr>
        <p:txBody>
          <a:bodyPr wrap="square" lIns="0" tIns="0" rIns="0" bIns="0" rtlCol="0" anchor="t"/>
          <a:lstStyle/>
          <a:p>
            <a:pPr algn="ctr" indent="0" marL="0">
              <a:buNone/>
            </a:pPr>
            <a:r>
              <a:rPr lang="en-US" sz="1400" dirty="0">
                <a:solidFill>
                  <a:schemeClr val="tx2"/>
                </a:solidFill>
              </a:rPr>
              <a:t>No escritório: lê a consola a cada 10 min</a:t>
            </a:r>
            <a:endParaRPr lang="en-US" sz="1400" dirty="0"/>
          </a:p>
        </p:txBody>
      </p:sp>
      <p:sp>
        <p:nvSpPr>
          <p:cNvPr id="21" name="Shape 17"/>
          <p:cNvSpPr/>
          <p:nvPr/>
        </p:nvSpPr>
        <p:spPr>
          <a:xfrm>
            <a:off x="4480560" y="2628900"/>
            <a:ext cx="1069848" cy="914"/>
          </a:xfrm>
          <a:prstGeom prst="line">
            <a:avLst/>
          </a:prstGeom>
          <a:noFill/>
          <a:ln w="31750">
            <a:solidFill>
              <a:schemeClr val="accent1"/>
            </a:solidFill>
            <a:prstDash val="dash"/>
            <a:tailEnd type="triangle"/>
          </a:ln>
        </p:spPr>
      </p:sp>
      <p:sp>
        <p:nvSpPr>
          <p:cNvPr id="22" name="Shape 18"/>
          <p:cNvSpPr/>
          <p:nvPr/>
        </p:nvSpPr>
        <p:spPr>
          <a:xfrm>
            <a:off x="5623560" y="2103120"/>
            <a:ext cx="1051560" cy="1051560"/>
          </a:xfrm>
          <a:prstGeom prst="ellipse">
            <a:avLst/>
          </a:prstGeom>
          <a:solidFill>
            <a:srgbClr val="5B4BC4"/>
          </a:solidFill>
          <a:ln/>
        </p:spPr>
      </p:sp>
      <p:pic>
        <p:nvPicPr>
          <p:cNvPr id="23" name="Image 2" descr="preencoded.png">    </p:cNvPr>
          <p:cNvPicPr>
            <a:picLocks noChangeAspect="1"/>
          </p:cNvPicPr>
          <p:nvPr/>
        </p:nvPicPr>
        <p:blipFill>
          <a:blip r:embed="rId3"/>
          <a:stretch>
            <a:fillRect/>
          </a:stretch>
        </p:blipFill>
        <p:spPr>
          <a:xfrm>
            <a:off x="5854903" y="2334463"/>
            <a:ext cx="588874" cy="588874"/>
          </a:xfrm>
          <a:prstGeom prst="rect">
            <a:avLst/>
          </a:prstGeom>
        </p:spPr>
      </p:pic>
      <p:sp>
        <p:nvSpPr>
          <p:cNvPr id="24" name="Text 19"/>
          <p:cNvSpPr txBox="1"/>
          <p:nvPr/>
        </p:nvSpPr>
        <p:spPr>
          <a:xfrm>
            <a:off x="5166360" y="3337560"/>
            <a:ext cx="1965960" cy="411480"/>
          </a:xfrm>
          <a:prstGeom prst="rect">
            <a:avLst/>
          </a:prstGeom>
          <a:noFill/>
          <a:ln/>
        </p:spPr>
        <p:txBody>
          <a:bodyPr wrap="square" lIns="0" tIns="0" rIns="0" bIns="0" rtlCol="0" anchor="t"/>
          <a:lstStyle/>
          <a:p>
            <a:pPr algn="ctr" indent="0" marL="0">
              <a:buNone/>
            </a:pPr>
            <a:r>
              <a:rPr lang="en-US" sz="1800" b="1" dirty="0">
                <a:solidFill>
                  <a:schemeClr val="tx1"/>
                </a:solidFill>
              </a:rPr>
              <a:t>3 · Rede 4G</a:t>
            </a:r>
            <a:endParaRPr lang="en-US" sz="1800" dirty="0"/>
          </a:p>
        </p:txBody>
      </p:sp>
      <p:sp>
        <p:nvSpPr>
          <p:cNvPr id="25" name="Text 20"/>
          <p:cNvSpPr txBox="1"/>
          <p:nvPr/>
        </p:nvSpPr>
        <p:spPr>
          <a:xfrm>
            <a:off x="5212080" y="3767328"/>
            <a:ext cx="1874520" cy="914400"/>
          </a:xfrm>
          <a:prstGeom prst="rect">
            <a:avLst/>
          </a:prstGeom>
          <a:noFill/>
          <a:ln/>
        </p:spPr>
        <p:txBody>
          <a:bodyPr wrap="square" lIns="0" tIns="0" rIns="0" bIns="0" rtlCol="0" anchor="t"/>
          <a:lstStyle/>
          <a:p>
            <a:pPr algn="ctr" indent="0" marL="0">
              <a:buNone/>
            </a:pPr>
            <a:r>
              <a:rPr lang="en-US" sz="1400" dirty="0">
                <a:solidFill>
                  <a:schemeClr val="tx2"/>
                </a:solidFill>
              </a:rPr>
              <a:t>Envia a leitura cifrada (≈ 1 KB)</a:t>
            </a:r>
            <a:endParaRPr lang="en-US" sz="1400" dirty="0"/>
          </a:p>
        </p:txBody>
      </p:sp>
      <p:sp>
        <p:nvSpPr>
          <p:cNvPr id="26" name="Shape 21"/>
          <p:cNvSpPr/>
          <p:nvPr/>
        </p:nvSpPr>
        <p:spPr>
          <a:xfrm>
            <a:off x="6766560" y="2628900"/>
            <a:ext cx="1024128" cy="914"/>
          </a:xfrm>
          <a:prstGeom prst="line">
            <a:avLst/>
          </a:prstGeom>
          <a:noFill/>
          <a:ln w="31750">
            <a:solidFill>
              <a:schemeClr val="accent1"/>
            </a:solidFill>
            <a:prstDash val="dash"/>
            <a:tailEnd type="triangle"/>
          </a:ln>
        </p:spPr>
      </p:sp>
      <p:sp>
        <p:nvSpPr>
          <p:cNvPr id="27" name="Shape 22"/>
          <p:cNvSpPr/>
          <p:nvPr/>
        </p:nvSpPr>
        <p:spPr>
          <a:xfrm>
            <a:off x="7863840" y="2103120"/>
            <a:ext cx="1051560" cy="1051560"/>
          </a:xfrm>
          <a:prstGeom prst="ellipse">
            <a:avLst/>
          </a:prstGeom>
          <a:solidFill>
            <a:srgbClr val="E9A23B"/>
          </a:solidFill>
          <a:ln/>
        </p:spPr>
      </p:sp>
      <p:pic>
        <p:nvPicPr>
          <p:cNvPr id="28" name="Image 3" descr="preencoded.png">    </p:cNvPr>
          <p:cNvPicPr>
            <a:picLocks noChangeAspect="1"/>
          </p:cNvPicPr>
          <p:nvPr/>
        </p:nvPicPr>
        <p:blipFill>
          <a:blip r:embed="rId4"/>
          <a:stretch>
            <a:fillRect/>
          </a:stretch>
        </p:blipFill>
        <p:spPr>
          <a:xfrm>
            <a:off x="8095183" y="2334463"/>
            <a:ext cx="588874" cy="588874"/>
          </a:xfrm>
          <a:prstGeom prst="rect">
            <a:avLst/>
          </a:prstGeom>
        </p:spPr>
      </p:pic>
      <p:sp>
        <p:nvSpPr>
          <p:cNvPr id="29" name="Text 23"/>
          <p:cNvSpPr txBox="1"/>
          <p:nvPr/>
        </p:nvSpPr>
        <p:spPr>
          <a:xfrm>
            <a:off x="7406640" y="3337560"/>
            <a:ext cx="1965960" cy="411480"/>
          </a:xfrm>
          <a:prstGeom prst="rect">
            <a:avLst/>
          </a:prstGeom>
          <a:noFill/>
          <a:ln/>
        </p:spPr>
        <p:txBody>
          <a:bodyPr wrap="square" lIns="0" tIns="0" rIns="0" bIns="0" rtlCol="0" anchor="t"/>
          <a:lstStyle/>
          <a:p>
            <a:pPr algn="ctr" indent="0" marL="0">
              <a:buNone/>
            </a:pPr>
            <a:r>
              <a:rPr lang="en-US" sz="1800" b="1" dirty="0">
                <a:solidFill>
                  <a:schemeClr val="tx1"/>
                </a:solidFill>
              </a:rPr>
              <a:t>4 · Plataforma</a:t>
            </a:r>
            <a:endParaRPr lang="en-US" sz="1800" dirty="0"/>
          </a:p>
        </p:txBody>
      </p:sp>
      <p:sp>
        <p:nvSpPr>
          <p:cNvPr id="30" name="Text 24"/>
          <p:cNvSpPr txBox="1"/>
          <p:nvPr/>
        </p:nvSpPr>
        <p:spPr>
          <a:xfrm>
            <a:off x="7452360" y="3767328"/>
            <a:ext cx="1874520" cy="914400"/>
          </a:xfrm>
          <a:prstGeom prst="rect">
            <a:avLst/>
          </a:prstGeom>
          <a:noFill/>
          <a:ln/>
        </p:spPr>
        <p:txBody>
          <a:bodyPr wrap="square" lIns="0" tIns="0" rIns="0" bIns="0" rtlCol="0" anchor="t"/>
          <a:lstStyle/>
          <a:p>
            <a:pPr algn="ctr" indent="0" marL="0">
              <a:buNone/>
            </a:pPr>
            <a:r>
              <a:rPr lang="en-US" sz="1400" dirty="0">
                <a:solidFill>
                  <a:schemeClr val="tx2"/>
                </a:solidFill>
              </a:rPr>
              <a:t>Litros, previsão de rutura, alertas</a:t>
            </a:r>
            <a:endParaRPr lang="en-US" sz="1400" dirty="0"/>
          </a:p>
        </p:txBody>
      </p:sp>
      <p:sp>
        <p:nvSpPr>
          <p:cNvPr id="31" name="Shape 25"/>
          <p:cNvSpPr/>
          <p:nvPr/>
        </p:nvSpPr>
        <p:spPr>
          <a:xfrm>
            <a:off x="9006840" y="2628900"/>
            <a:ext cx="1024128" cy="914"/>
          </a:xfrm>
          <a:prstGeom prst="line">
            <a:avLst/>
          </a:prstGeom>
          <a:noFill/>
          <a:ln w="31750">
            <a:solidFill>
              <a:schemeClr val="accent1"/>
            </a:solidFill>
            <a:prstDash val="solid"/>
            <a:tailEnd type="triangle"/>
          </a:ln>
        </p:spPr>
      </p:sp>
      <p:sp>
        <p:nvSpPr>
          <p:cNvPr id="32" name="Shape 26"/>
          <p:cNvSpPr/>
          <p:nvPr/>
        </p:nvSpPr>
        <p:spPr>
          <a:xfrm>
            <a:off x="10104120" y="2103120"/>
            <a:ext cx="1051560" cy="1051560"/>
          </a:xfrm>
          <a:prstGeom prst="ellipse">
            <a:avLst/>
          </a:prstGeom>
          <a:solidFill>
            <a:srgbClr val="5B4BC4"/>
          </a:solidFill>
          <a:ln/>
        </p:spPr>
      </p:sp>
      <p:pic>
        <p:nvPicPr>
          <p:cNvPr id="33" name="Image 4" descr="preencoded.png">    </p:cNvPr>
          <p:cNvPicPr>
            <a:picLocks noChangeAspect="1"/>
          </p:cNvPicPr>
          <p:nvPr/>
        </p:nvPicPr>
        <p:blipFill>
          <a:blip r:embed="rId5"/>
          <a:stretch>
            <a:fillRect/>
          </a:stretch>
        </p:blipFill>
        <p:spPr>
          <a:xfrm>
            <a:off x="10335463" y="2334463"/>
            <a:ext cx="588874" cy="588874"/>
          </a:xfrm>
          <a:prstGeom prst="rect">
            <a:avLst/>
          </a:prstGeom>
        </p:spPr>
      </p:pic>
      <p:sp>
        <p:nvSpPr>
          <p:cNvPr id="34" name="Text 27"/>
          <p:cNvSpPr txBox="1"/>
          <p:nvPr/>
        </p:nvSpPr>
        <p:spPr>
          <a:xfrm>
            <a:off x="9646920" y="3337560"/>
            <a:ext cx="1965960" cy="411480"/>
          </a:xfrm>
          <a:prstGeom prst="rect">
            <a:avLst/>
          </a:prstGeom>
          <a:noFill/>
          <a:ln/>
        </p:spPr>
        <p:txBody>
          <a:bodyPr wrap="square" lIns="0" tIns="0" rIns="0" bIns="0" rtlCol="0" anchor="t"/>
          <a:lstStyle/>
          <a:p>
            <a:pPr algn="ctr" indent="0" marL="0">
              <a:buNone/>
            </a:pPr>
            <a:r>
              <a:rPr lang="en-US" sz="1800" b="1" dirty="0">
                <a:solidFill>
                  <a:schemeClr val="tx1"/>
                </a:solidFill>
              </a:rPr>
              <a:t>5 · Ecrãs</a:t>
            </a:r>
            <a:endParaRPr lang="en-US" sz="1800" dirty="0"/>
          </a:p>
        </p:txBody>
      </p:sp>
      <p:sp>
        <p:nvSpPr>
          <p:cNvPr id="35" name="Text 28"/>
          <p:cNvSpPr txBox="1"/>
          <p:nvPr/>
        </p:nvSpPr>
        <p:spPr>
          <a:xfrm>
            <a:off x="9692640" y="3767328"/>
            <a:ext cx="1874520" cy="914400"/>
          </a:xfrm>
          <a:prstGeom prst="rect">
            <a:avLst/>
          </a:prstGeom>
          <a:noFill/>
          <a:ln/>
        </p:spPr>
        <p:txBody>
          <a:bodyPr wrap="square" lIns="0" tIns="0" rIns="0" bIns="0" rtlCol="0" anchor="t"/>
          <a:lstStyle/>
          <a:p>
            <a:pPr algn="ctr" indent="0" marL="0">
              <a:buNone/>
            </a:pPr>
            <a:r>
              <a:rPr lang="en-US" sz="1400" dirty="0">
                <a:solidFill>
                  <a:schemeClr val="tx2"/>
                </a:solidFill>
              </a:rPr>
              <a:t>Painel, app e SMS para quem decide</a:t>
            </a:r>
            <a:endParaRPr lang="en-US" sz="1400" dirty="0"/>
          </a:p>
        </p:txBody>
      </p:sp>
      <p:sp>
        <p:nvSpPr>
          <p:cNvPr id="36" name="Shape 29"/>
          <p:cNvSpPr/>
          <p:nvPr/>
        </p:nvSpPr>
        <p:spPr>
          <a:xfrm>
            <a:off x="548640" y="5349240"/>
            <a:ext cx="3520440" cy="777240"/>
          </a:xfrm>
          <a:prstGeom prst="roundRect">
            <a:avLst>
              <a:gd name="adj" fmla="val 11765"/>
            </a:avLst>
          </a:prstGeom>
          <a:solidFill>
            <a:schemeClr val="accent1">
              <a:alpha val="12000"/>
            </a:schemeClr>
          </a:solidFill>
          <a:ln/>
        </p:spPr>
      </p:sp>
      <p:sp>
        <p:nvSpPr>
          <p:cNvPr id="37" name="Text 30"/>
          <p:cNvSpPr txBox="1"/>
          <p:nvPr/>
        </p:nvSpPr>
        <p:spPr>
          <a:xfrm>
            <a:off x="777240" y="5349240"/>
            <a:ext cx="3200400" cy="777240"/>
          </a:xfrm>
          <a:prstGeom prst="rect">
            <a:avLst/>
          </a:prstGeom>
          <a:noFill/>
          <a:ln/>
        </p:spPr>
        <p:txBody>
          <a:bodyPr wrap="square" lIns="0" tIns="0" rIns="0" bIns="0" rtlCol="0" anchor="ctr"/>
          <a:lstStyle/>
          <a:p>
            <a:pPr indent="0" marL="0">
              <a:buNone/>
            </a:pPr>
            <a:r>
              <a:rPr lang="en-US" sz="1800" b="1" dirty="0">
                <a:solidFill>
                  <a:schemeClr val="accent1"/>
                </a:solidFill>
              </a:rPr>
              <a:t>a cada 10 min  </a:t>
            </a:r>
            <a:pPr indent="0" marL="0">
              <a:buNone/>
            </a:pPr>
            <a:r>
              <a:rPr lang="en-US" sz="1400" dirty="0">
                <a:solidFill>
                  <a:schemeClr val="tx1"/>
                </a:solidFill>
              </a:rPr>
              <a:t>uma leitura por tanque</a:t>
            </a:r>
            <a:endParaRPr lang="en-US" sz="1400" dirty="0"/>
          </a:p>
        </p:txBody>
      </p:sp>
      <p:sp>
        <p:nvSpPr>
          <p:cNvPr id="38" name="Shape 31"/>
          <p:cNvSpPr/>
          <p:nvPr/>
        </p:nvSpPr>
        <p:spPr>
          <a:xfrm>
            <a:off x="4297680" y="5349240"/>
            <a:ext cx="3520440" cy="777240"/>
          </a:xfrm>
          <a:prstGeom prst="roundRect">
            <a:avLst>
              <a:gd name="adj" fmla="val 11765"/>
            </a:avLst>
          </a:prstGeom>
          <a:solidFill>
            <a:schemeClr val="accent1">
              <a:alpha val="12000"/>
            </a:schemeClr>
          </a:solidFill>
          <a:ln/>
        </p:spPr>
      </p:sp>
      <p:sp>
        <p:nvSpPr>
          <p:cNvPr id="39" name="Text 32"/>
          <p:cNvSpPr txBox="1"/>
          <p:nvPr/>
        </p:nvSpPr>
        <p:spPr>
          <a:xfrm>
            <a:off x="4526280" y="5349240"/>
            <a:ext cx="3200400" cy="777240"/>
          </a:xfrm>
          <a:prstGeom prst="rect">
            <a:avLst/>
          </a:prstGeom>
          <a:noFill/>
          <a:ln/>
        </p:spPr>
        <p:txBody>
          <a:bodyPr wrap="square" lIns="0" tIns="0" rIns="0" bIns="0" rtlCol="0" anchor="ctr"/>
          <a:lstStyle/>
          <a:p>
            <a:pPr indent="0" marL="0">
              <a:buNone/>
            </a:pPr>
            <a:r>
              <a:rPr lang="en-US" sz="1800" b="1" dirty="0">
                <a:solidFill>
                  <a:schemeClr val="accent1"/>
                </a:solidFill>
              </a:rPr>
              <a:t>segundos  </a:t>
            </a:r>
            <a:pPr indent="0" marL="0">
              <a:buNone/>
            </a:pPr>
            <a:r>
              <a:rPr lang="en-US" sz="1400" dirty="0">
                <a:solidFill>
                  <a:schemeClr val="tx1"/>
                </a:solidFill>
              </a:rPr>
              <a:t>do tanque ao ecrã</a:t>
            </a:r>
            <a:endParaRPr lang="en-US" sz="1400" dirty="0"/>
          </a:p>
        </p:txBody>
      </p:sp>
      <p:sp>
        <p:nvSpPr>
          <p:cNvPr id="40" name="Shape 33"/>
          <p:cNvSpPr/>
          <p:nvPr/>
        </p:nvSpPr>
        <p:spPr>
          <a:xfrm>
            <a:off x="8046720" y="5349240"/>
            <a:ext cx="3520440" cy="777240"/>
          </a:xfrm>
          <a:prstGeom prst="roundRect">
            <a:avLst>
              <a:gd name="adj" fmla="val 11765"/>
            </a:avLst>
          </a:prstGeom>
          <a:solidFill>
            <a:schemeClr val="accent1">
              <a:alpha val="12000"/>
            </a:schemeClr>
          </a:solidFill>
          <a:ln/>
        </p:spPr>
      </p:sp>
      <p:sp>
        <p:nvSpPr>
          <p:cNvPr id="41" name="Text 34"/>
          <p:cNvSpPr txBox="1"/>
          <p:nvPr/>
        </p:nvSpPr>
        <p:spPr>
          <a:xfrm>
            <a:off x="8275320" y="5349240"/>
            <a:ext cx="3200400" cy="777240"/>
          </a:xfrm>
          <a:prstGeom prst="rect">
            <a:avLst/>
          </a:prstGeom>
          <a:noFill/>
          <a:ln/>
        </p:spPr>
        <p:txBody>
          <a:bodyPr wrap="square" lIns="0" tIns="0" rIns="0" bIns="0" rtlCol="0" anchor="ctr"/>
          <a:lstStyle/>
          <a:p>
            <a:pPr indent="0" marL="0">
              <a:buNone/>
            </a:pPr>
            <a:r>
              <a:rPr lang="en-US" sz="1800" b="1" dirty="0">
                <a:solidFill>
                  <a:schemeClr val="accent1"/>
                </a:solidFill>
              </a:rPr>
              <a:t>só leitura  </a:t>
            </a:r>
            <a:pPr indent="0" marL="0">
              <a:buNone/>
            </a:pPr>
            <a:r>
              <a:rPr lang="en-US" sz="1400" dirty="0">
                <a:solidFill>
                  <a:schemeClr val="tx1"/>
                </a:solidFill>
              </a:rPr>
              <a:t>nunca controla bombas ou preços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03 · CAMADA 1 — MEDIÇÃO NO TANQUE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A sonda: um íman a flutuar, medido ao milímetro</a:t>
            </a:r>
            <a:endParaRPr lang="en-US" sz="3400" dirty="0"/>
          </a:p>
        </p:txBody>
      </p:sp>
      <p:sp>
        <p:nvSpPr>
          <p:cNvPr id="4" name="Shape 2"/>
          <p:cNvSpPr/>
          <p:nvPr/>
        </p:nvSpPr>
        <p:spPr>
          <a:xfrm>
            <a:off x="548640" y="2103120"/>
            <a:ext cx="6949440" cy="3886200"/>
          </a:xfrm>
          <a:prstGeom prst="rect">
            <a:avLst/>
          </a:prstGeom>
          <a:solidFill>
            <a:srgbClr val="EFE8DA"/>
          </a:solidFill>
          <a:ln/>
        </p:spPr>
      </p:sp>
      <p:sp>
        <p:nvSpPr>
          <p:cNvPr id="5" name="Shape 3"/>
          <p:cNvSpPr/>
          <p:nvPr/>
        </p:nvSpPr>
        <p:spPr>
          <a:xfrm>
            <a:off x="548640" y="1965960"/>
            <a:ext cx="6949440" cy="137160"/>
          </a:xfrm>
          <a:prstGeom prst="rect">
            <a:avLst/>
          </a:prstGeom>
          <a:solidFill>
            <a:srgbClr val="C9CCCB"/>
          </a:solidFill>
          <a:ln/>
        </p:spPr>
      </p:sp>
      <p:sp>
        <p:nvSpPr>
          <p:cNvPr id="6" name="Text 4"/>
          <p:cNvSpPr txBox="1"/>
          <p:nvPr/>
        </p:nvSpPr>
        <p:spPr>
          <a:xfrm>
            <a:off x="640080" y="1645920"/>
            <a:ext cx="2011680" cy="256032"/>
          </a:xfrm>
          <a:prstGeom prst="rect">
            <a:avLst/>
          </a:prstGeom>
          <a:noFill/>
          <a:ln/>
        </p:spPr>
        <p:txBody>
          <a:bodyPr wrap="square" lIns="0" tIns="0" rIns="0" bIns="0" rtlCol="0" anchor="t"/>
          <a:lstStyle/>
          <a:p>
            <a:pPr indent="0" marL="0">
              <a:buNone/>
            </a:pPr>
            <a:r>
              <a:rPr lang="en-US" sz="1100" dirty="0">
                <a:solidFill>
                  <a:schemeClr val="tx2"/>
                </a:solidFill>
              </a:rPr>
              <a:t>pavimento da pista</a:t>
            </a:r>
            <a:endParaRPr lang="en-US" sz="1100" dirty="0"/>
          </a:p>
        </p:txBody>
      </p:sp>
      <p:sp>
        <p:nvSpPr>
          <p:cNvPr id="7" name="Shape 5"/>
          <p:cNvSpPr/>
          <p:nvPr/>
        </p:nvSpPr>
        <p:spPr>
          <a:xfrm>
            <a:off x="3337560" y="1554480"/>
            <a:ext cx="1188720" cy="1481328"/>
          </a:xfrm>
          <a:prstGeom prst="rect">
            <a:avLst/>
          </a:prstGeom>
          <a:ln w="19050">
            <a:solidFill>
              <a:srgbClr val="B42318"/>
            </a:solidFill>
            <a:prstDash val="dash"/>
          </a:ln>
        </p:spPr>
      </p:sp>
      <p:sp>
        <p:nvSpPr>
          <p:cNvPr id="8" name="Text 6"/>
          <p:cNvSpPr txBox="1"/>
          <p:nvPr/>
        </p:nvSpPr>
        <p:spPr>
          <a:xfrm>
            <a:off x="4617720" y="1572768"/>
            <a:ext cx="914400" cy="256032"/>
          </a:xfrm>
          <a:prstGeom prst="rect">
            <a:avLst/>
          </a:prstGeom>
          <a:noFill/>
          <a:ln/>
        </p:spPr>
        <p:txBody>
          <a:bodyPr wrap="square" lIns="0" tIns="0" rIns="0" bIns="0" rtlCol="0" anchor="t"/>
          <a:lstStyle/>
          <a:p>
            <a:pPr indent="0" marL="0">
              <a:buNone/>
            </a:pPr>
            <a:r>
              <a:rPr lang="en-US" sz="1100" b="1" dirty="0">
                <a:solidFill>
                  <a:schemeClr val="accent3"/>
                </a:solidFill>
              </a:rPr>
              <a:t>ZONA 1</a:t>
            </a:r>
            <a:endParaRPr lang="en-US" sz="1100" dirty="0"/>
          </a:p>
        </p:txBody>
      </p:sp>
      <p:sp>
        <p:nvSpPr>
          <p:cNvPr id="9" name="Shape 7"/>
          <p:cNvSpPr/>
          <p:nvPr/>
        </p:nvSpPr>
        <p:spPr>
          <a:xfrm>
            <a:off x="3566160" y="1965960"/>
            <a:ext cx="731520" cy="896112"/>
          </a:xfrm>
          <a:prstGeom prst="rect">
            <a:avLst/>
          </a:prstGeom>
          <a:solidFill>
            <a:srgbClr val="D8DBD8"/>
          </a:solidFill>
          <a:ln w="12700">
            <a:solidFill>
              <a:srgbClr val="14213D"/>
            </a:solidFill>
            <a:prstDash val="solid"/>
          </a:ln>
        </p:spPr>
      </p:sp>
      <p:sp>
        <p:nvSpPr>
          <p:cNvPr id="10" name="Shape 8"/>
          <p:cNvSpPr/>
          <p:nvPr/>
        </p:nvSpPr>
        <p:spPr>
          <a:xfrm>
            <a:off x="3474720" y="1874520"/>
            <a:ext cx="914400" cy="91440"/>
          </a:xfrm>
          <a:prstGeom prst="rect">
            <a:avLst/>
          </a:prstGeom>
          <a:solidFill>
            <a:schemeClr val="tx1"/>
          </a:solidFill>
          <a:ln/>
        </p:spPr>
      </p:sp>
      <p:sp>
        <p:nvSpPr>
          <p:cNvPr id="11" name="Shape 9"/>
          <p:cNvSpPr/>
          <p:nvPr/>
        </p:nvSpPr>
        <p:spPr>
          <a:xfrm>
            <a:off x="914400" y="2834640"/>
            <a:ext cx="6035040" cy="2971800"/>
          </a:xfrm>
          <a:prstGeom prst="roundRect">
            <a:avLst>
              <a:gd name="adj" fmla="val 10769"/>
            </a:avLst>
          </a:prstGeom>
          <a:solidFill>
            <a:schemeClr val="bg1"/>
          </a:solidFill>
          <a:ln w="31750">
            <a:solidFill>
              <a:srgbClr val="14213D"/>
            </a:solidFill>
            <a:prstDash val="solid"/>
          </a:ln>
        </p:spPr>
      </p:sp>
      <p:sp>
        <p:nvSpPr>
          <p:cNvPr id="12" name="Shape 10"/>
          <p:cNvSpPr/>
          <p:nvPr/>
        </p:nvSpPr>
        <p:spPr>
          <a:xfrm>
            <a:off x="969264" y="3931920"/>
            <a:ext cx="5925312" cy="1810512"/>
          </a:xfrm>
          <a:prstGeom prst="roundRect">
            <a:avLst>
              <a:gd name="adj" fmla="val 14141"/>
            </a:avLst>
          </a:prstGeom>
          <a:solidFill>
            <a:schemeClr val="accent2"/>
          </a:solidFill>
          <a:ln/>
        </p:spPr>
      </p:sp>
      <p:sp>
        <p:nvSpPr>
          <p:cNvPr id="13" name="Shape 11"/>
          <p:cNvSpPr/>
          <p:nvPr/>
        </p:nvSpPr>
        <p:spPr>
          <a:xfrm>
            <a:off x="969264" y="5468112"/>
            <a:ext cx="5925312" cy="274320"/>
          </a:xfrm>
          <a:prstGeom prst="rect">
            <a:avLst/>
          </a:prstGeom>
          <a:solidFill>
            <a:schemeClr val="accent5"/>
          </a:solidFill>
          <a:ln/>
        </p:spPr>
      </p:sp>
      <p:sp>
        <p:nvSpPr>
          <p:cNvPr id="14" name="Text 12"/>
          <p:cNvSpPr txBox="1"/>
          <p:nvPr/>
        </p:nvSpPr>
        <p:spPr>
          <a:xfrm>
            <a:off x="1234440" y="3063240"/>
            <a:ext cx="1097280" cy="274320"/>
          </a:xfrm>
          <a:prstGeom prst="rect">
            <a:avLst/>
          </a:prstGeom>
          <a:noFill/>
          <a:ln/>
        </p:spPr>
        <p:txBody>
          <a:bodyPr wrap="square" lIns="0" tIns="0" rIns="0" bIns="0" rtlCol="0" anchor="t"/>
          <a:lstStyle/>
          <a:p>
            <a:pPr indent="0" marL="0">
              <a:buNone/>
            </a:pPr>
            <a:r>
              <a:rPr lang="en-US" sz="1200" dirty="0">
                <a:solidFill>
                  <a:schemeClr val="tx2"/>
                </a:solidFill>
              </a:rPr>
              <a:t>vapor</a:t>
            </a:r>
            <a:endParaRPr lang="en-US" sz="1200" dirty="0"/>
          </a:p>
        </p:txBody>
      </p:sp>
      <p:sp>
        <p:nvSpPr>
          <p:cNvPr id="15" name="Text 13"/>
          <p:cNvSpPr txBox="1"/>
          <p:nvPr/>
        </p:nvSpPr>
        <p:spPr>
          <a:xfrm>
            <a:off x="1234440" y="4526280"/>
            <a:ext cx="2011680" cy="365760"/>
          </a:xfrm>
          <a:prstGeom prst="rect">
            <a:avLst/>
          </a:prstGeom>
          <a:noFill/>
          <a:ln/>
        </p:spPr>
        <p:txBody>
          <a:bodyPr wrap="square" lIns="0" tIns="0" rIns="0" bIns="0" rtlCol="0" anchor="t"/>
          <a:lstStyle/>
          <a:p>
            <a:pPr indent="0" marL="0">
              <a:buNone/>
            </a:pPr>
            <a:r>
              <a:rPr lang="en-US" sz="1600" b="1" dirty="0">
                <a:solidFill>
                  <a:schemeClr val="tx1"/>
                </a:solidFill>
              </a:rPr>
              <a:t>COMBUSTÍVEL</a:t>
            </a:r>
            <a:endParaRPr lang="en-US" sz="1600" dirty="0"/>
          </a:p>
        </p:txBody>
      </p:sp>
      <p:sp>
        <p:nvSpPr>
          <p:cNvPr id="16" name="Text 14"/>
          <p:cNvSpPr txBox="1"/>
          <p:nvPr/>
        </p:nvSpPr>
        <p:spPr>
          <a:xfrm>
            <a:off x="1234440" y="5477256"/>
            <a:ext cx="1097280" cy="256032"/>
          </a:xfrm>
          <a:prstGeom prst="rect">
            <a:avLst/>
          </a:prstGeom>
          <a:noFill/>
          <a:ln/>
        </p:spPr>
        <p:txBody>
          <a:bodyPr wrap="square" lIns="0" tIns="0" rIns="0" bIns="0" rtlCol="0" anchor="ctr"/>
          <a:lstStyle/>
          <a:p>
            <a:pPr indent="0" marL="0">
              <a:buNone/>
            </a:pPr>
            <a:r>
              <a:rPr lang="en-US" sz="1100" b="1" dirty="0">
                <a:solidFill>
                  <a:schemeClr val="bg1"/>
                </a:solidFill>
              </a:rPr>
              <a:t>ÁGUA</a:t>
            </a:r>
            <a:endParaRPr lang="en-US" sz="1100" dirty="0"/>
          </a:p>
        </p:txBody>
      </p:sp>
      <p:sp>
        <p:nvSpPr>
          <p:cNvPr id="17" name="Text 15"/>
          <p:cNvSpPr txBox="1"/>
          <p:nvPr/>
        </p:nvSpPr>
        <p:spPr>
          <a:xfrm>
            <a:off x="4617720" y="3063240"/>
            <a:ext cx="2194560" cy="274320"/>
          </a:xfrm>
          <a:prstGeom prst="rect">
            <a:avLst/>
          </a:prstGeom>
          <a:noFill/>
          <a:ln/>
        </p:spPr>
        <p:txBody>
          <a:bodyPr wrap="square" lIns="0" tIns="0" rIns="0" bIns="0" rtlCol="0" anchor="t"/>
          <a:lstStyle/>
          <a:p>
            <a:pPr indent="0" marL="0">
              <a:buNone/>
            </a:pPr>
            <a:r>
              <a:rPr lang="en-US" sz="1100" b="1" dirty="0">
                <a:solidFill>
                  <a:schemeClr val="accent3"/>
                </a:solidFill>
              </a:rPr>
              <a:t>ZONA 0 · interior do tanque</a:t>
            </a:r>
            <a:endParaRPr lang="en-US" sz="1100" dirty="0"/>
          </a:p>
        </p:txBody>
      </p:sp>
      <p:sp>
        <p:nvSpPr>
          <p:cNvPr id="18" name="Shape 16"/>
          <p:cNvSpPr/>
          <p:nvPr/>
        </p:nvSpPr>
        <p:spPr>
          <a:xfrm>
            <a:off x="3931920" y="2011680"/>
            <a:ext cx="914" cy="3703320"/>
          </a:xfrm>
          <a:prstGeom prst="line">
            <a:avLst/>
          </a:prstGeom>
          <a:noFill/>
          <a:ln w="50800">
            <a:solidFill>
              <a:srgbClr val="14213D"/>
            </a:solidFill>
            <a:prstDash val="solid"/>
          </a:ln>
        </p:spPr>
      </p:sp>
      <p:sp>
        <p:nvSpPr>
          <p:cNvPr id="19" name="Shape 17"/>
          <p:cNvSpPr/>
          <p:nvPr/>
        </p:nvSpPr>
        <p:spPr>
          <a:xfrm>
            <a:off x="3858768" y="1828800"/>
            <a:ext cx="146304" cy="182880"/>
          </a:xfrm>
          <a:prstGeom prst="rect">
            <a:avLst/>
          </a:prstGeom>
          <a:solidFill>
            <a:schemeClr val="tx1"/>
          </a:solidFill>
          <a:ln/>
        </p:spPr>
      </p:sp>
      <p:sp>
        <p:nvSpPr>
          <p:cNvPr id="20" name="Shape 18"/>
          <p:cNvSpPr/>
          <p:nvPr/>
        </p:nvSpPr>
        <p:spPr>
          <a:xfrm>
            <a:off x="3703320" y="3794760"/>
            <a:ext cx="457200" cy="274320"/>
          </a:xfrm>
          <a:prstGeom prst="roundRect">
            <a:avLst>
              <a:gd name="adj" fmla="val 40000"/>
            </a:avLst>
          </a:prstGeom>
          <a:solidFill>
            <a:schemeClr val="bg1"/>
          </a:solidFill>
          <a:ln w="25400">
            <a:solidFill>
              <a:srgbClr val="14213D"/>
            </a:solidFill>
            <a:prstDash val="solid"/>
          </a:ln>
        </p:spPr>
      </p:sp>
      <p:sp>
        <p:nvSpPr>
          <p:cNvPr id="21" name="Shape 19"/>
          <p:cNvSpPr/>
          <p:nvPr/>
        </p:nvSpPr>
        <p:spPr>
          <a:xfrm>
            <a:off x="3749040" y="5422392"/>
            <a:ext cx="365760" cy="201168"/>
          </a:xfrm>
          <a:prstGeom prst="roundRect">
            <a:avLst>
              <a:gd name="adj" fmla="val 45455"/>
            </a:avLst>
          </a:prstGeom>
          <a:solidFill>
            <a:srgbClr val="DDEBFA"/>
          </a:solidFill>
          <a:ln w="25400">
            <a:solidFill>
              <a:srgbClr val="14213D"/>
            </a:solidFill>
            <a:prstDash val="solid"/>
          </a:ln>
        </p:spPr>
      </p:sp>
      <p:sp>
        <p:nvSpPr>
          <p:cNvPr id="22" name="Shape 20"/>
          <p:cNvSpPr/>
          <p:nvPr/>
        </p:nvSpPr>
        <p:spPr>
          <a:xfrm>
            <a:off x="3877056" y="3291840"/>
            <a:ext cx="109728" cy="109728"/>
          </a:xfrm>
          <a:prstGeom prst="ellipse">
            <a:avLst/>
          </a:prstGeom>
          <a:solidFill>
            <a:schemeClr val="accent3"/>
          </a:solidFill>
          <a:ln/>
        </p:spPr>
      </p:sp>
      <p:sp>
        <p:nvSpPr>
          <p:cNvPr id="23" name="Shape 21"/>
          <p:cNvSpPr/>
          <p:nvPr/>
        </p:nvSpPr>
        <p:spPr>
          <a:xfrm>
            <a:off x="3877056" y="4480560"/>
            <a:ext cx="109728" cy="109728"/>
          </a:xfrm>
          <a:prstGeom prst="ellipse">
            <a:avLst/>
          </a:prstGeom>
          <a:solidFill>
            <a:schemeClr val="accent3"/>
          </a:solidFill>
          <a:ln/>
        </p:spPr>
      </p:sp>
      <p:sp>
        <p:nvSpPr>
          <p:cNvPr id="24" name="Shape 22"/>
          <p:cNvSpPr/>
          <p:nvPr/>
        </p:nvSpPr>
        <p:spPr>
          <a:xfrm>
            <a:off x="3877056" y="4983480"/>
            <a:ext cx="109728" cy="109728"/>
          </a:xfrm>
          <a:prstGeom prst="ellipse">
            <a:avLst/>
          </a:prstGeom>
          <a:solidFill>
            <a:schemeClr val="accent3"/>
          </a:solidFill>
          <a:ln/>
        </p:spPr>
      </p:sp>
      <p:sp>
        <p:nvSpPr>
          <p:cNvPr id="25" name="Text 23"/>
          <p:cNvSpPr txBox="1"/>
          <p:nvPr/>
        </p:nvSpPr>
        <p:spPr>
          <a:xfrm>
            <a:off x="5623560" y="1463040"/>
            <a:ext cx="1828800" cy="384048"/>
          </a:xfrm>
          <a:prstGeom prst="roundRect">
            <a:avLst>
              <a:gd name="adj" fmla="val 19048"/>
            </a:avLst>
          </a:prstGeom>
          <a:solidFill>
            <a:schemeClr val="bg1"/>
          </a:solidFill>
          <a:ln w="12700">
            <a:solidFill>
              <a:srgbClr val="14213D"/>
            </a:solidFill>
            <a:prstDash val="solid"/>
          </a:ln>
        </p:spPr>
        <p:txBody>
          <a:bodyPr wrap="square" lIns="50800" tIns="50800" rIns="50800" bIns="50800" rtlCol="0" anchor="ctr"/>
          <a:lstStyle/>
          <a:p>
            <a:pPr algn="ctr" indent="0" marL="0">
              <a:buNone/>
            </a:pPr>
            <a:r>
              <a:rPr lang="en-US" sz="1100" b="1" dirty="0">
                <a:solidFill>
                  <a:schemeClr val="tx1"/>
                </a:solidFill>
              </a:rPr>
              <a:t>Consola ATG · escritório</a:t>
            </a:r>
            <a:endParaRPr lang="en-US" sz="1100" dirty="0"/>
          </a:p>
        </p:txBody>
      </p:sp>
      <p:sp>
        <p:nvSpPr>
          <p:cNvPr id="26" name="Shape 24"/>
          <p:cNvSpPr/>
          <p:nvPr/>
        </p:nvSpPr>
        <p:spPr>
          <a:xfrm>
            <a:off x="4005072" y="1828800"/>
            <a:ext cx="1344168" cy="914"/>
          </a:xfrm>
          <a:prstGeom prst="line">
            <a:avLst/>
          </a:prstGeom>
          <a:noFill/>
          <a:ln w="15875">
            <a:solidFill>
              <a:schemeClr val="tx1"/>
            </a:solidFill>
            <a:prstDash val="dash"/>
          </a:ln>
        </p:spPr>
      </p:sp>
      <p:sp>
        <p:nvSpPr>
          <p:cNvPr id="27" name="Shape 25"/>
          <p:cNvSpPr/>
          <p:nvPr/>
        </p:nvSpPr>
        <p:spPr>
          <a:xfrm flipV="1">
            <a:off x="5349240" y="1655064"/>
            <a:ext cx="914" cy="173736"/>
          </a:xfrm>
          <a:prstGeom prst="line">
            <a:avLst/>
          </a:prstGeom>
          <a:noFill/>
          <a:ln w="15875">
            <a:solidFill>
              <a:schemeClr val="tx1"/>
            </a:solidFill>
            <a:prstDash val="dash"/>
          </a:ln>
        </p:spPr>
      </p:sp>
      <p:sp>
        <p:nvSpPr>
          <p:cNvPr id="28" name="Shape 26"/>
          <p:cNvSpPr/>
          <p:nvPr/>
        </p:nvSpPr>
        <p:spPr>
          <a:xfrm>
            <a:off x="5349240" y="1655064"/>
            <a:ext cx="274320" cy="914"/>
          </a:xfrm>
          <a:prstGeom prst="line">
            <a:avLst/>
          </a:prstGeom>
          <a:noFill/>
          <a:ln w="15875">
            <a:solidFill>
              <a:schemeClr val="tx1"/>
            </a:solidFill>
            <a:prstDash val="dash"/>
            <a:tailEnd type="triangle"/>
          </a:ln>
        </p:spPr>
      </p:sp>
      <p:sp>
        <p:nvSpPr>
          <p:cNvPr id="29" name="Text 27"/>
          <p:cNvSpPr txBox="1"/>
          <p:nvPr/>
        </p:nvSpPr>
        <p:spPr>
          <a:xfrm>
            <a:off x="4279392" y="3776472"/>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30" name="Text 28"/>
          <p:cNvSpPr txBox="1"/>
          <p:nvPr/>
        </p:nvSpPr>
        <p:spPr>
          <a:xfrm>
            <a:off x="4224528" y="5358384"/>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31" name="Text 29"/>
          <p:cNvSpPr txBox="1"/>
          <p:nvPr/>
        </p:nvSpPr>
        <p:spPr>
          <a:xfrm>
            <a:off x="3493008" y="4370832"/>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32" name="Text 30"/>
          <p:cNvSpPr txBox="1"/>
          <p:nvPr/>
        </p:nvSpPr>
        <p:spPr>
          <a:xfrm>
            <a:off x="3493008" y="2331720"/>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33" name="Text 31"/>
          <p:cNvSpPr txBox="1"/>
          <p:nvPr/>
        </p:nvSpPr>
        <p:spPr>
          <a:xfrm>
            <a:off x="7863840" y="1636776"/>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34" name="Text 32"/>
          <p:cNvSpPr txBox="1"/>
          <p:nvPr/>
        </p:nvSpPr>
        <p:spPr>
          <a:xfrm>
            <a:off x="8321040" y="1600200"/>
            <a:ext cx="3337560" cy="329184"/>
          </a:xfrm>
          <a:prstGeom prst="rect">
            <a:avLst/>
          </a:prstGeom>
          <a:noFill/>
          <a:ln/>
        </p:spPr>
        <p:txBody>
          <a:bodyPr wrap="square" lIns="0" tIns="0" rIns="0" bIns="0" rtlCol="0" anchor="t"/>
          <a:lstStyle/>
          <a:p>
            <a:pPr indent="0" marL="0">
              <a:buNone/>
            </a:pPr>
            <a:r>
              <a:rPr lang="en-US" sz="1600" b="1" dirty="0">
                <a:solidFill>
                  <a:schemeClr val="tx1"/>
                </a:solidFill>
              </a:rPr>
              <a:t>Flutuador de produto</a:t>
            </a:r>
            <a:endParaRPr lang="en-US" sz="1600" dirty="0"/>
          </a:p>
        </p:txBody>
      </p:sp>
      <p:sp>
        <p:nvSpPr>
          <p:cNvPr id="35" name="Text 33"/>
          <p:cNvSpPr txBox="1"/>
          <p:nvPr/>
        </p:nvSpPr>
        <p:spPr>
          <a:xfrm>
            <a:off x="8321040" y="1938528"/>
            <a:ext cx="3337560" cy="457200"/>
          </a:xfrm>
          <a:prstGeom prst="rect">
            <a:avLst/>
          </a:prstGeom>
          <a:noFill/>
          <a:ln/>
        </p:spPr>
        <p:txBody>
          <a:bodyPr wrap="square" lIns="0" tIns="0" rIns="0" bIns="0" rtlCol="0" anchor="t"/>
          <a:lstStyle/>
          <a:p>
            <a:pPr indent="0" marL="0">
              <a:buNone/>
            </a:pPr>
            <a:r>
              <a:rPr lang="en-US" sz="1400" dirty="0">
                <a:solidFill>
                  <a:schemeClr val="tx2"/>
                </a:solidFill>
              </a:rPr>
              <a:t>Segue a superfície do combustível</a:t>
            </a:r>
            <a:endParaRPr lang="en-US" sz="1400" dirty="0"/>
          </a:p>
        </p:txBody>
      </p:sp>
      <p:sp>
        <p:nvSpPr>
          <p:cNvPr id="36" name="Text 34"/>
          <p:cNvSpPr txBox="1"/>
          <p:nvPr/>
        </p:nvSpPr>
        <p:spPr>
          <a:xfrm>
            <a:off x="7863840" y="2532888"/>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37" name="Text 35"/>
          <p:cNvSpPr txBox="1"/>
          <p:nvPr/>
        </p:nvSpPr>
        <p:spPr>
          <a:xfrm>
            <a:off x="8321040" y="2496312"/>
            <a:ext cx="3337560" cy="329184"/>
          </a:xfrm>
          <a:prstGeom prst="rect">
            <a:avLst/>
          </a:prstGeom>
          <a:noFill/>
          <a:ln/>
        </p:spPr>
        <p:txBody>
          <a:bodyPr wrap="square" lIns="0" tIns="0" rIns="0" bIns="0" rtlCol="0" anchor="t"/>
          <a:lstStyle/>
          <a:p>
            <a:pPr indent="0" marL="0">
              <a:buNone/>
            </a:pPr>
            <a:r>
              <a:rPr lang="en-US" sz="1600" b="1" dirty="0">
                <a:solidFill>
                  <a:schemeClr val="tx1"/>
                </a:solidFill>
              </a:rPr>
              <a:t>Flutuador de água</a:t>
            </a:r>
            <a:endParaRPr lang="en-US" sz="1600" dirty="0"/>
          </a:p>
        </p:txBody>
      </p:sp>
      <p:sp>
        <p:nvSpPr>
          <p:cNvPr id="38" name="Text 36"/>
          <p:cNvSpPr txBox="1"/>
          <p:nvPr/>
        </p:nvSpPr>
        <p:spPr>
          <a:xfrm>
            <a:off x="8321040" y="2834640"/>
            <a:ext cx="3337560" cy="457200"/>
          </a:xfrm>
          <a:prstGeom prst="rect">
            <a:avLst/>
          </a:prstGeom>
          <a:noFill/>
          <a:ln/>
        </p:spPr>
        <p:txBody>
          <a:bodyPr wrap="square" lIns="0" tIns="0" rIns="0" bIns="0" rtlCol="0" anchor="t"/>
          <a:lstStyle/>
          <a:p>
            <a:pPr indent="0" marL="0">
              <a:buNone/>
            </a:pPr>
            <a:r>
              <a:rPr lang="en-US" sz="1400" dirty="0">
                <a:solidFill>
                  <a:schemeClr val="tx2"/>
                </a:solidFill>
              </a:rPr>
              <a:t>Mais denso: só flutua na água do fundo</a:t>
            </a:r>
            <a:endParaRPr lang="en-US" sz="1400" dirty="0"/>
          </a:p>
        </p:txBody>
      </p:sp>
      <p:sp>
        <p:nvSpPr>
          <p:cNvPr id="39" name="Text 37"/>
          <p:cNvSpPr txBox="1"/>
          <p:nvPr/>
        </p:nvSpPr>
        <p:spPr>
          <a:xfrm>
            <a:off x="7863840" y="3429000"/>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40" name="Text 38"/>
          <p:cNvSpPr txBox="1"/>
          <p:nvPr/>
        </p:nvSpPr>
        <p:spPr>
          <a:xfrm>
            <a:off x="8321040" y="3392424"/>
            <a:ext cx="3337560" cy="329184"/>
          </a:xfrm>
          <a:prstGeom prst="rect">
            <a:avLst/>
          </a:prstGeom>
          <a:noFill/>
          <a:ln/>
        </p:spPr>
        <p:txBody>
          <a:bodyPr wrap="square" lIns="0" tIns="0" rIns="0" bIns="0" rtlCol="0" anchor="t"/>
          <a:lstStyle/>
          <a:p>
            <a:pPr indent="0" marL="0">
              <a:buNone/>
            </a:pPr>
            <a:r>
              <a:rPr lang="en-US" sz="1600" b="1" dirty="0">
                <a:solidFill>
                  <a:schemeClr val="tx1"/>
                </a:solidFill>
              </a:rPr>
              <a:t>Sensores de temperatura</a:t>
            </a:r>
            <a:endParaRPr lang="en-US" sz="1600" dirty="0"/>
          </a:p>
        </p:txBody>
      </p:sp>
      <p:sp>
        <p:nvSpPr>
          <p:cNvPr id="41" name="Text 39"/>
          <p:cNvSpPr txBox="1"/>
          <p:nvPr/>
        </p:nvSpPr>
        <p:spPr>
          <a:xfrm>
            <a:off x="8321040" y="3730752"/>
            <a:ext cx="3337560" cy="457200"/>
          </a:xfrm>
          <a:prstGeom prst="rect">
            <a:avLst/>
          </a:prstGeom>
          <a:noFill/>
          <a:ln/>
        </p:spPr>
        <p:txBody>
          <a:bodyPr wrap="square" lIns="0" tIns="0" rIns="0" bIns="0" rtlCol="0" anchor="t"/>
          <a:lstStyle/>
          <a:p>
            <a:pPr indent="0" marL="0">
              <a:buNone/>
            </a:pPr>
            <a:r>
              <a:rPr lang="en-US" sz="1400" dirty="0">
                <a:solidFill>
                  <a:schemeClr val="tx2"/>
                </a:solidFill>
              </a:rPr>
              <a:t>Vários pontos ao longo da haste</a:t>
            </a:r>
            <a:endParaRPr lang="en-US" sz="1400" dirty="0"/>
          </a:p>
        </p:txBody>
      </p:sp>
      <p:sp>
        <p:nvSpPr>
          <p:cNvPr id="42" name="Text 40"/>
          <p:cNvSpPr txBox="1"/>
          <p:nvPr/>
        </p:nvSpPr>
        <p:spPr>
          <a:xfrm>
            <a:off x="7863840" y="4325112"/>
            <a:ext cx="310896" cy="310896"/>
          </a:xfrm>
          <a:prstGeom prst="ellipse">
            <a:avLst>
              <a:gd name="adj" fmla="val 23529"/>
            </a:avLst>
          </a:prstGeom>
          <a:solidFill>
            <a:schemeClr val="accent1"/>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43" name="Text 41"/>
          <p:cNvSpPr txBox="1"/>
          <p:nvPr/>
        </p:nvSpPr>
        <p:spPr>
          <a:xfrm>
            <a:off x="8321040" y="4288536"/>
            <a:ext cx="3337560" cy="329184"/>
          </a:xfrm>
          <a:prstGeom prst="rect">
            <a:avLst/>
          </a:prstGeom>
          <a:noFill/>
          <a:ln/>
        </p:spPr>
        <p:txBody>
          <a:bodyPr wrap="square" lIns="0" tIns="0" rIns="0" bIns="0" rtlCol="0" anchor="t"/>
          <a:lstStyle/>
          <a:p>
            <a:pPr indent="0" marL="0">
              <a:buNone/>
            </a:pPr>
            <a:r>
              <a:rPr lang="en-US" sz="1600" b="1" dirty="0">
                <a:solidFill>
                  <a:schemeClr val="tx1"/>
                </a:solidFill>
              </a:rPr>
              <a:t>Haste magnetostritiva</a:t>
            </a:r>
            <a:endParaRPr lang="en-US" sz="1600" dirty="0"/>
          </a:p>
        </p:txBody>
      </p:sp>
      <p:sp>
        <p:nvSpPr>
          <p:cNvPr id="44" name="Text 42"/>
          <p:cNvSpPr txBox="1"/>
          <p:nvPr/>
        </p:nvSpPr>
        <p:spPr>
          <a:xfrm>
            <a:off x="8321040" y="4626864"/>
            <a:ext cx="3337560" cy="457200"/>
          </a:xfrm>
          <a:prstGeom prst="rect">
            <a:avLst/>
          </a:prstGeom>
          <a:noFill/>
          <a:ln/>
        </p:spPr>
        <p:txBody>
          <a:bodyPr wrap="square" lIns="0" tIns="0" rIns="0" bIns="0" rtlCol="0" anchor="t"/>
          <a:lstStyle/>
          <a:p>
            <a:pPr indent="0" marL="0">
              <a:buNone/>
            </a:pPr>
            <a:r>
              <a:rPr lang="en-US" sz="1400" dirty="0">
                <a:solidFill>
                  <a:schemeClr val="tx2"/>
                </a:solidFill>
              </a:rPr>
              <a:t>Pulso elétrico + íman = posição ao milímetro</a:t>
            </a:r>
            <a:endParaRPr lang="en-US" sz="1400" dirty="0"/>
          </a:p>
        </p:txBody>
      </p:sp>
      <p:sp>
        <p:nvSpPr>
          <p:cNvPr id="45" name="Text 43"/>
          <p:cNvSpPr txBox="1"/>
          <p:nvPr/>
        </p:nvSpPr>
        <p:spPr>
          <a:xfrm>
            <a:off x="7863840" y="5257800"/>
            <a:ext cx="3794760" cy="868680"/>
          </a:xfrm>
          <a:prstGeom prst="roundRect">
            <a:avLst>
              <a:gd name="adj" fmla="val 8421"/>
            </a:avLst>
          </a:prstGeom>
          <a:solidFill>
            <a:schemeClr val="accent1"/>
          </a:solidFill>
          <a:ln/>
        </p:spPr>
        <p:txBody>
          <a:bodyPr wrap="square" lIns="127000" tIns="127000" rIns="127000" bIns="127000" rtlCol="0" anchor="ctr"/>
          <a:lstStyle/>
          <a:p>
            <a:pPr algn="l" indent="0" marL="0">
              <a:buNone/>
            </a:pPr>
            <a:r>
              <a:rPr lang="en-US" sz="1400" b="1" dirty="0">
                <a:solidFill>
                  <a:schemeClr val="bg1"/>
                </a:solidFill>
              </a:rPr>
              <a:t>A consola converte</a:t>
            </a:r>
            <a:endParaRPr lang="en-US" sz="1400" dirty="0"/>
          </a:p>
          <a:p>
            <a:pPr algn="l" indent="0" marL="0">
              <a:buNone/>
            </a:pPr>
            <a:r>
              <a:rPr lang="en-US" sz="1400" dirty="0">
                <a:solidFill>
                  <a:schemeClr val="bg1"/>
                </a:solidFill>
              </a:rPr>
              <a:t>altura → litros (tabela de arqueação) → volume a 15 °C</a:t>
            </a:r>
            <a:endParaRPr lang="en-US" sz="1400" dirty="0"/>
          </a:p>
        </p:txBody>
      </p:sp>
      <p:sp>
        <p:nvSpPr>
          <p:cNvPr id="46" name="Text 44"/>
          <p:cNvSpPr txBox="1"/>
          <p:nvPr/>
        </p:nvSpPr>
        <p:spPr>
          <a:xfrm>
            <a:off x="548640" y="6035040"/>
            <a:ext cx="6949440" cy="274320"/>
          </a:xfrm>
          <a:prstGeom prst="rect">
            <a:avLst/>
          </a:prstGeom>
          <a:noFill/>
          <a:ln/>
        </p:spPr>
        <p:txBody>
          <a:bodyPr wrap="square" lIns="0" tIns="0" rIns="0" bIns="0" rtlCol="0" anchor="t"/>
          <a:lstStyle/>
          <a:p>
            <a:pPr indent="0" marL="0">
              <a:buNone/>
            </a:pPr>
            <a:r>
              <a:rPr lang="en-US" sz="1000" dirty="0">
                <a:solidFill>
                  <a:schemeClr val="tx2"/>
                </a:solidFill>
              </a:rPr>
              <a:t>Corte esquemático, fora de escala. Zonas 0 e 1: atmosfera explosiva — todo o equipamento aí é certificado ATEX/IECEx.</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03 · CAMADA 1 — OPÇÕES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Cinco formas de medir: escolhe-se posto a posto</a:t>
            </a:r>
            <a:endParaRPr lang="en-US" sz="3400" dirty="0"/>
          </a:p>
        </p:txBody>
      </p:sp>
      <p:sp>
        <p:nvSpPr>
          <p:cNvPr id="4" name="Text 2"/>
          <p:cNvSpPr txBox="1"/>
          <p:nvPr/>
        </p:nvSpPr>
        <p:spPr>
          <a:xfrm>
            <a:off x="777240" y="1554480"/>
            <a:ext cx="21945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TECNOLOGIA</a:t>
            </a:r>
            <a:endParaRPr lang="en-US" sz="1100" dirty="0"/>
          </a:p>
        </p:txBody>
      </p:sp>
      <p:sp>
        <p:nvSpPr>
          <p:cNvPr id="5" name="Text 3"/>
          <p:cNvSpPr txBox="1"/>
          <p:nvPr/>
        </p:nvSpPr>
        <p:spPr>
          <a:xfrm>
            <a:off x="4892040" y="1554480"/>
            <a:ext cx="21945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PRECISÃO</a:t>
            </a:r>
            <a:endParaRPr lang="en-US" sz="1100" dirty="0"/>
          </a:p>
        </p:txBody>
      </p:sp>
      <p:sp>
        <p:nvSpPr>
          <p:cNvPr id="6" name="Text 4"/>
          <p:cNvSpPr txBox="1"/>
          <p:nvPr/>
        </p:nvSpPr>
        <p:spPr>
          <a:xfrm>
            <a:off x="7360920" y="1554480"/>
            <a:ext cx="21945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NO TANQUE</a:t>
            </a:r>
            <a:endParaRPr lang="en-US" sz="1100" dirty="0"/>
          </a:p>
        </p:txBody>
      </p:sp>
      <p:sp>
        <p:nvSpPr>
          <p:cNvPr id="7" name="Text 5"/>
          <p:cNvSpPr txBox="1"/>
          <p:nvPr/>
        </p:nvSpPr>
        <p:spPr>
          <a:xfrm>
            <a:off x="9372600" y="1554480"/>
            <a:ext cx="21945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ourier New" pitchFamily="34" charset="0"/>
                <a:ea typeface="Courier New" pitchFamily="34" charset="-122"/>
                <a:cs typeface="Courier New" pitchFamily="34" charset="-120"/>
              </a:rPr>
              <a:t>QUANDO USAR</a:t>
            </a:r>
            <a:endParaRPr lang="en-US" sz="1100" dirty="0"/>
          </a:p>
        </p:txBody>
      </p:sp>
      <p:sp>
        <p:nvSpPr>
          <p:cNvPr id="8" name="Shape 6"/>
          <p:cNvSpPr/>
          <p:nvPr/>
        </p:nvSpPr>
        <p:spPr>
          <a:xfrm>
            <a:off x="548640" y="1920240"/>
            <a:ext cx="11109960" cy="731520"/>
          </a:xfrm>
          <a:prstGeom prst="roundRect">
            <a:avLst>
              <a:gd name="adj" fmla="val 12500"/>
            </a:avLst>
          </a:prstGeom>
          <a:solidFill>
            <a:schemeClr val="accent1">
              <a:alpha val="14000"/>
            </a:schemeClr>
          </a:solidFill>
          <a:ln/>
        </p:spPr>
      </p:sp>
      <p:sp>
        <p:nvSpPr>
          <p:cNvPr id="9" name="Text 7"/>
          <p:cNvSpPr txBox="1"/>
          <p:nvPr/>
        </p:nvSpPr>
        <p:spPr>
          <a:xfrm>
            <a:off x="777240" y="1993392"/>
            <a:ext cx="3931920" cy="320040"/>
          </a:xfrm>
          <a:prstGeom prst="rect">
            <a:avLst/>
          </a:prstGeom>
          <a:noFill/>
          <a:ln/>
        </p:spPr>
        <p:txBody>
          <a:bodyPr wrap="square" lIns="0" tIns="0" rIns="0" bIns="0" rtlCol="0" anchor="t"/>
          <a:lstStyle/>
          <a:p>
            <a:pPr indent="0" marL="0">
              <a:buNone/>
            </a:pPr>
            <a:r>
              <a:rPr lang="en-US" sz="1600" b="1" dirty="0">
                <a:solidFill>
                  <a:schemeClr val="tx1"/>
                </a:solidFill>
              </a:rPr>
              <a:t>Medidor ATG já existente</a:t>
            </a:r>
            <a:endParaRPr lang="en-US" sz="1600" dirty="0"/>
          </a:p>
        </p:txBody>
      </p:sp>
      <p:sp>
        <p:nvSpPr>
          <p:cNvPr id="10" name="Text 8"/>
          <p:cNvSpPr txBox="1"/>
          <p:nvPr/>
        </p:nvSpPr>
        <p:spPr>
          <a:xfrm>
            <a:off x="777240" y="2304288"/>
            <a:ext cx="3931920" cy="274320"/>
          </a:xfrm>
          <a:prstGeom prst="rect">
            <a:avLst/>
          </a:prstGeom>
          <a:noFill/>
          <a:ln/>
        </p:spPr>
        <p:txBody>
          <a:bodyPr wrap="square" lIns="0" tIns="0" rIns="0" bIns="0" rtlCol="0" anchor="t"/>
          <a:lstStyle/>
          <a:p>
            <a:pPr indent="0" marL="0">
              <a:buNone/>
            </a:pPr>
            <a:r>
              <a:rPr lang="en-US" sz="1300" dirty="0">
                <a:solidFill>
                  <a:schemeClr val="tx2"/>
                </a:solidFill>
              </a:rPr>
              <a:t>Sonda magnetostritiva + consola</a:t>
            </a:r>
            <a:endParaRPr lang="en-US" sz="1300" dirty="0"/>
          </a:p>
        </p:txBody>
      </p:sp>
      <p:sp>
        <p:nvSpPr>
          <p:cNvPr id="11" name="Shape 9"/>
          <p:cNvSpPr/>
          <p:nvPr/>
        </p:nvSpPr>
        <p:spPr>
          <a:xfrm>
            <a:off x="4892040" y="2185416"/>
            <a:ext cx="310896" cy="201168"/>
          </a:xfrm>
          <a:prstGeom prst="roundRect">
            <a:avLst>
              <a:gd name="adj" fmla="val 22727"/>
            </a:avLst>
          </a:prstGeom>
          <a:solidFill>
            <a:schemeClr val="accent1"/>
          </a:solidFill>
          <a:ln/>
        </p:spPr>
      </p:sp>
      <p:sp>
        <p:nvSpPr>
          <p:cNvPr id="12" name="Shape 10"/>
          <p:cNvSpPr/>
          <p:nvPr/>
        </p:nvSpPr>
        <p:spPr>
          <a:xfrm>
            <a:off x="5276088" y="2185416"/>
            <a:ext cx="310896" cy="201168"/>
          </a:xfrm>
          <a:prstGeom prst="roundRect">
            <a:avLst>
              <a:gd name="adj" fmla="val 22727"/>
            </a:avLst>
          </a:prstGeom>
          <a:solidFill>
            <a:schemeClr val="accent1"/>
          </a:solidFill>
          <a:ln/>
        </p:spPr>
      </p:sp>
      <p:sp>
        <p:nvSpPr>
          <p:cNvPr id="13" name="Shape 11"/>
          <p:cNvSpPr/>
          <p:nvPr/>
        </p:nvSpPr>
        <p:spPr>
          <a:xfrm>
            <a:off x="5660136" y="2185416"/>
            <a:ext cx="310896" cy="201168"/>
          </a:xfrm>
          <a:prstGeom prst="roundRect">
            <a:avLst>
              <a:gd name="adj" fmla="val 22727"/>
            </a:avLst>
          </a:prstGeom>
          <a:solidFill>
            <a:schemeClr val="accent1"/>
          </a:solidFill>
          <a:ln/>
        </p:spPr>
      </p:sp>
      <p:sp>
        <p:nvSpPr>
          <p:cNvPr id="14" name="Shape 12"/>
          <p:cNvSpPr/>
          <p:nvPr/>
        </p:nvSpPr>
        <p:spPr>
          <a:xfrm>
            <a:off x="6044184" y="2185416"/>
            <a:ext cx="310896" cy="201168"/>
          </a:xfrm>
          <a:prstGeom prst="roundRect">
            <a:avLst>
              <a:gd name="adj" fmla="val 22727"/>
            </a:avLst>
          </a:prstGeom>
          <a:solidFill>
            <a:schemeClr val="accent1"/>
          </a:solidFill>
          <a:ln/>
        </p:spPr>
      </p:sp>
      <p:sp>
        <p:nvSpPr>
          <p:cNvPr id="15" name="Shape 13"/>
          <p:cNvSpPr/>
          <p:nvPr/>
        </p:nvSpPr>
        <p:spPr>
          <a:xfrm>
            <a:off x="6428232" y="2185416"/>
            <a:ext cx="310896" cy="201168"/>
          </a:xfrm>
          <a:prstGeom prst="roundRect">
            <a:avLst>
              <a:gd name="adj" fmla="val 22727"/>
            </a:avLst>
          </a:prstGeom>
          <a:solidFill>
            <a:schemeClr val="accent1"/>
          </a:solidFill>
          <a:ln/>
        </p:spPr>
      </p:sp>
      <p:sp>
        <p:nvSpPr>
          <p:cNvPr id="16" name="Text 14"/>
          <p:cNvSpPr txBox="1"/>
          <p:nvPr/>
        </p:nvSpPr>
        <p:spPr>
          <a:xfrm>
            <a:off x="7360920" y="2103120"/>
            <a:ext cx="1783080" cy="365760"/>
          </a:xfrm>
          <a:prstGeom prst="roundRect">
            <a:avLst>
              <a:gd name="adj" fmla="val 20000"/>
            </a:avLst>
          </a:prstGeom>
          <a:solidFill>
            <a:schemeClr val="accent4"/>
          </a:solidFill>
          <a:ln/>
        </p:spPr>
        <p:txBody>
          <a:bodyPr wrap="square" lIns="50800" tIns="50800" rIns="50800" bIns="50800" rtlCol="0" anchor="ctr"/>
          <a:lstStyle/>
          <a:p>
            <a:pPr algn="ctr" indent="0" marL="0">
              <a:buNone/>
            </a:pPr>
            <a:r>
              <a:rPr lang="en-US" sz="1300" b="1" dirty="0">
                <a:solidFill>
                  <a:schemeClr val="bg1"/>
                </a:solidFill>
              </a:rPr>
              <a:t>Nada a instalar</a:t>
            </a:r>
            <a:endParaRPr lang="en-US" sz="1300" dirty="0"/>
          </a:p>
        </p:txBody>
      </p:sp>
      <p:sp>
        <p:nvSpPr>
          <p:cNvPr id="17" name="Text 15"/>
          <p:cNvSpPr txBox="1"/>
          <p:nvPr/>
        </p:nvSpPr>
        <p:spPr>
          <a:xfrm>
            <a:off x="9372600" y="2011680"/>
            <a:ext cx="2194560" cy="548640"/>
          </a:xfrm>
          <a:prstGeom prst="rect">
            <a:avLst/>
          </a:prstGeom>
          <a:noFill/>
          <a:ln/>
        </p:spPr>
        <p:txBody>
          <a:bodyPr wrap="square" lIns="0" tIns="0" rIns="0" bIns="0" rtlCol="0" anchor="ctr"/>
          <a:lstStyle/>
          <a:p>
            <a:pPr indent="0" marL="0">
              <a:buNone/>
            </a:pPr>
            <a:r>
              <a:rPr lang="en-US" sz="1400" dirty="0">
                <a:solidFill>
                  <a:schemeClr val="tx1"/>
                </a:solidFill>
              </a:rPr>
              <a:t>Postos modernos e requalificados</a:t>
            </a:r>
            <a:endParaRPr lang="en-US" sz="1400" dirty="0"/>
          </a:p>
        </p:txBody>
      </p:sp>
      <p:sp>
        <p:nvSpPr>
          <p:cNvPr id="18" name="Text 16"/>
          <p:cNvSpPr txBox="1"/>
          <p:nvPr/>
        </p:nvSpPr>
        <p:spPr>
          <a:xfrm>
            <a:off x="3794760" y="2011680"/>
            <a:ext cx="822960" cy="274320"/>
          </a:xfrm>
          <a:prstGeom prst="roundRect">
            <a:avLst>
              <a:gd name="adj" fmla="val 26667"/>
            </a:avLst>
          </a:prstGeom>
          <a:solidFill>
            <a:schemeClr val="accent1"/>
          </a:solidFill>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IDEAL</a:t>
            </a:r>
            <a:endParaRPr lang="en-US" sz="1100" dirty="0"/>
          </a:p>
        </p:txBody>
      </p:sp>
      <p:sp>
        <p:nvSpPr>
          <p:cNvPr id="19" name="Shape 17"/>
          <p:cNvSpPr/>
          <p:nvPr/>
        </p:nvSpPr>
        <p:spPr>
          <a:xfrm>
            <a:off x="548640" y="2761488"/>
            <a:ext cx="11109960" cy="731520"/>
          </a:xfrm>
          <a:prstGeom prst="roundRect">
            <a:avLst>
              <a:gd name="adj" fmla="val 12500"/>
            </a:avLst>
          </a:prstGeom>
          <a:solidFill>
            <a:schemeClr val="bg2"/>
          </a:solidFill>
          <a:ln/>
        </p:spPr>
      </p:sp>
      <p:sp>
        <p:nvSpPr>
          <p:cNvPr id="20" name="Text 18"/>
          <p:cNvSpPr txBox="1"/>
          <p:nvPr/>
        </p:nvSpPr>
        <p:spPr>
          <a:xfrm>
            <a:off x="777240" y="2834640"/>
            <a:ext cx="3931920" cy="320040"/>
          </a:xfrm>
          <a:prstGeom prst="rect">
            <a:avLst/>
          </a:prstGeom>
          <a:noFill/>
          <a:ln/>
        </p:spPr>
        <p:txBody>
          <a:bodyPr wrap="square" lIns="0" tIns="0" rIns="0" bIns="0" rtlCol="0" anchor="t"/>
          <a:lstStyle/>
          <a:p>
            <a:pPr indent="0" marL="0">
              <a:buNone/>
            </a:pPr>
            <a:r>
              <a:rPr lang="en-US" sz="1600" b="1" dirty="0">
                <a:solidFill>
                  <a:schemeClr val="tx1"/>
                </a:solidFill>
              </a:rPr>
              <a:t>Sonda magnetostritiva nova</a:t>
            </a:r>
            <a:endParaRPr lang="en-US" sz="1600" dirty="0"/>
          </a:p>
        </p:txBody>
      </p:sp>
      <p:sp>
        <p:nvSpPr>
          <p:cNvPr id="21" name="Text 19"/>
          <p:cNvSpPr txBox="1"/>
          <p:nvPr/>
        </p:nvSpPr>
        <p:spPr>
          <a:xfrm>
            <a:off x="777240" y="3145536"/>
            <a:ext cx="3931920" cy="274320"/>
          </a:xfrm>
          <a:prstGeom prst="rect">
            <a:avLst/>
          </a:prstGeom>
          <a:noFill/>
          <a:ln/>
        </p:spPr>
        <p:txBody>
          <a:bodyPr wrap="square" lIns="0" tIns="0" rIns="0" bIns="0" rtlCol="0" anchor="t"/>
          <a:lstStyle/>
          <a:p>
            <a:pPr indent="0" marL="0">
              <a:buNone/>
            </a:pPr>
            <a:r>
              <a:rPr lang="en-US" sz="1300" dirty="0">
                <a:solidFill>
                  <a:schemeClr val="tx2"/>
                </a:solidFill>
              </a:rPr>
              <a:t>Mesma tecnologia, instalada de raiz</a:t>
            </a:r>
            <a:endParaRPr lang="en-US" sz="1300" dirty="0"/>
          </a:p>
        </p:txBody>
      </p:sp>
      <p:sp>
        <p:nvSpPr>
          <p:cNvPr id="22" name="Shape 20"/>
          <p:cNvSpPr/>
          <p:nvPr/>
        </p:nvSpPr>
        <p:spPr>
          <a:xfrm>
            <a:off x="4892040" y="3026664"/>
            <a:ext cx="310896" cy="201168"/>
          </a:xfrm>
          <a:prstGeom prst="roundRect">
            <a:avLst>
              <a:gd name="adj" fmla="val 22727"/>
            </a:avLst>
          </a:prstGeom>
          <a:solidFill>
            <a:schemeClr val="accent1"/>
          </a:solidFill>
          <a:ln/>
        </p:spPr>
      </p:sp>
      <p:sp>
        <p:nvSpPr>
          <p:cNvPr id="23" name="Shape 21"/>
          <p:cNvSpPr/>
          <p:nvPr/>
        </p:nvSpPr>
        <p:spPr>
          <a:xfrm>
            <a:off x="5276088" y="3026664"/>
            <a:ext cx="310896" cy="201168"/>
          </a:xfrm>
          <a:prstGeom prst="roundRect">
            <a:avLst>
              <a:gd name="adj" fmla="val 22727"/>
            </a:avLst>
          </a:prstGeom>
          <a:solidFill>
            <a:schemeClr val="accent1"/>
          </a:solidFill>
          <a:ln/>
        </p:spPr>
      </p:sp>
      <p:sp>
        <p:nvSpPr>
          <p:cNvPr id="24" name="Shape 22"/>
          <p:cNvSpPr/>
          <p:nvPr/>
        </p:nvSpPr>
        <p:spPr>
          <a:xfrm>
            <a:off x="5660136" y="3026664"/>
            <a:ext cx="310896" cy="201168"/>
          </a:xfrm>
          <a:prstGeom prst="roundRect">
            <a:avLst>
              <a:gd name="adj" fmla="val 22727"/>
            </a:avLst>
          </a:prstGeom>
          <a:solidFill>
            <a:schemeClr val="accent1"/>
          </a:solidFill>
          <a:ln/>
        </p:spPr>
      </p:sp>
      <p:sp>
        <p:nvSpPr>
          <p:cNvPr id="25" name="Shape 23"/>
          <p:cNvSpPr/>
          <p:nvPr/>
        </p:nvSpPr>
        <p:spPr>
          <a:xfrm>
            <a:off x="6044184" y="3026664"/>
            <a:ext cx="310896" cy="201168"/>
          </a:xfrm>
          <a:prstGeom prst="roundRect">
            <a:avLst>
              <a:gd name="adj" fmla="val 22727"/>
            </a:avLst>
          </a:prstGeom>
          <a:solidFill>
            <a:schemeClr val="accent1"/>
          </a:solidFill>
          <a:ln/>
        </p:spPr>
      </p:sp>
      <p:sp>
        <p:nvSpPr>
          <p:cNvPr id="26" name="Shape 24"/>
          <p:cNvSpPr/>
          <p:nvPr/>
        </p:nvSpPr>
        <p:spPr>
          <a:xfrm>
            <a:off x="6428232" y="3026664"/>
            <a:ext cx="310896" cy="201168"/>
          </a:xfrm>
          <a:prstGeom prst="roundRect">
            <a:avLst>
              <a:gd name="adj" fmla="val 22727"/>
            </a:avLst>
          </a:prstGeom>
          <a:solidFill>
            <a:schemeClr val="accent1"/>
          </a:solidFill>
          <a:ln/>
        </p:spPr>
      </p:sp>
      <p:sp>
        <p:nvSpPr>
          <p:cNvPr id="27" name="Text 25"/>
          <p:cNvSpPr txBox="1"/>
          <p:nvPr/>
        </p:nvSpPr>
        <p:spPr>
          <a:xfrm>
            <a:off x="7360920" y="2944368"/>
            <a:ext cx="1783080" cy="365760"/>
          </a:xfrm>
          <a:prstGeom prst="roundRect">
            <a:avLst>
              <a:gd name="adj" fmla="val 20000"/>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300" b="1" dirty="0">
                <a:solidFill>
                  <a:schemeClr val="tx1"/>
                </a:solidFill>
              </a:rPr>
              <a:t>Sonda + consola</a:t>
            </a:r>
            <a:endParaRPr lang="en-US" sz="1300" dirty="0"/>
          </a:p>
        </p:txBody>
      </p:sp>
      <p:sp>
        <p:nvSpPr>
          <p:cNvPr id="28" name="Text 26"/>
          <p:cNvSpPr txBox="1"/>
          <p:nvPr/>
        </p:nvSpPr>
        <p:spPr>
          <a:xfrm>
            <a:off x="9372600" y="2852928"/>
            <a:ext cx="2194560" cy="548640"/>
          </a:xfrm>
          <a:prstGeom prst="rect">
            <a:avLst/>
          </a:prstGeom>
          <a:noFill/>
          <a:ln/>
        </p:spPr>
        <p:txBody>
          <a:bodyPr wrap="square" lIns="0" tIns="0" rIns="0" bIns="0" rtlCol="0" anchor="ctr"/>
          <a:lstStyle/>
          <a:p>
            <a:pPr indent="0" marL="0">
              <a:buNone/>
            </a:pPr>
            <a:r>
              <a:rPr lang="en-US" sz="1400" dirty="0">
                <a:solidFill>
                  <a:schemeClr val="tx1"/>
                </a:solidFill>
              </a:rPr>
              <a:t>Postos sem ATG</a:t>
            </a:r>
            <a:endParaRPr lang="en-US" sz="1400" dirty="0"/>
          </a:p>
        </p:txBody>
      </p:sp>
      <p:sp>
        <p:nvSpPr>
          <p:cNvPr id="29" name="Shape 27"/>
          <p:cNvSpPr/>
          <p:nvPr/>
        </p:nvSpPr>
        <p:spPr>
          <a:xfrm>
            <a:off x="548640" y="3602736"/>
            <a:ext cx="11109960" cy="731520"/>
          </a:xfrm>
          <a:prstGeom prst="roundRect">
            <a:avLst>
              <a:gd name="adj" fmla="val 12500"/>
            </a:avLst>
          </a:prstGeom>
          <a:solidFill>
            <a:schemeClr val="bg2"/>
          </a:solidFill>
          <a:ln/>
        </p:spPr>
      </p:sp>
      <p:sp>
        <p:nvSpPr>
          <p:cNvPr id="30" name="Text 28"/>
          <p:cNvSpPr txBox="1"/>
          <p:nvPr/>
        </p:nvSpPr>
        <p:spPr>
          <a:xfrm>
            <a:off x="777240" y="3675888"/>
            <a:ext cx="3931920" cy="320040"/>
          </a:xfrm>
          <a:prstGeom prst="rect">
            <a:avLst/>
          </a:prstGeom>
          <a:noFill/>
          <a:ln/>
        </p:spPr>
        <p:txBody>
          <a:bodyPr wrap="square" lIns="0" tIns="0" rIns="0" bIns="0" rtlCol="0" anchor="t"/>
          <a:lstStyle/>
          <a:p>
            <a:pPr indent="0" marL="0">
              <a:buNone/>
            </a:pPr>
            <a:r>
              <a:rPr lang="en-US" sz="1600" b="1" dirty="0">
                <a:solidFill>
                  <a:schemeClr val="tx1"/>
                </a:solidFill>
              </a:rPr>
              <a:t>Radar sem contacto</a:t>
            </a:r>
            <a:endParaRPr lang="en-US" sz="1600" dirty="0"/>
          </a:p>
        </p:txBody>
      </p:sp>
      <p:sp>
        <p:nvSpPr>
          <p:cNvPr id="31" name="Text 29"/>
          <p:cNvSpPr txBox="1"/>
          <p:nvPr/>
        </p:nvSpPr>
        <p:spPr>
          <a:xfrm>
            <a:off x="777240" y="3986784"/>
            <a:ext cx="3931920" cy="274320"/>
          </a:xfrm>
          <a:prstGeom prst="rect">
            <a:avLst/>
          </a:prstGeom>
          <a:noFill/>
          <a:ln/>
        </p:spPr>
        <p:txBody>
          <a:bodyPr wrap="square" lIns="0" tIns="0" rIns="0" bIns="0" rtlCol="0" anchor="t"/>
          <a:lstStyle/>
          <a:p>
            <a:pPr indent="0" marL="0">
              <a:buNone/>
            </a:pPr>
            <a:r>
              <a:rPr lang="en-US" sz="1300" dirty="0">
                <a:solidFill>
                  <a:schemeClr val="tx2"/>
                </a:solidFill>
              </a:rPr>
              <a:t>Micro-ondas a partir do topo</a:t>
            </a:r>
            <a:endParaRPr lang="en-US" sz="1300" dirty="0"/>
          </a:p>
        </p:txBody>
      </p:sp>
      <p:sp>
        <p:nvSpPr>
          <p:cNvPr id="32" name="Shape 30"/>
          <p:cNvSpPr/>
          <p:nvPr/>
        </p:nvSpPr>
        <p:spPr>
          <a:xfrm>
            <a:off x="4892040" y="3867912"/>
            <a:ext cx="310896" cy="201168"/>
          </a:xfrm>
          <a:prstGeom prst="roundRect">
            <a:avLst>
              <a:gd name="adj" fmla="val 22727"/>
            </a:avLst>
          </a:prstGeom>
          <a:solidFill>
            <a:schemeClr val="accent1"/>
          </a:solidFill>
          <a:ln/>
        </p:spPr>
      </p:sp>
      <p:sp>
        <p:nvSpPr>
          <p:cNvPr id="33" name="Shape 31"/>
          <p:cNvSpPr/>
          <p:nvPr/>
        </p:nvSpPr>
        <p:spPr>
          <a:xfrm>
            <a:off x="5276088" y="3867912"/>
            <a:ext cx="310896" cy="201168"/>
          </a:xfrm>
          <a:prstGeom prst="roundRect">
            <a:avLst>
              <a:gd name="adj" fmla="val 22727"/>
            </a:avLst>
          </a:prstGeom>
          <a:solidFill>
            <a:schemeClr val="accent1"/>
          </a:solidFill>
          <a:ln/>
        </p:spPr>
      </p:sp>
      <p:sp>
        <p:nvSpPr>
          <p:cNvPr id="34" name="Shape 32"/>
          <p:cNvSpPr/>
          <p:nvPr/>
        </p:nvSpPr>
        <p:spPr>
          <a:xfrm>
            <a:off x="5660136" y="3867912"/>
            <a:ext cx="310896" cy="201168"/>
          </a:xfrm>
          <a:prstGeom prst="roundRect">
            <a:avLst>
              <a:gd name="adj" fmla="val 22727"/>
            </a:avLst>
          </a:prstGeom>
          <a:solidFill>
            <a:schemeClr val="accent1"/>
          </a:solidFill>
          <a:ln/>
        </p:spPr>
      </p:sp>
      <p:sp>
        <p:nvSpPr>
          <p:cNvPr id="35" name="Shape 33"/>
          <p:cNvSpPr/>
          <p:nvPr/>
        </p:nvSpPr>
        <p:spPr>
          <a:xfrm>
            <a:off x="6044184" y="3867912"/>
            <a:ext cx="310896" cy="201168"/>
          </a:xfrm>
          <a:prstGeom prst="roundRect">
            <a:avLst>
              <a:gd name="adj" fmla="val 22727"/>
            </a:avLst>
          </a:prstGeom>
          <a:solidFill>
            <a:schemeClr val="accent1"/>
          </a:solidFill>
          <a:ln/>
        </p:spPr>
      </p:sp>
      <p:sp>
        <p:nvSpPr>
          <p:cNvPr id="36" name="Shape 34"/>
          <p:cNvSpPr/>
          <p:nvPr/>
        </p:nvSpPr>
        <p:spPr>
          <a:xfrm>
            <a:off x="6428232" y="3867912"/>
            <a:ext cx="310896" cy="201168"/>
          </a:xfrm>
          <a:prstGeom prst="roundRect">
            <a:avLst>
              <a:gd name="adj" fmla="val 22727"/>
            </a:avLst>
          </a:prstGeom>
          <a:solidFill>
            <a:srgbClr val="D5DAE1"/>
          </a:solidFill>
          <a:ln/>
        </p:spPr>
      </p:sp>
      <p:sp>
        <p:nvSpPr>
          <p:cNvPr id="37" name="Text 35"/>
          <p:cNvSpPr txBox="1"/>
          <p:nvPr/>
        </p:nvSpPr>
        <p:spPr>
          <a:xfrm>
            <a:off x="7360920" y="3785616"/>
            <a:ext cx="1783080" cy="365760"/>
          </a:xfrm>
          <a:prstGeom prst="roundRect">
            <a:avLst>
              <a:gd name="adj" fmla="val 20000"/>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300" b="1" dirty="0">
                <a:solidFill>
                  <a:schemeClr val="tx1"/>
                </a:solidFill>
              </a:rPr>
              <a:t>Radar no topo</a:t>
            </a:r>
            <a:endParaRPr lang="en-US" sz="1300" dirty="0"/>
          </a:p>
        </p:txBody>
      </p:sp>
      <p:sp>
        <p:nvSpPr>
          <p:cNvPr id="38" name="Text 36"/>
          <p:cNvSpPr txBox="1"/>
          <p:nvPr/>
        </p:nvSpPr>
        <p:spPr>
          <a:xfrm>
            <a:off x="9372600" y="3694176"/>
            <a:ext cx="2194560" cy="548640"/>
          </a:xfrm>
          <a:prstGeom prst="rect">
            <a:avLst/>
          </a:prstGeom>
          <a:noFill/>
          <a:ln/>
        </p:spPr>
        <p:txBody>
          <a:bodyPr wrap="square" lIns="0" tIns="0" rIns="0" bIns="0" rtlCol="0" anchor="ctr"/>
          <a:lstStyle/>
          <a:p>
            <a:pPr indent="0" marL="0">
              <a:buNone/>
            </a:pPr>
            <a:r>
              <a:rPr lang="en-US" sz="1400" dirty="0">
                <a:solidFill>
                  <a:schemeClr val="tx1"/>
                </a:solidFill>
              </a:rPr>
              <a:t>Sem acesso para a haste</a:t>
            </a:r>
            <a:endParaRPr lang="en-US" sz="1400" dirty="0"/>
          </a:p>
        </p:txBody>
      </p:sp>
      <p:sp>
        <p:nvSpPr>
          <p:cNvPr id="39" name="Shape 37"/>
          <p:cNvSpPr/>
          <p:nvPr/>
        </p:nvSpPr>
        <p:spPr>
          <a:xfrm>
            <a:off x="548640" y="4443984"/>
            <a:ext cx="11109960" cy="731520"/>
          </a:xfrm>
          <a:prstGeom prst="roundRect">
            <a:avLst>
              <a:gd name="adj" fmla="val 12500"/>
            </a:avLst>
          </a:prstGeom>
          <a:solidFill>
            <a:schemeClr val="bg2"/>
          </a:solidFill>
          <a:ln/>
        </p:spPr>
      </p:sp>
      <p:sp>
        <p:nvSpPr>
          <p:cNvPr id="40" name="Text 38"/>
          <p:cNvSpPr txBox="1"/>
          <p:nvPr/>
        </p:nvSpPr>
        <p:spPr>
          <a:xfrm>
            <a:off x="777240" y="4517136"/>
            <a:ext cx="3931920" cy="320040"/>
          </a:xfrm>
          <a:prstGeom prst="rect">
            <a:avLst/>
          </a:prstGeom>
          <a:noFill/>
          <a:ln/>
        </p:spPr>
        <p:txBody>
          <a:bodyPr wrap="square" lIns="0" tIns="0" rIns="0" bIns="0" rtlCol="0" anchor="t"/>
          <a:lstStyle/>
          <a:p>
            <a:pPr indent="0" marL="0">
              <a:buNone/>
            </a:pPr>
            <a:r>
              <a:rPr lang="en-US" sz="1600" b="1" dirty="0">
                <a:solidFill>
                  <a:schemeClr val="tx1"/>
                </a:solidFill>
              </a:rPr>
              <a:t>Ultrassónico</a:t>
            </a:r>
            <a:endParaRPr lang="en-US" sz="1600" dirty="0"/>
          </a:p>
        </p:txBody>
      </p:sp>
      <p:sp>
        <p:nvSpPr>
          <p:cNvPr id="41" name="Text 39"/>
          <p:cNvSpPr txBox="1"/>
          <p:nvPr/>
        </p:nvSpPr>
        <p:spPr>
          <a:xfrm>
            <a:off x="777240" y="4828032"/>
            <a:ext cx="3931920" cy="274320"/>
          </a:xfrm>
          <a:prstGeom prst="rect">
            <a:avLst/>
          </a:prstGeom>
          <a:noFill/>
          <a:ln/>
        </p:spPr>
        <p:txBody>
          <a:bodyPr wrap="square" lIns="0" tIns="0" rIns="0" bIns="0" rtlCol="0" anchor="t"/>
          <a:lstStyle/>
          <a:p>
            <a:pPr indent="0" marL="0">
              <a:buNone/>
            </a:pPr>
            <a:r>
              <a:rPr lang="en-US" sz="1300" dirty="0">
                <a:solidFill>
                  <a:schemeClr val="tx2"/>
                </a:solidFill>
              </a:rPr>
              <a:t>Som a partir do topo</a:t>
            </a:r>
            <a:endParaRPr lang="en-US" sz="1300" dirty="0"/>
          </a:p>
        </p:txBody>
      </p:sp>
      <p:sp>
        <p:nvSpPr>
          <p:cNvPr id="42" name="Shape 40"/>
          <p:cNvSpPr/>
          <p:nvPr/>
        </p:nvSpPr>
        <p:spPr>
          <a:xfrm>
            <a:off x="4892040" y="4709160"/>
            <a:ext cx="310896" cy="201168"/>
          </a:xfrm>
          <a:prstGeom prst="roundRect">
            <a:avLst>
              <a:gd name="adj" fmla="val 22727"/>
            </a:avLst>
          </a:prstGeom>
          <a:solidFill>
            <a:schemeClr val="accent1"/>
          </a:solidFill>
          <a:ln/>
        </p:spPr>
      </p:sp>
      <p:sp>
        <p:nvSpPr>
          <p:cNvPr id="43" name="Shape 41"/>
          <p:cNvSpPr/>
          <p:nvPr/>
        </p:nvSpPr>
        <p:spPr>
          <a:xfrm>
            <a:off x="5276088" y="4709160"/>
            <a:ext cx="310896" cy="201168"/>
          </a:xfrm>
          <a:prstGeom prst="roundRect">
            <a:avLst>
              <a:gd name="adj" fmla="val 22727"/>
            </a:avLst>
          </a:prstGeom>
          <a:solidFill>
            <a:schemeClr val="accent1"/>
          </a:solidFill>
          <a:ln/>
        </p:spPr>
      </p:sp>
      <p:sp>
        <p:nvSpPr>
          <p:cNvPr id="44" name="Shape 42"/>
          <p:cNvSpPr/>
          <p:nvPr/>
        </p:nvSpPr>
        <p:spPr>
          <a:xfrm>
            <a:off x="5660136" y="4709160"/>
            <a:ext cx="310896" cy="201168"/>
          </a:xfrm>
          <a:prstGeom prst="roundRect">
            <a:avLst>
              <a:gd name="adj" fmla="val 22727"/>
            </a:avLst>
          </a:prstGeom>
          <a:solidFill>
            <a:schemeClr val="accent1"/>
          </a:solidFill>
          <a:ln/>
        </p:spPr>
      </p:sp>
      <p:sp>
        <p:nvSpPr>
          <p:cNvPr id="45" name="Shape 43"/>
          <p:cNvSpPr/>
          <p:nvPr/>
        </p:nvSpPr>
        <p:spPr>
          <a:xfrm>
            <a:off x="6044184" y="4709160"/>
            <a:ext cx="310896" cy="201168"/>
          </a:xfrm>
          <a:prstGeom prst="roundRect">
            <a:avLst>
              <a:gd name="adj" fmla="val 22727"/>
            </a:avLst>
          </a:prstGeom>
          <a:solidFill>
            <a:srgbClr val="D5DAE1"/>
          </a:solidFill>
          <a:ln/>
        </p:spPr>
      </p:sp>
      <p:sp>
        <p:nvSpPr>
          <p:cNvPr id="46" name="Shape 44"/>
          <p:cNvSpPr/>
          <p:nvPr/>
        </p:nvSpPr>
        <p:spPr>
          <a:xfrm>
            <a:off x="6428232" y="4709160"/>
            <a:ext cx="310896" cy="201168"/>
          </a:xfrm>
          <a:prstGeom prst="roundRect">
            <a:avLst>
              <a:gd name="adj" fmla="val 22727"/>
            </a:avLst>
          </a:prstGeom>
          <a:solidFill>
            <a:srgbClr val="D5DAE1"/>
          </a:solidFill>
          <a:ln/>
        </p:spPr>
      </p:sp>
      <p:sp>
        <p:nvSpPr>
          <p:cNvPr id="47" name="Text 45"/>
          <p:cNvSpPr txBox="1"/>
          <p:nvPr/>
        </p:nvSpPr>
        <p:spPr>
          <a:xfrm>
            <a:off x="7360920" y="4626864"/>
            <a:ext cx="1783080" cy="365760"/>
          </a:xfrm>
          <a:prstGeom prst="roundRect">
            <a:avLst>
              <a:gd name="adj" fmla="val 20000"/>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300" b="1" dirty="0">
                <a:solidFill>
                  <a:schemeClr val="tx1"/>
                </a:solidFill>
              </a:rPr>
              <a:t>Sensor no topo</a:t>
            </a:r>
            <a:endParaRPr lang="en-US" sz="1300" dirty="0"/>
          </a:p>
        </p:txBody>
      </p:sp>
      <p:sp>
        <p:nvSpPr>
          <p:cNvPr id="48" name="Text 46"/>
          <p:cNvSpPr txBox="1"/>
          <p:nvPr/>
        </p:nvSpPr>
        <p:spPr>
          <a:xfrm>
            <a:off x="9372600" y="4535424"/>
            <a:ext cx="2194560" cy="548640"/>
          </a:xfrm>
          <a:prstGeom prst="rect">
            <a:avLst/>
          </a:prstGeom>
          <a:noFill/>
          <a:ln/>
        </p:spPr>
        <p:txBody>
          <a:bodyPr wrap="square" lIns="0" tIns="0" rIns="0" bIns="0" rtlCol="0" anchor="ctr"/>
          <a:lstStyle/>
          <a:p>
            <a:pPr indent="0" marL="0">
              <a:buNone/>
            </a:pPr>
            <a:r>
              <a:rPr lang="en-US" sz="1400" dirty="0">
                <a:solidFill>
                  <a:schemeClr val="tx1"/>
                </a:solidFill>
              </a:rPr>
              <a:t>Tanques de superfície (gasóleo)</a:t>
            </a:r>
            <a:endParaRPr lang="en-US" sz="1400" dirty="0"/>
          </a:p>
        </p:txBody>
      </p:sp>
      <p:sp>
        <p:nvSpPr>
          <p:cNvPr id="49" name="Shape 47"/>
          <p:cNvSpPr/>
          <p:nvPr/>
        </p:nvSpPr>
        <p:spPr>
          <a:xfrm>
            <a:off x="548640" y="5285232"/>
            <a:ext cx="11109960" cy="731520"/>
          </a:xfrm>
          <a:prstGeom prst="roundRect">
            <a:avLst>
              <a:gd name="adj" fmla="val 12500"/>
            </a:avLst>
          </a:prstGeom>
          <a:solidFill>
            <a:schemeClr val="bg2"/>
          </a:solidFill>
          <a:ln/>
        </p:spPr>
      </p:sp>
      <p:sp>
        <p:nvSpPr>
          <p:cNvPr id="50" name="Text 48"/>
          <p:cNvSpPr txBox="1"/>
          <p:nvPr/>
        </p:nvSpPr>
        <p:spPr>
          <a:xfrm>
            <a:off x="777240" y="5358384"/>
            <a:ext cx="3931920" cy="320040"/>
          </a:xfrm>
          <a:prstGeom prst="rect">
            <a:avLst/>
          </a:prstGeom>
          <a:noFill/>
          <a:ln/>
        </p:spPr>
        <p:txBody>
          <a:bodyPr wrap="square" lIns="0" tIns="0" rIns="0" bIns="0" rtlCol="0" anchor="t"/>
          <a:lstStyle/>
          <a:p>
            <a:pPr indent="0" marL="0">
              <a:buNone/>
            </a:pPr>
            <a:r>
              <a:rPr lang="en-US" sz="1600" b="1" dirty="0">
                <a:solidFill>
                  <a:schemeClr val="tx1"/>
                </a:solidFill>
              </a:rPr>
              <a:t>Vareta manual + app</a:t>
            </a:r>
            <a:endParaRPr lang="en-US" sz="1600" dirty="0"/>
          </a:p>
        </p:txBody>
      </p:sp>
      <p:sp>
        <p:nvSpPr>
          <p:cNvPr id="51" name="Text 49"/>
          <p:cNvSpPr txBox="1"/>
          <p:nvPr/>
        </p:nvSpPr>
        <p:spPr>
          <a:xfrm>
            <a:off x="777240" y="5669280"/>
            <a:ext cx="3931920" cy="274320"/>
          </a:xfrm>
          <a:prstGeom prst="rect">
            <a:avLst/>
          </a:prstGeom>
          <a:noFill/>
          <a:ln/>
        </p:spPr>
        <p:txBody>
          <a:bodyPr wrap="square" lIns="0" tIns="0" rIns="0" bIns="0" rtlCol="0" anchor="t"/>
          <a:lstStyle/>
          <a:p>
            <a:pPr indent="0" marL="0">
              <a:buNone/>
            </a:pPr>
            <a:r>
              <a:rPr lang="en-US" sz="1300" dirty="0">
                <a:solidFill>
                  <a:schemeClr val="tx2"/>
                </a:solidFill>
              </a:rPr>
              <a:t>Funcionário regista 2–3 vezes/dia</a:t>
            </a:r>
            <a:endParaRPr lang="en-US" sz="1300" dirty="0"/>
          </a:p>
        </p:txBody>
      </p:sp>
      <p:sp>
        <p:nvSpPr>
          <p:cNvPr id="52" name="Shape 50"/>
          <p:cNvSpPr/>
          <p:nvPr/>
        </p:nvSpPr>
        <p:spPr>
          <a:xfrm>
            <a:off x="4892040" y="5550408"/>
            <a:ext cx="310896" cy="201168"/>
          </a:xfrm>
          <a:prstGeom prst="roundRect">
            <a:avLst>
              <a:gd name="adj" fmla="val 22727"/>
            </a:avLst>
          </a:prstGeom>
          <a:solidFill>
            <a:schemeClr val="accent1"/>
          </a:solidFill>
          <a:ln/>
        </p:spPr>
      </p:sp>
      <p:sp>
        <p:nvSpPr>
          <p:cNvPr id="53" name="Shape 51"/>
          <p:cNvSpPr/>
          <p:nvPr/>
        </p:nvSpPr>
        <p:spPr>
          <a:xfrm>
            <a:off x="5276088" y="5550408"/>
            <a:ext cx="310896" cy="201168"/>
          </a:xfrm>
          <a:prstGeom prst="roundRect">
            <a:avLst>
              <a:gd name="adj" fmla="val 22727"/>
            </a:avLst>
          </a:prstGeom>
          <a:solidFill>
            <a:srgbClr val="D5DAE1"/>
          </a:solidFill>
          <a:ln/>
        </p:spPr>
      </p:sp>
      <p:sp>
        <p:nvSpPr>
          <p:cNvPr id="54" name="Shape 52"/>
          <p:cNvSpPr/>
          <p:nvPr/>
        </p:nvSpPr>
        <p:spPr>
          <a:xfrm>
            <a:off x="5660136" y="5550408"/>
            <a:ext cx="310896" cy="201168"/>
          </a:xfrm>
          <a:prstGeom prst="roundRect">
            <a:avLst>
              <a:gd name="adj" fmla="val 22727"/>
            </a:avLst>
          </a:prstGeom>
          <a:solidFill>
            <a:srgbClr val="D5DAE1"/>
          </a:solidFill>
          <a:ln/>
        </p:spPr>
      </p:sp>
      <p:sp>
        <p:nvSpPr>
          <p:cNvPr id="55" name="Shape 53"/>
          <p:cNvSpPr/>
          <p:nvPr/>
        </p:nvSpPr>
        <p:spPr>
          <a:xfrm>
            <a:off x="6044184" y="5550408"/>
            <a:ext cx="310896" cy="201168"/>
          </a:xfrm>
          <a:prstGeom prst="roundRect">
            <a:avLst>
              <a:gd name="adj" fmla="val 22727"/>
            </a:avLst>
          </a:prstGeom>
          <a:solidFill>
            <a:srgbClr val="D5DAE1"/>
          </a:solidFill>
          <a:ln/>
        </p:spPr>
      </p:sp>
      <p:sp>
        <p:nvSpPr>
          <p:cNvPr id="56" name="Shape 54"/>
          <p:cNvSpPr/>
          <p:nvPr/>
        </p:nvSpPr>
        <p:spPr>
          <a:xfrm>
            <a:off x="6428232" y="5550408"/>
            <a:ext cx="310896" cy="201168"/>
          </a:xfrm>
          <a:prstGeom prst="roundRect">
            <a:avLst>
              <a:gd name="adj" fmla="val 22727"/>
            </a:avLst>
          </a:prstGeom>
          <a:solidFill>
            <a:srgbClr val="D5DAE1"/>
          </a:solidFill>
          <a:ln/>
        </p:spPr>
      </p:sp>
      <p:sp>
        <p:nvSpPr>
          <p:cNvPr id="57" name="Text 55"/>
          <p:cNvSpPr txBox="1"/>
          <p:nvPr/>
        </p:nvSpPr>
        <p:spPr>
          <a:xfrm>
            <a:off x="7360920" y="5468112"/>
            <a:ext cx="1783080" cy="365760"/>
          </a:xfrm>
          <a:prstGeom prst="roundRect">
            <a:avLst>
              <a:gd name="adj" fmla="val 20000"/>
            </a:avLst>
          </a:prstGeom>
          <a:solidFill>
            <a:schemeClr val="accent4"/>
          </a:solidFill>
          <a:ln/>
        </p:spPr>
        <p:txBody>
          <a:bodyPr wrap="square" lIns="50800" tIns="50800" rIns="50800" bIns="50800" rtlCol="0" anchor="ctr"/>
          <a:lstStyle/>
          <a:p>
            <a:pPr algn="ctr" indent="0" marL="0">
              <a:buNone/>
            </a:pPr>
            <a:r>
              <a:rPr lang="en-US" sz="1300" b="1" dirty="0">
                <a:solidFill>
                  <a:schemeClr val="bg1"/>
                </a:solidFill>
              </a:rPr>
              <a:t>Nada</a:t>
            </a:r>
            <a:endParaRPr lang="en-US" sz="1300" dirty="0"/>
          </a:p>
        </p:txBody>
      </p:sp>
      <p:sp>
        <p:nvSpPr>
          <p:cNvPr id="58" name="Text 56"/>
          <p:cNvSpPr txBox="1"/>
          <p:nvPr/>
        </p:nvSpPr>
        <p:spPr>
          <a:xfrm>
            <a:off x="9372600" y="5376672"/>
            <a:ext cx="2194560" cy="548640"/>
          </a:xfrm>
          <a:prstGeom prst="rect">
            <a:avLst/>
          </a:prstGeom>
          <a:noFill/>
          <a:ln/>
        </p:spPr>
        <p:txBody>
          <a:bodyPr wrap="square" lIns="0" tIns="0" rIns="0" bIns="0" rtlCol="0" anchor="ctr"/>
          <a:lstStyle/>
          <a:p>
            <a:pPr indent="0" marL="0">
              <a:buNone/>
            </a:pPr>
            <a:r>
              <a:rPr lang="en-US" sz="1400" dirty="0">
                <a:solidFill>
                  <a:schemeClr val="tx1"/>
                </a:solidFill>
              </a:rPr>
              <a:t>Passo intermédio, já amanhã</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04 · CAMADA 2 — DENTRO DO POSTO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Um único equipamento novo, numa rede separada</a:t>
            </a:r>
            <a:endParaRPr lang="en-US" sz="3400" dirty="0"/>
          </a:p>
        </p:txBody>
      </p:sp>
      <p:sp>
        <p:nvSpPr>
          <p:cNvPr id="4" name="Shape 2"/>
          <p:cNvSpPr/>
          <p:nvPr/>
        </p:nvSpPr>
        <p:spPr>
          <a:xfrm>
            <a:off x="548640" y="1463040"/>
            <a:ext cx="5120640" cy="2103120"/>
          </a:xfrm>
          <a:prstGeom prst="roundRect">
            <a:avLst>
              <a:gd name="adj" fmla="val 5217"/>
            </a:avLst>
          </a:prstGeom>
          <a:solidFill>
            <a:schemeClr val="bg2"/>
          </a:solidFill>
          <a:ln/>
        </p:spPr>
      </p:sp>
      <p:sp>
        <p:nvSpPr>
          <p:cNvPr id="5" name="Text 3"/>
          <p:cNvSpPr txBox="1"/>
          <p:nvPr/>
        </p:nvSpPr>
        <p:spPr>
          <a:xfrm>
            <a:off x="777240" y="1600200"/>
            <a:ext cx="365760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PISTA · zona classificada</a:t>
            </a:r>
            <a:endParaRPr lang="en-US" sz="1100" dirty="0"/>
          </a:p>
        </p:txBody>
      </p:sp>
      <p:sp>
        <p:nvSpPr>
          <p:cNvPr id="6" name="Shape 4"/>
          <p:cNvSpPr/>
          <p:nvPr/>
        </p:nvSpPr>
        <p:spPr>
          <a:xfrm>
            <a:off x="868680" y="2011680"/>
            <a:ext cx="1188720" cy="1325880"/>
          </a:xfrm>
          <a:prstGeom prst="roundRect">
            <a:avLst>
              <a:gd name="adj" fmla="val 7692"/>
            </a:avLst>
          </a:prstGeom>
          <a:solidFill>
            <a:schemeClr val="bg1"/>
          </a:solidFill>
          <a:ln w="12700">
            <a:solidFill>
              <a:srgbClr val="D5DAE1"/>
            </a:solidFill>
            <a:prstDash val="solid"/>
          </a:ln>
        </p:spPr>
      </p:sp>
      <p:pic>
        <p:nvPicPr>
          <p:cNvPr id="7" name="Image 0" descr="preencoded.png">    </p:cNvPr>
          <p:cNvPicPr>
            <a:picLocks noChangeAspect="1"/>
          </p:cNvPicPr>
          <p:nvPr/>
        </p:nvPicPr>
        <p:blipFill>
          <a:blip r:embed="rId1"/>
          <a:stretch>
            <a:fillRect/>
          </a:stretch>
        </p:blipFill>
        <p:spPr>
          <a:xfrm>
            <a:off x="1216152" y="2121408"/>
            <a:ext cx="502920" cy="502920"/>
          </a:xfrm>
          <a:prstGeom prst="rect">
            <a:avLst/>
          </a:prstGeom>
        </p:spPr>
      </p:pic>
      <p:sp>
        <p:nvSpPr>
          <p:cNvPr id="8" name="Text 5"/>
          <p:cNvSpPr txBox="1"/>
          <p:nvPr/>
        </p:nvSpPr>
        <p:spPr>
          <a:xfrm>
            <a:off x="868680" y="2788920"/>
            <a:ext cx="1188720" cy="320040"/>
          </a:xfrm>
          <a:prstGeom prst="rect">
            <a:avLst/>
          </a:prstGeom>
          <a:noFill/>
          <a:ln/>
        </p:spPr>
        <p:txBody>
          <a:bodyPr wrap="square" lIns="0" tIns="0" rIns="0" bIns="0" rtlCol="0" anchor="t"/>
          <a:lstStyle/>
          <a:p>
            <a:pPr algn="ctr" indent="0" marL="0">
              <a:buNone/>
            </a:pPr>
            <a:r>
              <a:rPr lang="en-US" sz="1300" dirty="0">
                <a:solidFill>
                  <a:schemeClr val="tx1"/>
                </a:solidFill>
              </a:rPr>
              <a:t>Bomba 1</a:t>
            </a:r>
            <a:endParaRPr lang="en-US" sz="1300" dirty="0"/>
          </a:p>
        </p:txBody>
      </p:sp>
      <p:sp>
        <p:nvSpPr>
          <p:cNvPr id="9" name="Shape 6"/>
          <p:cNvSpPr/>
          <p:nvPr/>
        </p:nvSpPr>
        <p:spPr>
          <a:xfrm>
            <a:off x="2514600" y="2011680"/>
            <a:ext cx="1188720" cy="1325880"/>
          </a:xfrm>
          <a:prstGeom prst="roundRect">
            <a:avLst>
              <a:gd name="adj" fmla="val 7692"/>
            </a:avLst>
          </a:prstGeom>
          <a:solidFill>
            <a:schemeClr val="bg1"/>
          </a:solidFill>
          <a:ln w="12700">
            <a:solidFill>
              <a:srgbClr val="D5DAE1"/>
            </a:solidFill>
            <a:prstDash val="solid"/>
          </a:ln>
        </p:spPr>
      </p:sp>
      <p:pic>
        <p:nvPicPr>
          <p:cNvPr id="10" name="Image 1" descr="preencoded.png">    </p:cNvPr>
          <p:cNvPicPr>
            <a:picLocks noChangeAspect="1"/>
          </p:cNvPicPr>
          <p:nvPr/>
        </p:nvPicPr>
        <p:blipFill>
          <a:blip r:embed="rId2"/>
          <a:stretch>
            <a:fillRect/>
          </a:stretch>
        </p:blipFill>
        <p:spPr>
          <a:xfrm>
            <a:off x="2862072" y="2121408"/>
            <a:ext cx="502920" cy="502920"/>
          </a:xfrm>
          <a:prstGeom prst="rect">
            <a:avLst/>
          </a:prstGeom>
        </p:spPr>
      </p:pic>
      <p:sp>
        <p:nvSpPr>
          <p:cNvPr id="11" name="Text 7"/>
          <p:cNvSpPr txBox="1"/>
          <p:nvPr/>
        </p:nvSpPr>
        <p:spPr>
          <a:xfrm>
            <a:off x="2514600" y="2788920"/>
            <a:ext cx="1188720" cy="320040"/>
          </a:xfrm>
          <a:prstGeom prst="rect">
            <a:avLst/>
          </a:prstGeom>
          <a:noFill/>
          <a:ln/>
        </p:spPr>
        <p:txBody>
          <a:bodyPr wrap="square" lIns="0" tIns="0" rIns="0" bIns="0" rtlCol="0" anchor="t"/>
          <a:lstStyle/>
          <a:p>
            <a:pPr algn="ctr" indent="0" marL="0">
              <a:buNone/>
            </a:pPr>
            <a:r>
              <a:rPr lang="en-US" sz="1300" dirty="0">
                <a:solidFill>
                  <a:schemeClr val="tx1"/>
                </a:solidFill>
              </a:rPr>
              <a:t>Bomba 2</a:t>
            </a:r>
            <a:endParaRPr lang="en-US" sz="1300" dirty="0"/>
          </a:p>
        </p:txBody>
      </p:sp>
      <p:sp>
        <p:nvSpPr>
          <p:cNvPr id="12" name="Shape 8"/>
          <p:cNvSpPr/>
          <p:nvPr/>
        </p:nvSpPr>
        <p:spPr>
          <a:xfrm>
            <a:off x="4160520" y="2011680"/>
            <a:ext cx="1188720" cy="1325880"/>
          </a:xfrm>
          <a:prstGeom prst="roundRect">
            <a:avLst>
              <a:gd name="adj" fmla="val 7692"/>
            </a:avLst>
          </a:prstGeom>
          <a:solidFill>
            <a:schemeClr val="bg1"/>
          </a:solidFill>
          <a:ln w="12700">
            <a:solidFill>
              <a:srgbClr val="D5DAE1"/>
            </a:solidFill>
            <a:prstDash val="solid"/>
          </a:ln>
        </p:spPr>
      </p:sp>
      <p:pic>
        <p:nvPicPr>
          <p:cNvPr id="13" name="Image 2" descr="preencoded.png">    </p:cNvPr>
          <p:cNvPicPr>
            <a:picLocks noChangeAspect="1"/>
          </p:cNvPicPr>
          <p:nvPr/>
        </p:nvPicPr>
        <p:blipFill>
          <a:blip r:embed="rId3"/>
          <a:stretch>
            <a:fillRect/>
          </a:stretch>
        </p:blipFill>
        <p:spPr>
          <a:xfrm>
            <a:off x="4507992" y="2121408"/>
            <a:ext cx="502920" cy="502920"/>
          </a:xfrm>
          <a:prstGeom prst="rect">
            <a:avLst/>
          </a:prstGeom>
        </p:spPr>
      </p:pic>
      <p:sp>
        <p:nvSpPr>
          <p:cNvPr id="14" name="Text 9"/>
          <p:cNvSpPr txBox="1"/>
          <p:nvPr/>
        </p:nvSpPr>
        <p:spPr>
          <a:xfrm>
            <a:off x="4160520" y="2788920"/>
            <a:ext cx="1188720" cy="320040"/>
          </a:xfrm>
          <a:prstGeom prst="rect">
            <a:avLst/>
          </a:prstGeom>
          <a:noFill/>
          <a:ln/>
        </p:spPr>
        <p:txBody>
          <a:bodyPr wrap="square" lIns="0" tIns="0" rIns="0" bIns="0" rtlCol="0" anchor="t"/>
          <a:lstStyle/>
          <a:p>
            <a:pPr algn="ctr" indent="0" marL="0">
              <a:buNone/>
            </a:pPr>
            <a:r>
              <a:rPr lang="en-US" sz="1300" dirty="0">
                <a:solidFill>
                  <a:schemeClr val="tx1"/>
                </a:solidFill>
              </a:rPr>
              <a:t>Bomba 3</a:t>
            </a:r>
            <a:endParaRPr lang="en-US" sz="1300" dirty="0"/>
          </a:p>
        </p:txBody>
      </p:sp>
      <p:sp>
        <p:nvSpPr>
          <p:cNvPr id="15" name="Shape 10"/>
          <p:cNvSpPr/>
          <p:nvPr/>
        </p:nvSpPr>
        <p:spPr>
          <a:xfrm>
            <a:off x="548640" y="3749040"/>
            <a:ext cx="5120640" cy="2377440"/>
          </a:xfrm>
          <a:prstGeom prst="roundRect">
            <a:avLst>
              <a:gd name="adj" fmla="val 4615"/>
            </a:avLst>
          </a:prstGeom>
          <a:solidFill>
            <a:schemeClr val="accent2">
              <a:alpha val="15000"/>
            </a:schemeClr>
          </a:solidFill>
          <a:ln/>
        </p:spPr>
      </p:sp>
      <p:sp>
        <p:nvSpPr>
          <p:cNvPr id="16" name="Text 11"/>
          <p:cNvSpPr txBox="1"/>
          <p:nvPr/>
        </p:nvSpPr>
        <p:spPr>
          <a:xfrm>
            <a:off x="777240" y="3886200"/>
            <a:ext cx="3657600" cy="274320"/>
          </a:xfrm>
          <a:prstGeom prst="rect">
            <a:avLst/>
          </a:prstGeom>
          <a:noFill/>
          <a:ln/>
        </p:spPr>
        <p:txBody>
          <a:bodyPr wrap="square" lIns="0" tIns="0" rIns="0" bIns="0" rtlCol="0" anchor="t"/>
          <a:lstStyle/>
          <a:p>
            <a:pPr indent="0" marL="0">
              <a:buNone/>
            </a:pPr>
            <a:r>
              <a:rPr lang="en-US" sz="1100" b="1" dirty="0">
                <a:solidFill>
                  <a:schemeClr val="accent6"/>
                </a:solidFill>
                <a:latin typeface="Courier New" pitchFamily="34" charset="0"/>
                <a:ea typeface="Courier New" pitchFamily="34" charset="-122"/>
                <a:cs typeface="Courier New" pitchFamily="34" charset="-120"/>
              </a:rPr>
              <a:t>TANQUES SUBTERRÂNEOS</a:t>
            </a:r>
            <a:endParaRPr lang="en-US" sz="1100" dirty="0"/>
          </a:p>
        </p:txBody>
      </p:sp>
      <p:sp>
        <p:nvSpPr>
          <p:cNvPr id="17" name="Shape 12"/>
          <p:cNvSpPr/>
          <p:nvPr/>
        </p:nvSpPr>
        <p:spPr>
          <a:xfrm>
            <a:off x="777240" y="4343400"/>
            <a:ext cx="1417320" cy="777240"/>
          </a:xfrm>
          <a:prstGeom prst="roundRect">
            <a:avLst>
              <a:gd name="adj" fmla="val 35294"/>
            </a:avLst>
          </a:prstGeom>
          <a:solidFill>
            <a:schemeClr val="accent2"/>
          </a:solidFill>
          <a:ln w="15875">
            <a:solidFill>
              <a:srgbClr val="14213D"/>
            </a:solidFill>
            <a:prstDash val="solid"/>
          </a:ln>
        </p:spPr>
      </p:sp>
      <p:sp>
        <p:nvSpPr>
          <p:cNvPr id="18" name="Shape 13"/>
          <p:cNvSpPr/>
          <p:nvPr/>
        </p:nvSpPr>
        <p:spPr>
          <a:xfrm>
            <a:off x="1828800" y="4224528"/>
            <a:ext cx="914" cy="822960"/>
          </a:xfrm>
          <a:prstGeom prst="line">
            <a:avLst/>
          </a:prstGeom>
          <a:noFill/>
          <a:ln w="31750">
            <a:solidFill>
              <a:srgbClr val="14213D"/>
            </a:solidFill>
            <a:prstDash val="solid"/>
          </a:ln>
        </p:spPr>
      </p:sp>
      <p:sp>
        <p:nvSpPr>
          <p:cNvPr id="19" name="Text 14"/>
          <p:cNvSpPr txBox="1"/>
          <p:nvPr/>
        </p:nvSpPr>
        <p:spPr>
          <a:xfrm>
            <a:off x="777240" y="5212080"/>
            <a:ext cx="1417320" cy="274320"/>
          </a:xfrm>
          <a:prstGeom prst="rect">
            <a:avLst/>
          </a:prstGeom>
          <a:noFill/>
          <a:ln/>
        </p:spPr>
        <p:txBody>
          <a:bodyPr wrap="square" lIns="0" tIns="0" rIns="0" bIns="0" rtlCol="0" anchor="t"/>
          <a:lstStyle/>
          <a:p>
            <a:pPr algn="ctr" indent="0" marL="0">
              <a:buNone/>
            </a:pPr>
            <a:r>
              <a:rPr lang="en-US" sz="1300" dirty="0">
                <a:solidFill>
                  <a:schemeClr val="tx1"/>
                </a:solidFill>
              </a:rPr>
              <a:t>T1 Gasolina</a:t>
            </a:r>
            <a:endParaRPr lang="en-US" sz="1300" dirty="0"/>
          </a:p>
        </p:txBody>
      </p:sp>
      <p:sp>
        <p:nvSpPr>
          <p:cNvPr id="20" name="Shape 15"/>
          <p:cNvSpPr/>
          <p:nvPr/>
        </p:nvSpPr>
        <p:spPr>
          <a:xfrm>
            <a:off x="2423160" y="4343400"/>
            <a:ext cx="1417320" cy="777240"/>
          </a:xfrm>
          <a:prstGeom prst="roundRect">
            <a:avLst>
              <a:gd name="adj" fmla="val 35294"/>
            </a:avLst>
          </a:prstGeom>
          <a:solidFill>
            <a:schemeClr val="accent2"/>
          </a:solidFill>
          <a:ln w="15875">
            <a:solidFill>
              <a:srgbClr val="14213D"/>
            </a:solidFill>
            <a:prstDash val="solid"/>
          </a:ln>
        </p:spPr>
      </p:sp>
      <p:sp>
        <p:nvSpPr>
          <p:cNvPr id="21" name="Shape 16"/>
          <p:cNvSpPr/>
          <p:nvPr/>
        </p:nvSpPr>
        <p:spPr>
          <a:xfrm>
            <a:off x="3474720" y="4224528"/>
            <a:ext cx="914" cy="822960"/>
          </a:xfrm>
          <a:prstGeom prst="line">
            <a:avLst/>
          </a:prstGeom>
          <a:noFill/>
          <a:ln w="31750">
            <a:solidFill>
              <a:srgbClr val="14213D"/>
            </a:solidFill>
            <a:prstDash val="solid"/>
          </a:ln>
        </p:spPr>
      </p:sp>
      <p:sp>
        <p:nvSpPr>
          <p:cNvPr id="22" name="Text 17"/>
          <p:cNvSpPr txBox="1"/>
          <p:nvPr/>
        </p:nvSpPr>
        <p:spPr>
          <a:xfrm>
            <a:off x="2423160" y="5212080"/>
            <a:ext cx="1417320" cy="274320"/>
          </a:xfrm>
          <a:prstGeom prst="rect">
            <a:avLst/>
          </a:prstGeom>
          <a:noFill/>
          <a:ln/>
        </p:spPr>
        <p:txBody>
          <a:bodyPr wrap="square" lIns="0" tIns="0" rIns="0" bIns="0" rtlCol="0" anchor="t"/>
          <a:lstStyle/>
          <a:p>
            <a:pPr algn="ctr" indent="0" marL="0">
              <a:buNone/>
            </a:pPr>
            <a:r>
              <a:rPr lang="en-US" sz="1300" dirty="0">
                <a:solidFill>
                  <a:schemeClr val="tx1"/>
                </a:solidFill>
              </a:rPr>
              <a:t>T2 Gasóleo</a:t>
            </a:r>
            <a:endParaRPr lang="en-US" sz="1300" dirty="0"/>
          </a:p>
        </p:txBody>
      </p:sp>
      <p:sp>
        <p:nvSpPr>
          <p:cNvPr id="23" name="Shape 18"/>
          <p:cNvSpPr/>
          <p:nvPr/>
        </p:nvSpPr>
        <p:spPr>
          <a:xfrm>
            <a:off x="4069080" y="4343400"/>
            <a:ext cx="1417320" cy="777240"/>
          </a:xfrm>
          <a:prstGeom prst="roundRect">
            <a:avLst>
              <a:gd name="adj" fmla="val 35294"/>
            </a:avLst>
          </a:prstGeom>
          <a:solidFill>
            <a:schemeClr val="accent2"/>
          </a:solidFill>
          <a:ln w="15875">
            <a:solidFill>
              <a:srgbClr val="14213D"/>
            </a:solidFill>
            <a:prstDash val="solid"/>
          </a:ln>
        </p:spPr>
      </p:sp>
      <p:sp>
        <p:nvSpPr>
          <p:cNvPr id="24" name="Shape 19"/>
          <p:cNvSpPr/>
          <p:nvPr/>
        </p:nvSpPr>
        <p:spPr>
          <a:xfrm>
            <a:off x="5120640" y="4224528"/>
            <a:ext cx="914" cy="822960"/>
          </a:xfrm>
          <a:prstGeom prst="line">
            <a:avLst/>
          </a:prstGeom>
          <a:noFill/>
          <a:ln w="31750">
            <a:solidFill>
              <a:srgbClr val="14213D"/>
            </a:solidFill>
            <a:prstDash val="solid"/>
          </a:ln>
        </p:spPr>
      </p:sp>
      <p:sp>
        <p:nvSpPr>
          <p:cNvPr id="25" name="Text 20"/>
          <p:cNvSpPr txBox="1"/>
          <p:nvPr/>
        </p:nvSpPr>
        <p:spPr>
          <a:xfrm>
            <a:off x="4069080" y="5212080"/>
            <a:ext cx="1417320" cy="274320"/>
          </a:xfrm>
          <a:prstGeom prst="rect">
            <a:avLst/>
          </a:prstGeom>
          <a:noFill/>
          <a:ln/>
        </p:spPr>
        <p:txBody>
          <a:bodyPr wrap="square" lIns="0" tIns="0" rIns="0" bIns="0" rtlCol="0" anchor="t"/>
          <a:lstStyle/>
          <a:p>
            <a:pPr algn="ctr" indent="0" marL="0">
              <a:buNone/>
            </a:pPr>
            <a:r>
              <a:rPr lang="en-US" sz="1300" dirty="0">
                <a:solidFill>
                  <a:schemeClr val="tx1"/>
                </a:solidFill>
              </a:rPr>
              <a:t>T3 Gasóleo</a:t>
            </a:r>
            <a:endParaRPr lang="en-US" sz="1300" dirty="0"/>
          </a:p>
        </p:txBody>
      </p:sp>
      <p:sp>
        <p:nvSpPr>
          <p:cNvPr id="26" name="Text 21"/>
          <p:cNvSpPr txBox="1"/>
          <p:nvPr/>
        </p:nvSpPr>
        <p:spPr>
          <a:xfrm>
            <a:off x="777240" y="5669280"/>
            <a:ext cx="2743200" cy="274320"/>
          </a:xfrm>
          <a:prstGeom prst="rect">
            <a:avLst/>
          </a:prstGeom>
          <a:noFill/>
          <a:ln/>
        </p:spPr>
        <p:txBody>
          <a:bodyPr wrap="square" lIns="0" tIns="0" rIns="0" bIns="0" rtlCol="0" anchor="t"/>
          <a:lstStyle/>
          <a:p>
            <a:pPr indent="0" marL="0">
              <a:buNone/>
            </a:pPr>
            <a:r>
              <a:rPr lang="en-US" sz="1200" dirty="0">
                <a:solidFill>
                  <a:schemeClr val="tx2"/>
                </a:solidFill>
              </a:rPr>
              <a:t>uma sonda por tanque</a:t>
            </a:r>
            <a:endParaRPr lang="en-US" sz="1200" dirty="0"/>
          </a:p>
        </p:txBody>
      </p:sp>
      <p:sp>
        <p:nvSpPr>
          <p:cNvPr id="27" name="Shape 22"/>
          <p:cNvSpPr/>
          <p:nvPr/>
        </p:nvSpPr>
        <p:spPr>
          <a:xfrm>
            <a:off x="6035040" y="1463040"/>
            <a:ext cx="5623560" cy="4663440"/>
          </a:xfrm>
          <a:prstGeom prst="roundRect">
            <a:avLst>
              <a:gd name="adj" fmla="val 2353"/>
            </a:avLst>
          </a:prstGeom>
          <a:solidFill>
            <a:schemeClr val="bg1"/>
          </a:solidFill>
          <a:ln w="15875">
            <a:solidFill>
              <a:srgbClr val="14213D"/>
            </a:solidFill>
            <a:prstDash val="solid"/>
          </a:ln>
        </p:spPr>
      </p:sp>
      <p:sp>
        <p:nvSpPr>
          <p:cNvPr id="28" name="Text 23"/>
          <p:cNvSpPr txBox="1"/>
          <p:nvPr/>
        </p:nvSpPr>
        <p:spPr>
          <a:xfrm>
            <a:off x="6263640" y="1572768"/>
            <a:ext cx="365760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ESCRITÓRIO · zona segura</a:t>
            </a:r>
            <a:endParaRPr lang="en-US" sz="1100" dirty="0"/>
          </a:p>
        </p:txBody>
      </p:sp>
      <p:sp>
        <p:nvSpPr>
          <p:cNvPr id="29" name="Shape 24"/>
          <p:cNvSpPr/>
          <p:nvPr/>
        </p:nvSpPr>
        <p:spPr>
          <a:xfrm>
            <a:off x="6263640" y="1920240"/>
            <a:ext cx="5166360" cy="2331720"/>
          </a:xfrm>
          <a:prstGeom prst="roundRect">
            <a:avLst>
              <a:gd name="adj" fmla="val 3922"/>
            </a:avLst>
          </a:prstGeom>
          <a:solidFill>
            <a:schemeClr val="accent1">
              <a:alpha val="10000"/>
            </a:schemeClr>
          </a:solidFill>
          <a:ln w="15875">
            <a:solidFill>
              <a:srgbClr val="5B4BC4"/>
            </a:solidFill>
            <a:prstDash val="dash"/>
          </a:ln>
        </p:spPr>
      </p:sp>
      <p:sp>
        <p:nvSpPr>
          <p:cNvPr id="30" name="Text 25"/>
          <p:cNvSpPr txBox="1"/>
          <p:nvPr/>
        </p:nvSpPr>
        <p:spPr>
          <a:xfrm>
            <a:off x="6446520" y="2011680"/>
            <a:ext cx="41148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REDE DE MONITORIZAÇÃO · isolada</a:t>
            </a:r>
            <a:endParaRPr lang="en-US" sz="1100" dirty="0"/>
          </a:p>
        </p:txBody>
      </p:sp>
      <p:sp>
        <p:nvSpPr>
          <p:cNvPr id="31" name="Text 26"/>
          <p:cNvSpPr txBox="1"/>
          <p:nvPr/>
        </p:nvSpPr>
        <p:spPr>
          <a:xfrm>
            <a:off x="6492240" y="2514600"/>
            <a:ext cx="1920240" cy="914400"/>
          </a:xfrm>
          <a:prstGeom prst="roundRect">
            <a:avLst>
              <a:gd name="adj" fmla="val 8000"/>
            </a:avLst>
          </a:prstGeom>
          <a:solidFill>
            <a:schemeClr val="bg1"/>
          </a:solidFill>
          <a:ln w="15875">
            <a:solidFill>
              <a:srgbClr val="14213D"/>
            </a:solidFill>
            <a:prstDash val="solid"/>
          </a:ln>
        </p:spPr>
        <p:txBody>
          <a:bodyPr wrap="square" lIns="50800" tIns="50800" rIns="50800" bIns="50800" rtlCol="0" anchor="ctr"/>
          <a:lstStyle/>
          <a:p>
            <a:pPr algn="ctr" indent="0" marL="0">
              <a:buNone/>
            </a:pPr>
            <a:r>
              <a:rPr lang="en-US" sz="1600" b="1" dirty="0">
                <a:solidFill>
                  <a:schemeClr val="tx1"/>
                </a:solidFill>
              </a:rPr>
              <a:t>Consola ATG</a:t>
            </a:r>
            <a:endParaRPr lang="en-US" sz="1400" dirty="0"/>
          </a:p>
          <a:p>
            <a:pPr algn="ctr" indent="0" marL="0">
              <a:buNone/>
            </a:pPr>
            <a:r>
              <a:rPr lang="en-US" sz="1200" dirty="0">
                <a:solidFill>
                  <a:schemeClr val="tx2"/>
                </a:solidFill>
              </a:rPr>
              <a:t>ex.: TLS-350 / 450</a:t>
            </a:r>
            <a:endParaRPr lang="en-US" sz="1400" dirty="0"/>
          </a:p>
        </p:txBody>
      </p:sp>
      <p:sp>
        <p:nvSpPr>
          <p:cNvPr id="32" name="Text 27"/>
          <p:cNvSpPr txBox="1"/>
          <p:nvPr/>
        </p:nvSpPr>
        <p:spPr>
          <a:xfrm>
            <a:off x="9235440" y="2514600"/>
            <a:ext cx="1920240" cy="914400"/>
          </a:xfrm>
          <a:prstGeom prst="roundRect">
            <a:avLst>
              <a:gd name="adj" fmla="val 8000"/>
            </a:avLst>
          </a:prstGeom>
          <a:solidFill>
            <a:schemeClr val="tx1"/>
          </a:solidFill>
          <a:ln/>
        </p:spPr>
        <p:txBody>
          <a:bodyPr wrap="square" lIns="50800" tIns="50800" rIns="50800" bIns="50800" rtlCol="0" anchor="ctr"/>
          <a:lstStyle/>
          <a:p>
            <a:pPr algn="ctr" indent="0" marL="0">
              <a:buNone/>
            </a:pPr>
            <a:r>
              <a:rPr lang="en-US" sz="1600" b="1" dirty="0">
                <a:solidFill>
                  <a:schemeClr val="bg1"/>
                </a:solidFill>
              </a:rPr>
              <a:t>Gateway 4G</a:t>
            </a:r>
            <a:endParaRPr lang="en-US" sz="1400" dirty="0"/>
          </a:p>
          <a:p>
            <a:pPr algn="ctr" indent="0" marL="0">
              <a:buNone/>
            </a:pPr>
            <a:r>
              <a:rPr lang="en-US" sz="1200" dirty="0">
                <a:solidFill>
                  <a:srgbClr val="C9CFDD"/>
                </a:solidFill>
              </a:rPr>
              <a:t>dual-SIM · TLS</a:t>
            </a:r>
            <a:endParaRPr lang="en-US" sz="1400" dirty="0"/>
          </a:p>
        </p:txBody>
      </p:sp>
      <p:sp>
        <p:nvSpPr>
          <p:cNvPr id="33" name="Shape 28"/>
          <p:cNvSpPr/>
          <p:nvPr/>
        </p:nvSpPr>
        <p:spPr>
          <a:xfrm>
            <a:off x="8412480" y="2971800"/>
            <a:ext cx="822960" cy="914"/>
          </a:xfrm>
          <a:prstGeom prst="line">
            <a:avLst/>
          </a:prstGeom>
          <a:noFill/>
          <a:ln w="31750">
            <a:solidFill>
              <a:schemeClr val="accent1"/>
            </a:solidFill>
            <a:prstDash val="solid"/>
            <a:tailEnd type="triangle"/>
          </a:ln>
        </p:spPr>
      </p:sp>
      <p:sp>
        <p:nvSpPr>
          <p:cNvPr id="34" name="Text 29"/>
          <p:cNvSpPr txBox="1"/>
          <p:nvPr/>
        </p:nvSpPr>
        <p:spPr>
          <a:xfrm>
            <a:off x="8412480" y="2633472"/>
            <a:ext cx="822960" cy="256032"/>
          </a:xfrm>
          <a:prstGeom prst="rect">
            <a:avLst/>
          </a:prstGeom>
          <a:noFill/>
          <a:ln/>
        </p:spPr>
        <p:txBody>
          <a:bodyPr wrap="square" lIns="0" tIns="0" rIns="0" bIns="0" rtlCol="0" anchor="t"/>
          <a:lstStyle/>
          <a:p>
            <a:pPr algn="ctr" indent="0" marL="0">
              <a:buNone/>
            </a:pPr>
            <a:r>
              <a:rPr lang="en-US" sz="1100" b="1" dirty="0">
                <a:solidFill>
                  <a:schemeClr val="accent1"/>
                </a:solidFill>
              </a:rPr>
              <a:t>RS-232</a:t>
            </a:r>
            <a:endParaRPr lang="en-US" sz="1100" dirty="0"/>
          </a:p>
        </p:txBody>
      </p:sp>
      <p:sp>
        <p:nvSpPr>
          <p:cNvPr id="35" name="Text 30"/>
          <p:cNvSpPr txBox="1"/>
          <p:nvPr/>
        </p:nvSpPr>
        <p:spPr>
          <a:xfrm>
            <a:off x="8412480" y="3044952"/>
            <a:ext cx="822960" cy="256032"/>
          </a:xfrm>
          <a:prstGeom prst="rect">
            <a:avLst/>
          </a:prstGeom>
          <a:noFill/>
          <a:ln/>
        </p:spPr>
        <p:txBody>
          <a:bodyPr wrap="square" lIns="0" tIns="0" rIns="0" bIns="0" rtlCol="0" anchor="t"/>
          <a:lstStyle/>
          <a:p>
            <a:pPr algn="ctr" indent="0" marL="0">
              <a:buNone/>
            </a:pPr>
            <a:r>
              <a:rPr lang="en-US" sz="1000" dirty="0">
                <a:solidFill>
                  <a:schemeClr val="accent1"/>
                </a:solidFill>
              </a:rPr>
              <a:t>só leitura</a:t>
            </a:r>
            <a:endParaRPr lang="en-US" sz="1000" dirty="0"/>
          </a:p>
        </p:txBody>
      </p:sp>
      <p:sp>
        <p:nvSpPr>
          <p:cNvPr id="36" name="Text 31"/>
          <p:cNvSpPr txBox="1"/>
          <p:nvPr/>
        </p:nvSpPr>
        <p:spPr>
          <a:xfrm>
            <a:off x="9235440" y="3611880"/>
            <a:ext cx="1920240" cy="457200"/>
          </a:xfrm>
          <a:prstGeom prst="roundRect">
            <a:avLst>
              <a:gd name="adj" fmla="val 16000"/>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200" dirty="0">
                <a:solidFill>
                  <a:schemeClr val="tx1"/>
                </a:solidFill>
              </a:rPr>
              <a:t>UPS · bateria 8–24 h</a:t>
            </a:r>
            <a:endParaRPr lang="en-US" sz="1200" dirty="0"/>
          </a:p>
        </p:txBody>
      </p:sp>
      <p:pic>
        <p:nvPicPr>
          <p:cNvPr id="37" name="Image 3" descr="preencoded.png">    </p:cNvPr>
          <p:cNvPicPr>
            <a:picLocks noChangeAspect="1"/>
          </p:cNvPicPr>
          <p:nvPr/>
        </p:nvPicPr>
        <p:blipFill>
          <a:blip r:embed="rId4"/>
          <a:stretch>
            <a:fillRect/>
          </a:stretch>
        </p:blipFill>
        <p:spPr>
          <a:xfrm>
            <a:off x="10927080" y="1965960"/>
            <a:ext cx="365760" cy="365760"/>
          </a:xfrm>
          <a:prstGeom prst="rect">
            <a:avLst/>
          </a:prstGeom>
        </p:spPr>
      </p:pic>
      <p:sp>
        <p:nvSpPr>
          <p:cNvPr id="38" name="Shape 32"/>
          <p:cNvSpPr/>
          <p:nvPr/>
        </p:nvSpPr>
        <p:spPr>
          <a:xfrm>
            <a:off x="11109960" y="2359152"/>
            <a:ext cx="914" cy="155448"/>
          </a:xfrm>
          <a:prstGeom prst="line">
            <a:avLst/>
          </a:prstGeom>
          <a:noFill/>
          <a:ln w="19050">
            <a:solidFill>
              <a:schemeClr val="accent1"/>
            </a:solidFill>
            <a:prstDash val="solid"/>
          </a:ln>
        </p:spPr>
      </p:sp>
      <p:sp>
        <p:nvSpPr>
          <p:cNvPr id="39" name="Text 33"/>
          <p:cNvSpPr txBox="1"/>
          <p:nvPr/>
        </p:nvSpPr>
        <p:spPr>
          <a:xfrm>
            <a:off x="10241280" y="2057400"/>
            <a:ext cx="640080" cy="228600"/>
          </a:xfrm>
          <a:prstGeom prst="rect">
            <a:avLst/>
          </a:prstGeom>
          <a:noFill/>
          <a:ln/>
        </p:spPr>
        <p:txBody>
          <a:bodyPr wrap="square" lIns="0" tIns="0" rIns="0" bIns="0" rtlCol="0" anchor="t"/>
          <a:lstStyle/>
          <a:p>
            <a:pPr algn="r" indent="0" marL="0">
              <a:buNone/>
            </a:pPr>
            <a:r>
              <a:rPr lang="en-US" sz="1000" dirty="0">
                <a:solidFill>
                  <a:schemeClr val="accent1"/>
                </a:solidFill>
              </a:rPr>
              <a:t>antena</a:t>
            </a:r>
            <a:endParaRPr lang="en-US" sz="1000" dirty="0"/>
          </a:p>
        </p:txBody>
      </p:sp>
      <p:sp>
        <p:nvSpPr>
          <p:cNvPr id="40" name="Shape 34"/>
          <p:cNvSpPr/>
          <p:nvPr/>
        </p:nvSpPr>
        <p:spPr>
          <a:xfrm>
            <a:off x="5669280" y="4480560"/>
            <a:ext cx="1783080" cy="914"/>
          </a:xfrm>
          <a:prstGeom prst="line">
            <a:avLst/>
          </a:prstGeom>
          <a:noFill/>
          <a:ln w="19050">
            <a:solidFill>
              <a:schemeClr val="tx1"/>
            </a:solidFill>
            <a:prstDash val="dash"/>
          </a:ln>
        </p:spPr>
      </p:sp>
      <p:sp>
        <p:nvSpPr>
          <p:cNvPr id="41" name="Shape 35"/>
          <p:cNvSpPr/>
          <p:nvPr/>
        </p:nvSpPr>
        <p:spPr>
          <a:xfrm flipV="1">
            <a:off x="7452360" y="3429000"/>
            <a:ext cx="914" cy="1051560"/>
          </a:xfrm>
          <a:prstGeom prst="line">
            <a:avLst/>
          </a:prstGeom>
          <a:noFill/>
          <a:ln w="19050">
            <a:solidFill>
              <a:schemeClr val="tx1"/>
            </a:solidFill>
            <a:prstDash val="dash"/>
            <a:tailEnd type="triangle"/>
          </a:ln>
        </p:spPr>
      </p:sp>
      <p:sp>
        <p:nvSpPr>
          <p:cNvPr id="42" name="Text 36"/>
          <p:cNvSpPr txBox="1"/>
          <p:nvPr/>
        </p:nvSpPr>
        <p:spPr>
          <a:xfrm>
            <a:off x="7589520" y="4343400"/>
            <a:ext cx="1554480" cy="256032"/>
          </a:xfrm>
          <a:prstGeom prst="rect">
            <a:avLst/>
          </a:prstGeom>
          <a:noFill/>
          <a:ln/>
        </p:spPr>
        <p:txBody>
          <a:bodyPr wrap="square" lIns="0" tIns="0" rIns="0" bIns="0" rtlCol="0" anchor="t"/>
          <a:lstStyle/>
          <a:p>
            <a:pPr indent="0" marL="0">
              <a:buNone/>
            </a:pPr>
            <a:r>
              <a:rPr lang="en-US" sz="1000" dirty="0">
                <a:solidFill>
                  <a:schemeClr val="tx2"/>
                </a:solidFill>
              </a:rPr>
              <a:t>cabos das sondas</a:t>
            </a:r>
            <a:endParaRPr lang="en-US" sz="1000" dirty="0"/>
          </a:p>
        </p:txBody>
      </p:sp>
      <p:sp>
        <p:nvSpPr>
          <p:cNvPr id="43" name="Text 37"/>
          <p:cNvSpPr txBox="1"/>
          <p:nvPr/>
        </p:nvSpPr>
        <p:spPr>
          <a:xfrm>
            <a:off x="9372600" y="4370832"/>
            <a:ext cx="1645920" cy="274320"/>
          </a:xfrm>
          <a:prstGeom prst="roundRect">
            <a:avLst>
              <a:gd name="adj" fmla="val 26667"/>
            </a:avLst>
          </a:prstGeom>
          <a:solidFill>
            <a:schemeClr val="accent3"/>
          </a:solidFill>
          <a:ln/>
        </p:spPr>
        <p:txBody>
          <a:bodyPr wrap="square" lIns="50800" tIns="50800" rIns="50800" bIns="50800" rtlCol="0" anchor="ctr"/>
          <a:lstStyle/>
          <a:p>
            <a:pPr algn="ctr" indent="0" marL="0">
              <a:buNone/>
            </a:pPr>
            <a:r>
              <a:rPr lang="en-US" sz="1100" b="1" dirty="0">
                <a:solidFill>
                  <a:schemeClr val="bg1"/>
                </a:solidFill>
              </a:rPr>
              <a:t>SEM LIGAÇÃO</a:t>
            </a:r>
            <a:endParaRPr lang="en-US" sz="1100" dirty="0"/>
          </a:p>
        </p:txBody>
      </p:sp>
      <p:sp>
        <p:nvSpPr>
          <p:cNvPr id="44" name="Shape 38"/>
          <p:cNvSpPr/>
          <p:nvPr/>
        </p:nvSpPr>
        <p:spPr>
          <a:xfrm>
            <a:off x="6263640" y="4754880"/>
            <a:ext cx="5166360" cy="1234440"/>
          </a:xfrm>
          <a:prstGeom prst="roundRect">
            <a:avLst>
              <a:gd name="adj" fmla="val 7407"/>
            </a:avLst>
          </a:prstGeom>
          <a:solidFill>
            <a:schemeClr val="bg2"/>
          </a:solidFill>
          <a:ln w="12700">
            <a:solidFill>
              <a:srgbClr val="D5DAE1"/>
            </a:solidFill>
            <a:prstDash val="solid"/>
          </a:ln>
        </p:spPr>
      </p:sp>
      <p:sp>
        <p:nvSpPr>
          <p:cNvPr id="45" name="Text 39"/>
          <p:cNvSpPr txBox="1"/>
          <p:nvPr/>
        </p:nvSpPr>
        <p:spPr>
          <a:xfrm>
            <a:off x="6446520" y="4846320"/>
            <a:ext cx="4572000" cy="256032"/>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REDE DA LOJA · o Vigia não lhe toca</a:t>
            </a:r>
            <a:endParaRPr lang="en-US" sz="1100" dirty="0"/>
          </a:p>
        </p:txBody>
      </p:sp>
      <p:sp>
        <p:nvSpPr>
          <p:cNvPr id="46" name="Text 40"/>
          <p:cNvSpPr txBox="1"/>
          <p:nvPr/>
        </p:nvSpPr>
        <p:spPr>
          <a:xfrm>
            <a:off x="6446520" y="5212080"/>
            <a:ext cx="1508760" cy="594360"/>
          </a:xfrm>
          <a:prstGeom prst="roundRect">
            <a:avLst>
              <a:gd name="adj" fmla="val 12308"/>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200" dirty="0">
                <a:solidFill>
                  <a:schemeClr val="tx2"/>
                </a:solidFill>
              </a:rPr>
              <a:t>POS / caixa</a:t>
            </a:r>
            <a:endParaRPr lang="en-US" sz="1200" dirty="0"/>
          </a:p>
        </p:txBody>
      </p:sp>
      <p:sp>
        <p:nvSpPr>
          <p:cNvPr id="47" name="Text 41"/>
          <p:cNvSpPr txBox="1"/>
          <p:nvPr/>
        </p:nvSpPr>
        <p:spPr>
          <a:xfrm>
            <a:off x="8092440" y="5212080"/>
            <a:ext cx="1645920" cy="594360"/>
          </a:xfrm>
          <a:prstGeom prst="roundRect">
            <a:avLst>
              <a:gd name="adj" fmla="val 12308"/>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200" dirty="0">
                <a:solidFill>
                  <a:schemeClr val="tx2"/>
                </a:solidFill>
              </a:rPr>
              <a:t>Controlador de bombas</a:t>
            </a:r>
            <a:endParaRPr lang="en-US" sz="1200" dirty="0"/>
          </a:p>
        </p:txBody>
      </p:sp>
      <p:sp>
        <p:nvSpPr>
          <p:cNvPr id="48" name="Text 42"/>
          <p:cNvSpPr txBox="1"/>
          <p:nvPr/>
        </p:nvSpPr>
        <p:spPr>
          <a:xfrm>
            <a:off x="9875520" y="5212080"/>
            <a:ext cx="1371600" cy="594360"/>
          </a:xfrm>
          <a:prstGeom prst="roundRect">
            <a:avLst>
              <a:gd name="adj" fmla="val 12308"/>
            </a:avLst>
          </a:prstGeom>
          <a:solidFill>
            <a:schemeClr val="bg1"/>
          </a:solidFill>
          <a:ln w="12700">
            <a:solidFill>
              <a:srgbClr val="D5DAE1"/>
            </a:solidFill>
            <a:prstDash val="solid"/>
          </a:ln>
        </p:spPr>
        <p:txBody>
          <a:bodyPr wrap="square" lIns="50800" tIns="50800" rIns="50800" bIns="50800" rtlCol="0" anchor="ctr"/>
          <a:lstStyle/>
          <a:p>
            <a:pPr algn="ctr" indent="0" marL="0">
              <a:buNone/>
            </a:pPr>
            <a:r>
              <a:rPr lang="en-US" sz="1200" dirty="0">
                <a:solidFill>
                  <a:schemeClr val="tx2"/>
                </a:solidFill>
              </a:rPr>
              <a:t>Router da loja</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04 · CAMADA 2 — O GATEWAY</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O gateway: pequeno, robusto e só de leitura</a:t>
            </a:r>
            <a:endParaRPr lang="en-US" sz="3400" dirty="0"/>
          </a:p>
        </p:txBody>
      </p:sp>
      <p:sp>
        <p:nvSpPr>
          <p:cNvPr id="4" name="Shape 2"/>
          <p:cNvSpPr/>
          <p:nvPr/>
        </p:nvSpPr>
        <p:spPr>
          <a:xfrm>
            <a:off x="1280160" y="1691640"/>
            <a:ext cx="914" cy="457200"/>
          </a:xfrm>
          <a:prstGeom prst="line">
            <a:avLst/>
          </a:prstGeom>
          <a:noFill/>
          <a:ln w="50800">
            <a:solidFill>
              <a:schemeClr val="tx1"/>
            </a:solidFill>
            <a:prstDash val="solid"/>
          </a:ln>
        </p:spPr>
      </p:sp>
      <p:sp>
        <p:nvSpPr>
          <p:cNvPr id="5" name="Shape 3"/>
          <p:cNvSpPr/>
          <p:nvPr/>
        </p:nvSpPr>
        <p:spPr>
          <a:xfrm>
            <a:off x="4023360" y="1691640"/>
            <a:ext cx="914" cy="457200"/>
          </a:xfrm>
          <a:prstGeom prst="line">
            <a:avLst/>
          </a:prstGeom>
          <a:noFill/>
          <a:ln w="50800">
            <a:solidFill>
              <a:schemeClr val="tx1"/>
            </a:solidFill>
            <a:prstDash val="solid"/>
          </a:ln>
        </p:spPr>
      </p:sp>
      <p:sp>
        <p:nvSpPr>
          <p:cNvPr id="6" name="Shape 4"/>
          <p:cNvSpPr/>
          <p:nvPr/>
        </p:nvSpPr>
        <p:spPr>
          <a:xfrm>
            <a:off x="548640" y="2103120"/>
            <a:ext cx="4206240" cy="2468880"/>
          </a:xfrm>
          <a:prstGeom prst="roundRect">
            <a:avLst>
              <a:gd name="adj" fmla="val 6667"/>
            </a:avLst>
          </a:prstGeom>
          <a:solidFill>
            <a:schemeClr val="tx1"/>
          </a:solidFill>
          <a:ln/>
        </p:spPr>
      </p:sp>
      <p:sp>
        <p:nvSpPr>
          <p:cNvPr id="7" name="Text 5"/>
          <p:cNvSpPr txBox="1"/>
          <p:nvPr/>
        </p:nvSpPr>
        <p:spPr>
          <a:xfrm>
            <a:off x="868680" y="2331720"/>
            <a:ext cx="2743200" cy="365760"/>
          </a:xfrm>
          <a:prstGeom prst="rect">
            <a:avLst/>
          </a:prstGeom>
          <a:noFill/>
          <a:ln/>
        </p:spPr>
        <p:txBody>
          <a:bodyPr wrap="square" lIns="0" tIns="0" rIns="0" bIns="0" rtlCol="0" anchor="t"/>
          <a:lstStyle/>
          <a:p>
            <a:pPr indent="0" marL="0">
              <a:buNone/>
            </a:pPr>
            <a:r>
              <a:rPr lang="en-US" sz="1800" b="1" dirty="0">
                <a:solidFill>
                  <a:schemeClr val="bg1"/>
                </a:solidFill>
                <a:latin typeface="Courier New" pitchFamily="34" charset="0"/>
                <a:ea typeface="Courier New" pitchFamily="34" charset="-122"/>
                <a:cs typeface="Courier New" pitchFamily="34" charset="-120"/>
              </a:rPr>
              <a:t>GATEWAY 4G</a:t>
            </a:r>
            <a:endParaRPr lang="en-US" sz="1800" dirty="0"/>
          </a:p>
        </p:txBody>
      </p:sp>
      <p:sp>
        <p:nvSpPr>
          <p:cNvPr id="8" name="Shape 6"/>
          <p:cNvSpPr/>
          <p:nvPr/>
        </p:nvSpPr>
        <p:spPr>
          <a:xfrm>
            <a:off x="3840480" y="2423160"/>
            <a:ext cx="137160" cy="137160"/>
          </a:xfrm>
          <a:prstGeom prst="ellipse">
            <a:avLst/>
          </a:prstGeom>
          <a:solidFill>
            <a:srgbClr val="1E7A46"/>
          </a:solidFill>
          <a:ln/>
        </p:spPr>
      </p:sp>
      <p:sp>
        <p:nvSpPr>
          <p:cNvPr id="9" name="Shape 7"/>
          <p:cNvSpPr/>
          <p:nvPr/>
        </p:nvSpPr>
        <p:spPr>
          <a:xfrm>
            <a:off x="4069080" y="2423160"/>
            <a:ext cx="137160" cy="137160"/>
          </a:xfrm>
          <a:prstGeom prst="ellipse">
            <a:avLst/>
          </a:prstGeom>
          <a:solidFill>
            <a:srgbClr val="E9A23B"/>
          </a:solidFill>
          <a:ln/>
        </p:spPr>
      </p:sp>
      <p:sp>
        <p:nvSpPr>
          <p:cNvPr id="10" name="Shape 8"/>
          <p:cNvSpPr/>
          <p:nvPr/>
        </p:nvSpPr>
        <p:spPr>
          <a:xfrm>
            <a:off x="4297680" y="2423160"/>
            <a:ext cx="137160" cy="137160"/>
          </a:xfrm>
          <a:prstGeom prst="ellipse">
            <a:avLst/>
          </a:prstGeom>
          <a:solidFill>
            <a:srgbClr val="A99CF0"/>
          </a:solidFill>
          <a:ln/>
        </p:spPr>
      </p:sp>
      <p:sp>
        <p:nvSpPr>
          <p:cNvPr id="11" name="Text 9"/>
          <p:cNvSpPr txBox="1"/>
          <p:nvPr/>
        </p:nvSpPr>
        <p:spPr>
          <a:xfrm>
            <a:off x="868680" y="3840480"/>
            <a:ext cx="685800" cy="411480"/>
          </a:xfrm>
          <a:prstGeom prst="roundRect">
            <a:avLst>
              <a:gd name="adj" fmla="val 11111"/>
            </a:avLst>
          </a:prstGeom>
          <a:solidFill>
            <a:srgbClr val="2A3A5E"/>
          </a:solidFill>
          <a:ln w="9525">
            <a:solidFill>
              <a:srgbClr val="8F98AD"/>
            </a:solidFill>
            <a:prstDash val="solid"/>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SIM 1</a:t>
            </a:r>
            <a:endParaRPr lang="en-US" sz="1100" dirty="0"/>
          </a:p>
        </p:txBody>
      </p:sp>
      <p:sp>
        <p:nvSpPr>
          <p:cNvPr id="12" name="Text 10"/>
          <p:cNvSpPr txBox="1"/>
          <p:nvPr/>
        </p:nvSpPr>
        <p:spPr>
          <a:xfrm>
            <a:off x="1645920" y="3840480"/>
            <a:ext cx="685800" cy="411480"/>
          </a:xfrm>
          <a:prstGeom prst="roundRect">
            <a:avLst>
              <a:gd name="adj" fmla="val 11111"/>
            </a:avLst>
          </a:prstGeom>
          <a:solidFill>
            <a:srgbClr val="2A3A5E"/>
          </a:solidFill>
          <a:ln w="9525">
            <a:solidFill>
              <a:srgbClr val="8F98AD"/>
            </a:solidFill>
            <a:prstDash val="solid"/>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SIM 2</a:t>
            </a:r>
            <a:endParaRPr lang="en-US" sz="1100" dirty="0"/>
          </a:p>
        </p:txBody>
      </p:sp>
      <p:sp>
        <p:nvSpPr>
          <p:cNvPr id="13" name="Text 11"/>
          <p:cNvSpPr txBox="1"/>
          <p:nvPr/>
        </p:nvSpPr>
        <p:spPr>
          <a:xfrm>
            <a:off x="2423160" y="3840480"/>
            <a:ext cx="777240" cy="411480"/>
          </a:xfrm>
          <a:prstGeom prst="roundRect">
            <a:avLst>
              <a:gd name="adj" fmla="val 11111"/>
            </a:avLst>
          </a:prstGeom>
          <a:solidFill>
            <a:srgbClr val="2A3A5E"/>
          </a:solidFill>
          <a:ln w="9525">
            <a:solidFill>
              <a:srgbClr val="8F98AD"/>
            </a:solidFill>
            <a:prstDash val="solid"/>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RS-232</a:t>
            </a:r>
            <a:endParaRPr lang="en-US" sz="1100" dirty="0"/>
          </a:p>
        </p:txBody>
      </p:sp>
      <p:sp>
        <p:nvSpPr>
          <p:cNvPr id="14" name="Text 12"/>
          <p:cNvSpPr txBox="1"/>
          <p:nvPr/>
        </p:nvSpPr>
        <p:spPr>
          <a:xfrm>
            <a:off x="3291840" y="3840480"/>
            <a:ext cx="685800" cy="411480"/>
          </a:xfrm>
          <a:prstGeom prst="roundRect">
            <a:avLst>
              <a:gd name="adj" fmla="val 11111"/>
            </a:avLst>
          </a:prstGeom>
          <a:solidFill>
            <a:srgbClr val="2A3A5E"/>
          </a:solidFill>
          <a:ln w="9525">
            <a:solidFill>
              <a:srgbClr val="8F98AD"/>
            </a:solidFill>
            <a:prstDash val="solid"/>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ETH</a:t>
            </a:r>
            <a:endParaRPr lang="en-US" sz="1100" dirty="0"/>
          </a:p>
        </p:txBody>
      </p:sp>
      <p:sp>
        <p:nvSpPr>
          <p:cNvPr id="15" name="Text 13"/>
          <p:cNvSpPr txBox="1"/>
          <p:nvPr/>
        </p:nvSpPr>
        <p:spPr>
          <a:xfrm>
            <a:off x="3931920" y="3840480"/>
            <a:ext cx="548640" cy="411480"/>
          </a:xfrm>
          <a:prstGeom prst="roundRect">
            <a:avLst>
              <a:gd name="adj" fmla="val 11111"/>
            </a:avLst>
          </a:prstGeom>
          <a:solidFill>
            <a:srgbClr val="2A3A5E"/>
          </a:solidFill>
          <a:ln w="9525">
            <a:solidFill>
              <a:srgbClr val="8F98AD"/>
            </a:solidFill>
            <a:prstDash val="solid"/>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DC</a:t>
            </a:r>
            <a:endParaRPr lang="en-US" sz="1100" dirty="0"/>
          </a:p>
        </p:txBody>
      </p:sp>
      <p:sp>
        <p:nvSpPr>
          <p:cNvPr id="16" name="Text 14"/>
          <p:cNvSpPr txBox="1"/>
          <p:nvPr/>
        </p:nvSpPr>
        <p:spPr>
          <a:xfrm>
            <a:off x="548640" y="4754880"/>
            <a:ext cx="4206240" cy="640080"/>
          </a:xfrm>
          <a:prstGeom prst="rect">
            <a:avLst/>
          </a:prstGeom>
          <a:noFill/>
          <a:ln/>
        </p:spPr>
        <p:txBody>
          <a:bodyPr wrap="square" lIns="0" tIns="0" rIns="0" bIns="0" rtlCol="0" anchor="t"/>
          <a:lstStyle/>
          <a:p>
            <a:pPr indent="0" marL="0">
              <a:buNone/>
            </a:pPr>
            <a:r>
              <a:rPr lang="en-US" sz="1400" dirty="0">
                <a:solidFill>
                  <a:schemeClr val="tx2"/>
                </a:solidFill>
              </a:rPr>
              <a:t>Do tamanho de um router · montado no escritório, ao lado da consola do medidor</a:t>
            </a:r>
            <a:endParaRPr lang="en-US" sz="1400" dirty="0"/>
          </a:p>
        </p:txBody>
      </p:sp>
      <p:sp>
        <p:nvSpPr>
          <p:cNvPr id="17" name="Shape 15"/>
          <p:cNvSpPr/>
          <p:nvPr/>
        </p:nvSpPr>
        <p:spPr>
          <a:xfrm>
            <a:off x="5212080" y="1600200"/>
            <a:ext cx="2011680" cy="1920240"/>
          </a:xfrm>
          <a:prstGeom prst="roundRect">
            <a:avLst>
              <a:gd name="adj" fmla="val 5714"/>
            </a:avLst>
          </a:prstGeom>
          <a:solidFill>
            <a:schemeClr val="bg2"/>
          </a:solidFill>
          <a:ln/>
        </p:spPr>
      </p:sp>
      <p:sp>
        <p:nvSpPr>
          <p:cNvPr id="18" name="Shape 16"/>
          <p:cNvSpPr/>
          <p:nvPr/>
        </p:nvSpPr>
        <p:spPr>
          <a:xfrm>
            <a:off x="5440680" y="1828800"/>
            <a:ext cx="594360" cy="594360"/>
          </a:xfrm>
          <a:prstGeom prst="ellipse">
            <a:avLst/>
          </a:prstGeom>
          <a:solidFill>
            <a:srgbClr val="5B4BC4"/>
          </a:solidFill>
          <a:ln/>
        </p:spPr>
      </p:sp>
      <p:pic>
        <p:nvPicPr>
          <p:cNvPr id="19" name="Image 0" descr="preencoded.png">    </p:cNvPr>
          <p:cNvPicPr>
            <a:picLocks noChangeAspect="1"/>
          </p:cNvPicPr>
          <p:nvPr/>
        </p:nvPicPr>
        <p:blipFill>
          <a:blip r:embed="rId1"/>
          <a:stretch>
            <a:fillRect/>
          </a:stretch>
        </p:blipFill>
        <p:spPr>
          <a:xfrm>
            <a:off x="5571439" y="1959559"/>
            <a:ext cx="332842" cy="332842"/>
          </a:xfrm>
          <a:prstGeom prst="rect">
            <a:avLst/>
          </a:prstGeom>
        </p:spPr>
      </p:pic>
      <p:sp>
        <p:nvSpPr>
          <p:cNvPr id="20" name="Text 17"/>
          <p:cNvSpPr txBox="1"/>
          <p:nvPr/>
        </p:nvSpPr>
        <p:spPr>
          <a:xfrm>
            <a:off x="5440680" y="2514600"/>
            <a:ext cx="1691640" cy="365760"/>
          </a:xfrm>
          <a:prstGeom prst="rect">
            <a:avLst/>
          </a:prstGeom>
          <a:noFill/>
          <a:ln/>
        </p:spPr>
        <p:txBody>
          <a:bodyPr wrap="square" lIns="0" tIns="0" rIns="0" bIns="0" rtlCol="0" anchor="t"/>
          <a:lstStyle/>
          <a:p>
            <a:pPr indent="0" marL="0">
              <a:buNone/>
            </a:pPr>
            <a:r>
              <a:rPr lang="en-US" sz="1600" b="1" dirty="0">
                <a:solidFill>
                  <a:schemeClr val="tx1"/>
                </a:solidFill>
              </a:rPr>
              <a:t>4G dual-SIM</a:t>
            </a:r>
            <a:endParaRPr lang="en-US" sz="1600" dirty="0"/>
          </a:p>
        </p:txBody>
      </p:sp>
      <p:sp>
        <p:nvSpPr>
          <p:cNvPr id="21" name="Text 18"/>
          <p:cNvSpPr txBox="1"/>
          <p:nvPr/>
        </p:nvSpPr>
        <p:spPr>
          <a:xfrm>
            <a:off x="5440680" y="2862072"/>
            <a:ext cx="1691640" cy="548640"/>
          </a:xfrm>
          <a:prstGeom prst="rect">
            <a:avLst/>
          </a:prstGeom>
          <a:noFill/>
          <a:ln/>
        </p:spPr>
        <p:txBody>
          <a:bodyPr wrap="square" lIns="0" tIns="0" rIns="0" bIns="0" rtlCol="0" anchor="t"/>
          <a:lstStyle/>
          <a:p>
            <a:pPr indent="0" marL="0">
              <a:buNone/>
            </a:pPr>
            <a:r>
              <a:rPr lang="en-US" sz="1300" dirty="0">
                <a:solidFill>
                  <a:schemeClr val="tx2"/>
                </a:solidFill>
              </a:rPr>
              <a:t>Dois operadores, troca automática</a:t>
            </a:r>
            <a:endParaRPr lang="en-US" sz="1300" dirty="0"/>
          </a:p>
        </p:txBody>
      </p:sp>
      <p:sp>
        <p:nvSpPr>
          <p:cNvPr id="22" name="Shape 19"/>
          <p:cNvSpPr/>
          <p:nvPr/>
        </p:nvSpPr>
        <p:spPr>
          <a:xfrm>
            <a:off x="7383780" y="1600200"/>
            <a:ext cx="2011680" cy="1920240"/>
          </a:xfrm>
          <a:prstGeom prst="roundRect">
            <a:avLst>
              <a:gd name="adj" fmla="val 5714"/>
            </a:avLst>
          </a:prstGeom>
          <a:solidFill>
            <a:schemeClr val="bg2"/>
          </a:solidFill>
          <a:ln/>
        </p:spPr>
      </p:sp>
      <p:sp>
        <p:nvSpPr>
          <p:cNvPr id="23" name="Shape 20"/>
          <p:cNvSpPr/>
          <p:nvPr/>
        </p:nvSpPr>
        <p:spPr>
          <a:xfrm>
            <a:off x="7612380" y="1828800"/>
            <a:ext cx="594360" cy="594360"/>
          </a:xfrm>
          <a:prstGeom prst="ellipse">
            <a:avLst/>
          </a:prstGeom>
          <a:solidFill>
            <a:srgbClr val="5B4BC4"/>
          </a:solidFill>
          <a:ln/>
        </p:spPr>
      </p:sp>
      <p:pic>
        <p:nvPicPr>
          <p:cNvPr id="24" name="Image 1" descr="preencoded.png">    </p:cNvPr>
          <p:cNvPicPr>
            <a:picLocks noChangeAspect="1"/>
          </p:cNvPicPr>
          <p:nvPr/>
        </p:nvPicPr>
        <p:blipFill>
          <a:blip r:embed="rId2"/>
          <a:stretch>
            <a:fillRect/>
          </a:stretch>
        </p:blipFill>
        <p:spPr>
          <a:xfrm>
            <a:off x="7743139" y="1959559"/>
            <a:ext cx="332842" cy="332842"/>
          </a:xfrm>
          <a:prstGeom prst="rect">
            <a:avLst/>
          </a:prstGeom>
        </p:spPr>
      </p:pic>
      <p:sp>
        <p:nvSpPr>
          <p:cNvPr id="25" name="Text 21"/>
          <p:cNvSpPr txBox="1"/>
          <p:nvPr/>
        </p:nvSpPr>
        <p:spPr>
          <a:xfrm>
            <a:off x="7612380" y="2514600"/>
            <a:ext cx="1691640" cy="365760"/>
          </a:xfrm>
          <a:prstGeom prst="rect">
            <a:avLst/>
          </a:prstGeom>
          <a:noFill/>
          <a:ln/>
        </p:spPr>
        <p:txBody>
          <a:bodyPr wrap="square" lIns="0" tIns="0" rIns="0" bIns="0" rtlCol="0" anchor="t"/>
          <a:lstStyle/>
          <a:p>
            <a:pPr indent="0" marL="0">
              <a:buNone/>
            </a:pPr>
            <a:r>
              <a:rPr lang="en-US" sz="1600" b="1" dirty="0">
                <a:solidFill>
                  <a:schemeClr val="tx1"/>
                </a:solidFill>
              </a:rPr>
              <a:t>RS-232 · Ethernet</a:t>
            </a:r>
            <a:endParaRPr lang="en-US" sz="1600" dirty="0"/>
          </a:p>
        </p:txBody>
      </p:sp>
      <p:sp>
        <p:nvSpPr>
          <p:cNvPr id="26" name="Text 22"/>
          <p:cNvSpPr txBox="1"/>
          <p:nvPr/>
        </p:nvSpPr>
        <p:spPr>
          <a:xfrm>
            <a:off x="7612380" y="2862072"/>
            <a:ext cx="1691640" cy="548640"/>
          </a:xfrm>
          <a:prstGeom prst="rect">
            <a:avLst/>
          </a:prstGeom>
          <a:noFill/>
          <a:ln/>
        </p:spPr>
        <p:txBody>
          <a:bodyPr wrap="square" lIns="0" tIns="0" rIns="0" bIns="0" rtlCol="0" anchor="t"/>
          <a:lstStyle/>
          <a:p>
            <a:pPr indent="0" marL="0">
              <a:buNone/>
            </a:pPr>
            <a:r>
              <a:rPr lang="en-US" sz="1300" dirty="0">
                <a:solidFill>
                  <a:schemeClr val="tx2"/>
                </a:solidFill>
              </a:rPr>
              <a:t>Liga-se à consola do medidor</a:t>
            </a:r>
            <a:endParaRPr lang="en-US" sz="1300" dirty="0"/>
          </a:p>
        </p:txBody>
      </p:sp>
      <p:sp>
        <p:nvSpPr>
          <p:cNvPr id="27" name="Shape 23"/>
          <p:cNvSpPr/>
          <p:nvPr/>
        </p:nvSpPr>
        <p:spPr>
          <a:xfrm>
            <a:off x="9555480" y="1600200"/>
            <a:ext cx="2011680" cy="1920240"/>
          </a:xfrm>
          <a:prstGeom prst="roundRect">
            <a:avLst>
              <a:gd name="adj" fmla="val 5714"/>
            </a:avLst>
          </a:prstGeom>
          <a:solidFill>
            <a:schemeClr val="bg2"/>
          </a:solidFill>
          <a:ln/>
        </p:spPr>
      </p:sp>
      <p:sp>
        <p:nvSpPr>
          <p:cNvPr id="28" name="Shape 24"/>
          <p:cNvSpPr/>
          <p:nvPr/>
        </p:nvSpPr>
        <p:spPr>
          <a:xfrm>
            <a:off x="9784080" y="1828800"/>
            <a:ext cx="594360" cy="594360"/>
          </a:xfrm>
          <a:prstGeom prst="ellipse">
            <a:avLst/>
          </a:prstGeom>
          <a:solidFill>
            <a:srgbClr val="5B4BC4"/>
          </a:solidFill>
          <a:ln/>
        </p:spPr>
      </p:sp>
      <p:pic>
        <p:nvPicPr>
          <p:cNvPr id="29" name="Image 2" descr="preencoded.png">    </p:cNvPr>
          <p:cNvPicPr>
            <a:picLocks noChangeAspect="1"/>
          </p:cNvPicPr>
          <p:nvPr/>
        </p:nvPicPr>
        <p:blipFill>
          <a:blip r:embed="rId3"/>
          <a:stretch>
            <a:fillRect/>
          </a:stretch>
        </p:blipFill>
        <p:spPr>
          <a:xfrm>
            <a:off x="9914839" y="1959559"/>
            <a:ext cx="332842" cy="332842"/>
          </a:xfrm>
          <a:prstGeom prst="rect">
            <a:avLst/>
          </a:prstGeom>
        </p:spPr>
      </p:pic>
      <p:sp>
        <p:nvSpPr>
          <p:cNvPr id="30" name="Text 25"/>
          <p:cNvSpPr txBox="1"/>
          <p:nvPr/>
        </p:nvSpPr>
        <p:spPr>
          <a:xfrm>
            <a:off x="9784080" y="2514600"/>
            <a:ext cx="1691640" cy="365760"/>
          </a:xfrm>
          <a:prstGeom prst="rect">
            <a:avLst/>
          </a:prstGeom>
          <a:noFill/>
          <a:ln/>
        </p:spPr>
        <p:txBody>
          <a:bodyPr wrap="square" lIns="0" tIns="0" rIns="0" bIns="0" rtlCol="0" anchor="t"/>
          <a:lstStyle/>
          <a:p>
            <a:pPr indent="0" marL="0">
              <a:buNone/>
            </a:pPr>
            <a:r>
              <a:rPr lang="en-US" sz="1600" b="1" dirty="0">
                <a:solidFill>
                  <a:schemeClr val="tx1"/>
                </a:solidFill>
              </a:rPr>
              <a:t>Bateria</a:t>
            </a:r>
            <a:endParaRPr lang="en-US" sz="1600" dirty="0"/>
          </a:p>
        </p:txBody>
      </p:sp>
      <p:sp>
        <p:nvSpPr>
          <p:cNvPr id="31" name="Text 26"/>
          <p:cNvSpPr txBox="1"/>
          <p:nvPr/>
        </p:nvSpPr>
        <p:spPr>
          <a:xfrm>
            <a:off x="9784080" y="2862072"/>
            <a:ext cx="1691640" cy="548640"/>
          </a:xfrm>
          <a:prstGeom prst="rect">
            <a:avLst/>
          </a:prstGeom>
          <a:noFill/>
          <a:ln/>
        </p:spPr>
        <p:txBody>
          <a:bodyPr wrap="square" lIns="0" tIns="0" rIns="0" bIns="0" rtlCol="0" anchor="t"/>
          <a:lstStyle/>
          <a:p>
            <a:pPr indent="0" marL="0">
              <a:buNone/>
            </a:pPr>
            <a:r>
              <a:rPr lang="en-US" sz="1300" dirty="0">
                <a:solidFill>
                  <a:schemeClr val="tx2"/>
                </a:solidFill>
              </a:rPr>
              <a:t>Continua a medir nos cortes</a:t>
            </a:r>
            <a:endParaRPr lang="en-US" sz="1300" dirty="0"/>
          </a:p>
        </p:txBody>
      </p:sp>
      <p:sp>
        <p:nvSpPr>
          <p:cNvPr id="32" name="Shape 27"/>
          <p:cNvSpPr/>
          <p:nvPr/>
        </p:nvSpPr>
        <p:spPr>
          <a:xfrm>
            <a:off x="5212080" y="3703320"/>
            <a:ext cx="2011680" cy="1920240"/>
          </a:xfrm>
          <a:prstGeom prst="roundRect">
            <a:avLst>
              <a:gd name="adj" fmla="val 5714"/>
            </a:avLst>
          </a:prstGeom>
          <a:solidFill>
            <a:schemeClr val="bg2"/>
          </a:solidFill>
          <a:ln/>
        </p:spPr>
      </p:sp>
      <p:sp>
        <p:nvSpPr>
          <p:cNvPr id="33" name="Shape 28"/>
          <p:cNvSpPr/>
          <p:nvPr/>
        </p:nvSpPr>
        <p:spPr>
          <a:xfrm>
            <a:off x="5440680" y="3931920"/>
            <a:ext cx="594360" cy="594360"/>
          </a:xfrm>
          <a:prstGeom prst="ellipse">
            <a:avLst/>
          </a:prstGeom>
          <a:solidFill>
            <a:srgbClr val="5B4BC4"/>
          </a:solidFill>
          <a:ln/>
        </p:spPr>
      </p:sp>
      <p:pic>
        <p:nvPicPr>
          <p:cNvPr id="34" name="Image 3" descr="preencoded.png">    </p:cNvPr>
          <p:cNvPicPr>
            <a:picLocks noChangeAspect="1"/>
          </p:cNvPicPr>
          <p:nvPr/>
        </p:nvPicPr>
        <p:blipFill>
          <a:blip r:embed="rId4"/>
          <a:stretch>
            <a:fillRect/>
          </a:stretch>
        </p:blipFill>
        <p:spPr>
          <a:xfrm>
            <a:off x="5571439" y="4062679"/>
            <a:ext cx="332842" cy="332842"/>
          </a:xfrm>
          <a:prstGeom prst="rect">
            <a:avLst/>
          </a:prstGeom>
        </p:spPr>
      </p:pic>
      <p:sp>
        <p:nvSpPr>
          <p:cNvPr id="35" name="Text 29"/>
          <p:cNvSpPr txBox="1"/>
          <p:nvPr/>
        </p:nvSpPr>
        <p:spPr>
          <a:xfrm>
            <a:off x="5440680" y="4617720"/>
            <a:ext cx="1691640" cy="365760"/>
          </a:xfrm>
          <a:prstGeom prst="rect">
            <a:avLst/>
          </a:prstGeom>
          <a:noFill/>
          <a:ln/>
        </p:spPr>
        <p:txBody>
          <a:bodyPr wrap="square" lIns="0" tIns="0" rIns="0" bIns="0" rtlCol="0" anchor="t"/>
          <a:lstStyle/>
          <a:p>
            <a:pPr indent="0" marL="0">
              <a:buNone/>
            </a:pPr>
            <a:r>
              <a:rPr lang="en-US" sz="1600" b="1" dirty="0">
                <a:solidFill>
                  <a:schemeClr val="tx1"/>
                </a:solidFill>
              </a:rPr>
              <a:t>30 dias de memória</a:t>
            </a:r>
            <a:endParaRPr lang="en-US" sz="1600" dirty="0"/>
          </a:p>
        </p:txBody>
      </p:sp>
      <p:sp>
        <p:nvSpPr>
          <p:cNvPr id="36" name="Text 30"/>
          <p:cNvSpPr txBox="1"/>
          <p:nvPr/>
        </p:nvSpPr>
        <p:spPr>
          <a:xfrm>
            <a:off x="5440680" y="4965192"/>
            <a:ext cx="1691640" cy="548640"/>
          </a:xfrm>
          <a:prstGeom prst="rect">
            <a:avLst/>
          </a:prstGeom>
          <a:noFill/>
          <a:ln/>
        </p:spPr>
        <p:txBody>
          <a:bodyPr wrap="square" lIns="0" tIns="0" rIns="0" bIns="0" rtlCol="0" anchor="t"/>
          <a:lstStyle/>
          <a:p>
            <a:pPr indent="0" marL="0">
              <a:buNone/>
            </a:pPr>
            <a:r>
              <a:rPr lang="en-US" sz="1300" dirty="0">
                <a:solidFill>
                  <a:schemeClr val="tx2"/>
                </a:solidFill>
              </a:rPr>
              <a:t>Nada se perde se a rede cair</a:t>
            </a:r>
            <a:endParaRPr lang="en-US" sz="1300" dirty="0"/>
          </a:p>
        </p:txBody>
      </p:sp>
      <p:sp>
        <p:nvSpPr>
          <p:cNvPr id="37" name="Shape 31"/>
          <p:cNvSpPr/>
          <p:nvPr/>
        </p:nvSpPr>
        <p:spPr>
          <a:xfrm>
            <a:off x="7383780" y="3703320"/>
            <a:ext cx="2011680" cy="1920240"/>
          </a:xfrm>
          <a:prstGeom prst="roundRect">
            <a:avLst>
              <a:gd name="adj" fmla="val 5714"/>
            </a:avLst>
          </a:prstGeom>
          <a:solidFill>
            <a:schemeClr val="bg2"/>
          </a:solidFill>
          <a:ln/>
        </p:spPr>
      </p:sp>
      <p:sp>
        <p:nvSpPr>
          <p:cNvPr id="38" name="Shape 32"/>
          <p:cNvSpPr/>
          <p:nvPr/>
        </p:nvSpPr>
        <p:spPr>
          <a:xfrm>
            <a:off x="7612380" y="3931920"/>
            <a:ext cx="594360" cy="594360"/>
          </a:xfrm>
          <a:prstGeom prst="ellipse">
            <a:avLst/>
          </a:prstGeom>
          <a:solidFill>
            <a:srgbClr val="5B4BC4"/>
          </a:solidFill>
          <a:ln/>
        </p:spPr>
      </p:sp>
      <p:pic>
        <p:nvPicPr>
          <p:cNvPr id="39" name="Image 4" descr="preencoded.png">    </p:cNvPr>
          <p:cNvPicPr>
            <a:picLocks noChangeAspect="1"/>
          </p:cNvPicPr>
          <p:nvPr/>
        </p:nvPicPr>
        <p:blipFill>
          <a:blip r:embed="rId5"/>
          <a:stretch>
            <a:fillRect/>
          </a:stretch>
        </p:blipFill>
        <p:spPr>
          <a:xfrm>
            <a:off x="7743139" y="4062679"/>
            <a:ext cx="332842" cy="332842"/>
          </a:xfrm>
          <a:prstGeom prst="rect">
            <a:avLst/>
          </a:prstGeom>
        </p:spPr>
      </p:pic>
      <p:sp>
        <p:nvSpPr>
          <p:cNvPr id="40" name="Text 33"/>
          <p:cNvSpPr txBox="1"/>
          <p:nvPr/>
        </p:nvSpPr>
        <p:spPr>
          <a:xfrm>
            <a:off x="7612380" y="4617720"/>
            <a:ext cx="1691640" cy="365760"/>
          </a:xfrm>
          <a:prstGeom prst="rect">
            <a:avLst/>
          </a:prstGeom>
          <a:noFill/>
          <a:ln/>
        </p:spPr>
        <p:txBody>
          <a:bodyPr wrap="square" lIns="0" tIns="0" rIns="0" bIns="0" rtlCol="0" anchor="t"/>
          <a:lstStyle/>
          <a:p>
            <a:pPr indent="0" marL="0">
              <a:buNone/>
            </a:pPr>
            <a:r>
              <a:rPr lang="en-US" sz="1600" b="1" dirty="0">
                <a:solidFill>
                  <a:schemeClr val="tx1"/>
                </a:solidFill>
              </a:rPr>
              <a:t>TLS + certificado</a:t>
            </a:r>
            <a:endParaRPr lang="en-US" sz="1600" dirty="0"/>
          </a:p>
        </p:txBody>
      </p:sp>
      <p:sp>
        <p:nvSpPr>
          <p:cNvPr id="41" name="Text 34"/>
          <p:cNvSpPr txBox="1"/>
          <p:nvPr/>
        </p:nvSpPr>
        <p:spPr>
          <a:xfrm>
            <a:off x="7612380" y="4965192"/>
            <a:ext cx="1691640" cy="548640"/>
          </a:xfrm>
          <a:prstGeom prst="rect">
            <a:avLst/>
          </a:prstGeom>
          <a:noFill/>
          <a:ln/>
        </p:spPr>
        <p:txBody>
          <a:bodyPr wrap="square" lIns="0" tIns="0" rIns="0" bIns="0" rtlCol="0" anchor="t"/>
          <a:lstStyle/>
          <a:p>
            <a:pPr indent="0" marL="0">
              <a:buNone/>
            </a:pPr>
            <a:r>
              <a:rPr lang="en-US" sz="1300" dirty="0">
                <a:solidFill>
                  <a:schemeClr val="tx2"/>
                </a:solidFill>
              </a:rPr>
              <a:t>Cifrado, com identidade única</a:t>
            </a:r>
            <a:endParaRPr lang="en-US" sz="1300" dirty="0"/>
          </a:p>
        </p:txBody>
      </p:sp>
      <p:sp>
        <p:nvSpPr>
          <p:cNvPr id="42" name="Shape 35"/>
          <p:cNvSpPr/>
          <p:nvPr/>
        </p:nvSpPr>
        <p:spPr>
          <a:xfrm>
            <a:off x="9555480" y="3703320"/>
            <a:ext cx="2011680" cy="1920240"/>
          </a:xfrm>
          <a:prstGeom prst="roundRect">
            <a:avLst>
              <a:gd name="adj" fmla="val 5714"/>
            </a:avLst>
          </a:prstGeom>
          <a:solidFill>
            <a:schemeClr val="bg2"/>
          </a:solidFill>
          <a:ln/>
        </p:spPr>
      </p:sp>
      <p:sp>
        <p:nvSpPr>
          <p:cNvPr id="43" name="Shape 36"/>
          <p:cNvSpPr/>
          <p:nvPr/>
        </p:nvSpPr>
        <p:spPr>
          <a:xfrm>
            <a:off x="9784080" y="3931920"/>
            <a:ext cx="594360" cy="594360"/>
          </a:xfrm>
          <a:prstGeom prst="ellipse">
            <a:avLst/>
          </a:prstGeom>
          <a:solidFill>
            <a:srgbClr val="5B4BC4"/>
          </a:solidFill>
          <a:ln/>
        </p:spPr>
      </p:sp>
      <p:pic>
        <p:nvPicPr>
          <p:cNvPr id="44" name="Image 5" descr="preencoded.png">    </p:cNvPr>
          <p:cNvPicPr>
            <a:picLocks noChangeAspect="1"/>
          </p:cNvPicPr>
          <p:nvPr/>
        </p:nvPicPr>
        <p:blipFill>
          <a:blip r:embed="rId6"/>
          <a:stretch>
            <a:fillRect/>
          </a:stretch>
        </p:blipFill>
        <p:spPr>
          <a:xfrm>
            <a:off x="9914839" y="4062679"/>
            <a:ext cx="332842" cy="332842"/>
          </a:xfrm>
          <a:prstGeom prst="rect">
            <a:avLst/>
          </a:prstGeom>
        </p:spPr>
      </p:pic>
      <p:sp>
        <p:nvSpPr>
          <p:cNvPr id="45" name="Text 37"/>
          <p:cNvSpPr txBox="1"/>
          <p:nvPr/>
        </p:nvSpPr>
        <p:spPr>
          <a:xfrm>
            <a:off x="9784080" y="4617720"/>
            <a:ext cx="1691640" cy="365760"/>
          </a:xfrm>
          <a:prstGeom prst="rect">
            <a:avLst/>
          </a:prstGeom>
          <a:noFill/>
          <a:ln/>
        </p:spPr>
        <p:txBody>
          <a:bodyPr wrap="square" lIns="0" tIns="0" rIns="0" bIns="0" rtlCol="0" anchor="t"/>
          <a:lstStyle/>
          <a:p>
            <a:pPr indent="0" marL="0">
              <a:buNone/>
            </a:pPr>
            <a:r>
              <a:rPr lang="en-US" sz="1600" b="1" dirty="0">
                <a:solidFill>
                  <a:schemeClr val="tx1"/>
                </a:solidFill>
              </a:rPr>
              <a:t>Gama industrial</a:t>
            </a:r>
            <a:endParaRPr lang="en-US" sz="1600" dirty="0"/>
          </a:p>
        </p:txBody>
      </p:sp>
      <p:sp>
        <p:nvSpPr>
          <p:cNvPr id="46" name="Text 38"/>
          <p:cNvSpPr txBox="1"/>
          <p:nvPr/>
        </p:nvSpPr>
        <p:spPr>
          <a:xfrm>
            <a:off x="9784080" y="4965192"/>
            <a:ext cx="1691640" cy="548640"/>
          </a:xfrm>
          <a:prstGeom prst="rect">
            <a:avLst/>
          </a:prstGeom>
          <a:noFill/>
          <a:ln/>
        </p:spPr>
        <p:txBody>
          <a:bodyPr wrap="square" lIns="0" tIns="0" rIns="0" bIns="0" rtlCol="0" anchor="t"/>
          <a:lstStyle/>
          <a:p>
            <a:pPr indent="0" marL="0">
              <a:buNone/>
            </a:pPr>
            <a:r>
              <a:rPr lang="en-US" sz="1300" dirty="0">
                <a:solidFill>
                  <a:schemeClr val="tx2"/>
                </a:solidFill>
              </a:rPr>
              <a:t>−20 a +70 °C · calha DIN</a:t>
            </a:r>
            <a:endParaRPr lang="en-US" sz="1300" dirty="0"/>
          </a:p>
        </p:txBody>
      </p:sp>
      <p:sp>
        <p:nvSpPr>
          <p:cNvPr id="47" name="Text 39"/>
          <p:cNvSpPr txBox="1"/>
          <p:nvPr/>
        </p:nvSpPr>
        <p:spPr>
          <a:xfrm>
            <a:off x="5212080" y="5852160"/>
            <a:ext cx="6446520" cy="274320"/>
          </a:xfrm>
          <a:prstGeom prst="rect">
            <a:avLst/>
          </a:prstGeom>
          <a:noFill/>
          <a:ln/>
        </p:spPr>
        <p:txBody>
          <a:bodyPr wrap="square" lIns="0" tIns="0" rIns="0" bIns="0" rtlCol="0" anchor="t"/>
          <a:lstStyle/>
          <a:p>
            <a:pPr indent="0" marL="0">
              <a:buNone/>
            </a:pPr>
            <a:r>
              <a:rPr lang="en-US" sz="1100" dirty="0">
                <a:solidFill>
                  <a:schemeClr val="tx2"/>
                </a:solidFill>
              </a:rPr>
              <a:t>Exemplos de classe: Teltonika RUT, Moxa, Advantech — escolha final após o levantamento.</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05 · CAMADA 3 — REDE NACIONAL</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Topologia em estrela: cada posto fala direto com a plataforma</a:t>
            </a:r>
            <a:endParaRPr lang="en-US" sz="3400" dirty="0"/>
          </a:p>
        </p:txBody>
      </p:sp>
      <p:sp>
        <p:nvSpPr>
          <p:cNvPr id="4" name="Text 2"/>
          <p:cNvSpPr txBox="1"/>
          <p:nvPr/>
        </p:nvSpPr>
        <p:spPr>
          <a:xfrm>
            <a:off x="548640" y="1508760"/>
            <a:ext cx="2651760" cy="594360"/>
          </a:xfrm>
          <a:prstGeom prst="roundRect">
            <a:avLst>
              <a:gd name="adj" fmla="val 12308"/>
            </a:avLst>
          </a:prstGeom>
          <a:solidFill>
            <a:schemeClr val="bg1"/>
          </a:solidFill>
          <a:ln w="12700">
            <a:solidFill>
              <a:srgbClr val="14213D"/>
            </a:solidFill>
            <a:prstDash val="solid"/>
          </a:ln>
        </p:spPr>
        <p:txBody>
          <a:bodyPr wrap="square" lIns="38100" tIns="101600" rIns="101600" bIns="38100" rtlCol="0" anchor="ctr"/>
          <a:lstStyle/>
          <a:p>
            <a:pPr algn="l" indent="0" marL="0">
              <a:buNone/>
            </a:pPr>
            <a:r>
              <a:rPr lang="en-US" sz="1300" b="1" dirty="0">
                <a:solidFill>
                  <a:schemeClr val="tx1"/>
                </a:solidFill>
              </a:rPr>
              <a:t>Talatona · Luanda</a:t>
            </a:r>
            <a:endParaRPr lang="en-US" sz="1400" dirty="0"/>
          </a:p>
          <a:p>
            <a:pPr algn="l" indent="0" marL="0">
              <a:buNone/>
            </a:pPr>
            <a:r>
              <a:rPr lang="en-US" sz="1200" dirty="0">
                <a:solidFill>
                  <a:schemeClr val="tx2"/>
                </a:solidFill>
              </a:rPr>
              <a:t>Unitel + Africell (reserva)</a:t>
            </a:r>
            <a:endParaRPr lang="en-US" sz="1400" dirty="0"/>
          </a:p>
        </p:txBody>
      </p:sp>
      <p:sp>
        <p:nvSpPr>
          <p:cNvPr id="5" name="Text 3"/>
          <p:cNvSpPr txBox="1"/>
          <p:nvPr/>
        </p:nvSpPr>
        <p:spPr>
          <a:xfrm>
            <a:off x="548640" y="2286000"/>
            <a:ext cx="2651760" cy="594360"/>
          </a:xfrm>
          <a:prstGeom prst="roundRect">
            <a:avLst>
              <a:gd name="adj" fmla="val 12308"/>
            </a:avLst>
          </a:prstGeom>
          <a:solidFill>
            <a:schemeClr val="bg1"/>
          </a:solidFill>
          <a:ln w="12700">
            <a:solidFill>
              <a:srgbClr val="14213D"/>
            </a:solidFill>
            <a:prstDash val="solid"/>
          </a:ln>
        </p:spPr>
        <p:txBody>
          <a:bodyPr wrap="square" lIns="38100" tIns="101600" rIns="101600" bIns="38100" rtlCol="0" anchor="ctr"/>
          <a:lstStyle/>
          <a:p>
            <a:pPr algn="l" indent="0" marL="0">
              <a:buNone/>
            </a:pPr>
            <a:r>
              <a:rPr lang="en-US" sz="1300" b="1" dirty="0">
                <a:solidFill>
                  <a:schemeClr val="tx1"/>
                </a:solidFill>
              </a:rPr>
              <a:t>Kilamba Kiaxi · Luanda</a:t>
            </a:r>
            <a:endParaRPr lang="en-US" sz="1400" dirty="0"/>
          </a:p>
          <a:p>
            <a:pPr algn="l" indent="0" marL="0">
              <a:buNone/>
            </a:pPr>
            <a:r>
              <a:rPr lang="en-US" sz="1200" dirty="0">
                <a:solidFill>
                  <a:schemeClr val="tx2"/>
                </a:solidFill>
              </a:rPr>
              <a:t>Unitel + Movicel (reserva)</a:t>
            </a:r>
            <a:endParaRPr lang="en-US" sz="1400" dirty="0"/>
          </a:p>
        </p:txBody>
      </p:sp>
      <p:sp>
        <p:nvSpPr>
          <p:cNvPr id="6" name="Text 4"/>
          <p:cNvSpPr txBox="1"/>
          <p:nvPr/>
        </p:nvSpPr>
        <p:spPr>
          <a:xfrm>
            <a:off x="548640" y="3063240"/>
            <a:ext cx="2651760" cy="594360"/>
          </a:xfrm>
          <a:prstGeom prst="roundRect">
            <a:avLst>
              <a:gd name="adj" fmla="val 12308"/>
            </a:avLst>
          </a:prstGeom>
          <a:solidFill>
            <a:schemeClr val="bg1"/>
          </a:solidFill>
          <a:ln w="12700">
            <a:solidFill>
              <a:srgbClr val="14213D"/>
            </a:solidFill>
            <a:prstDash val="solid"/>
          </a:ln>
        </p:spPr>
        <p:txBody>
          <a:bodyPr wrap="square" lIns="38100" tIns="101600" rIns="101600" bIns="38100" rtlCol="0" anchor="ctr"/>
          <a:lstStyle/>
          <a:p>
            <a:pPr algn="l" indent="0" marL="0">
              <a:buNone/>
            </a:pPr>
            <a:r>
              <a:rPr lang="en-US" sz="1300" b="1" dirty="0">
                <a:solidFill>
                  <a:schemeClr val="tx1"/>
                </a:solidFill>
              </a:rPr>
              <a:t>Viana · Luanda</a:t>
            </a:r>
            <a:endParaRPr lang="en-US" sz="1400" dirty="0"/>
          </a:p>
          <a:p>
            <a:pPr algn="l" indent="0" marL="0">
              <a:buNone/>
            </a:pPr>
            <a:r>
              <a:rPr lang="en-US" sz="1200" dirty="0">
                <a:solidFill>
                  <a:schemeClr val="tx2"/>
                </a:solidFill>
              </a:rPr>
              <a:t>Africell + fibra do posto</a:t>
            </a:r>
            <a:endParaRPr lang="en-US" sz="1400" dirty="0"/>
          </a:p>
        </p:txBody>
      </p:sp>
      <p:sp>
        <p:nvSpPr>
          <p:cNvPr id="7" name="Text 5"/>
          <p:cNvSpPr txBox="1"/>
          <p:nvPr/>
        </p:nvSpPr>
        <p:spPr>
          <a:xfrm>
            <a:off x="548640" y="3840480"/>
            <a:ext cx="2651760" cy="594360"/>
          </a:xfrm>
          <a:prstGeom prst="roundRect">
            <a:avLst>
              <a:gd name="adj" fmla="val 12308"/>
            </a:avLst>
          </a:prstGeom>
          <a:solidFill>
            <a:schemeClr val="bg1"/>
          </a:solidFill>
          <a:ln w="12700">
            <a:solidFill>
              <a:srgbClr val="14213D"/>
            </a:solidFill>
            <a:prstDash val="solid"/>
          </a:ln>
        </p:spPr>
        <p:txBody>
          <a:bodyPr wrap="square" lIns="38100" tIns="101600" rIns="101600" bIns="38100" rtlCol="0" anchor="ctr"/>
          <a:lstStyle/>
          <a:p>
            <a:pPr algn="l" indent="0" marL="0">
              <a:buNone/>
            </a:pPr>
            <a:r>
              <a:rPr lang="en-US" sz="1300" b="1" dirty="0">
                <a:solidFill>
                  <a:schemeClr val="tx1"/>
                </a:solidFill>
              </a:rPr>
              <a:t>Lobito · Benguela</a:t>
            </a:r>
            <a:endParaRPr lang="en-US" sz="1400" dirty="0"/>
          </a:p>
          <a:p>
            <a:pPr algn="l" indent="0" marL="0">
              <a:buNone/>
            </a:pPr>
            <a:r>
              <a:rPr lang="en-US" sz="1200" dirty="0">
                <a:solidFill>
                  <a:schemeClr val="tx2"/>
                </a:solidFill>
              </a:rPr>
              <a:t>Movicel + Unitel (reserva)</a:t>
            </a:r>
            <a:endParaRPr lang="en-US" sz="1400" dirty="0"/>
          </a:p>
        </p:txBody>
      </p:sp>
      <p:sp>
        <p:nvSpPr>
          <p:cNvPr id="8" name="Text 6"/>
          <p:cNvSpPr txBox="1"/>
          <p:nvPr/>
        </p:nvSpPr>
        <p:spPr>
          <a:xfrm>
            <a:off x="548640" y="4617720"/>
            <a:ext cx="2651760" cy="594360"/>
          </a:xfrm>
          <a:prstGeom prst="roundRect">
            <a:avLst>
              <a:gd name="adj" fmla="val 12308"/>
            </a:avLst>
          </a:prstGeom>
          <a:solidFill>
            <a:schemeClr val="bg1"/>
          </a:solidFill>
          <a:ln w="12700">
            <a:solidFill>
              <a:srgbClr val="14213D"/>
            </a:solidFill>
            <a:prstDash val="solid"/>
          </a:ln>
        </p:spPr>
        <p:txBody>
          <a:bodyPr wrap="square" lIns="38100" tIns="101600" rIns="101600" bIns="38100" rtlCol="0" anchor="ctr"/>
          <a:lstStyle/>
          <a:p>
            <a:pPr algn="l" indent="0" marL="0">
              <a:buNone/>
            </a:pPr>
            <a:r>
              <a:rPr lang="en-US" sz="1300" b="1" dirty="0">
                <a:solidFill>
                  <a:schemeClr val="tx1"/>
                </a:solidFill>
              </a:rPr>
              <a:t>Posto rural (EN)</a:t>
            </a:r>
            <a:endParaRPr lang="en-US" sz="1400" dirty="0"/>
          </a:p>
          <a:p>
            <a:pPr algn="l" indent="0" marL="0">
              <a:buNone/>
            </a:pPr>
            <a:r>
              <a:rPr lang="en-US" sz="1200" dirty="0">
                <a:solidFill>
                  <a:schemeClr val="tx2"/>
                </a:solidFill>
              </a:rPr>
              <a:t>VSAT · sem cobertura móvel</a:t>
            </a:r>
            <a:endParaRPr lang="en-US" sz="1400" dirty="0"/>
          </a:p>
        </p:txBody>
      </p:sp>
      <p:sp>
        <p:nvSpPr>
          <p:cNvPr id="9" name="Text 7"/>
          <p:cNvSpPr txBox="1"/>
          <p:nvPr/>
        </p:nvSpPr>
        <p:spPr>
          <a:xfrm>
            <a:off x="548640" y="5349240"/>
            <a:ext cx="2651760" cy="274320"/>
          </a:xfrm>
          <a:prstGeom prst="rect">
            <a:avLst/>
          </a:prstGeom>
          <a:noFill/>
          <a:ln/>
        </p:spPr>
        <p:txBody>
          <a:bodyPr wrap="square" lIns="0" tIns="0" rIns="0" bIns="0" rtlCol="0" anchor="t"/>
          <a:lstStyle/>
          <a:p>
            <a:pPr indent="0" marL="0">
              <a:buNone/>
            </a:pPr>
            <a:r>
              <a:rPr lang="en-US" sz="1200" i="1" dirty="0">
                <a:solidFill>
                  <a:schemeClr val="tx2"/>
                </a:solidFill>
              </a:rPr>
              <a:t>… até 326 postos</a:t>
            </a:r>
            <a:endParaRPr lang="en-US" sz="1200" dirty="0"/>
          </a:p>
        </p:txBody>
      </p:sp>
      <p:sp>
        <p:nvSpPr>
          <p:cNvPr id="10" name="Text 8"/>
          <p:cNvSpPr txBox="1"/>
          <p:nvPr/>
        </p:nvSpPr>
        <p:spPr>
          <a:xfrm>
            <a:off x="3931920" y="1691640"/>
            <a:ext cx="1828800" cy="548640"/>
          </a:xfrm>
          <a:prstGeom prst="roundRect">
            <a:avLst>
              <a:gd name="adj" fmla="val 50000"/>
            </a:avLst>
          </a:prstGeom>
          <a:solidFill>
            <a:schemeClr val="accent1">
              <a:alpha val="12000"/>
            </a:schemeClr>
          </a:solidFill>
          <a:ln w="12700">
            <a:solidFill>
              <a:srgbClr val="5B4BC4"/>
            </a:solidFill>
            <a:prstDash val="solid"/>
          </a:ln>
        </p:spPr>
        <p:txBody>
          <a:bodyPr wrap="square" lIns="50800" tIns="50800" rIns="50800" bIns="50800" rtlCol="0" anchor="ctr"/>
          <a:lstStyle/>
          <a:p>
            <a:pPr algn="ctr" indent="0" marL="0">
              <a:buNone/>
            </a:pPr>
            <a:r>
              <a:rPr lang="en-US" sz="1500" b="1" dirty="0">
                <a:solidFill>
                  <a:schemeClr val="tx1"/>
                </a:solidFill>
              </a:rPr>
              <a:t>Unitel</a:t>
            </a:r>
            <a:endParaRPr lang="en-US" sz="1500" dirty="0"/>
          </a:p>
        </p:txBody>
      </p:sp>
      <p:sp>
        <p:nvSpPr>
          <p:cNvPr id="11" name="Text 9"/>
          <p:cNvSpPr txBox="1"/>
          <p:nvPr/>
        </p:nvSpPr>
        <p:spPr>
          <a:xfrm>
            <a:off x="3931920" y="2651760"/>
            <a:ext cx="1828800" cy="548640"/>
          </a:xfrm>
          <a:prstGeom prst="roundRect">
            <a:avLst>
              <a:gd name="adj" fmla="val 50000"/>
            </a:avLst>
          </a:prstGeom>
          <a:solidFill>
            <a:schemeClr val="accent1">
              <a:alpha val="12000"/>
            </a:schemeClr>
          </a:solidFill>
          <a:ln w="12700">
            <a:solidFill>
              <a:srgbClr val="5B4BC4"/>
            </a:solidFill>
            <a:prstDash val="solid"/>
          </a:ln>
        </p:spPr>
        <p:txBody>
          <a:bodyPr wrap="square" lIns="50800" tIns="50800" rIns="50800" bIns="50800" rtlCol="0" anchor="ctr"/>
          <a:lstStyle/>
          <a:p>
            <a:pPr algn="ctr" indent="0" marL="0">
              <a:buNone/>
            </a:pPr>
            <a:r>
              <a:rPr lang="en-US" sz="1500" b="1" dirty="0">
                <a:solidFill>
                  <a:schemeClr val="tx1"/>
                </a:solidFill>
              </a:rPr>
              <a:t>Africell</a:t>
            </a:r>
            <a:endParaRPr lang="en-US" sz="1500" dirty="0"/>
          </a:p>
        </p:txBody>
      </p:sp>
      <p:sp>
        <p:nvSpPr>
          <p:cNvPr id="12" name="Text 10"/>
          <p:cNvSpPr txBox="1"/>
          <p:nvPr/>
        </p:nvSpPr>
        <p:spPr>
          <a:xfrm>
            <a:off x="3931920" y="3611880"/>
            <a:ext cx="1828800" cy="548640"/>
          </a:xfrm>
          <a:prstGeom prst="roundRect">
            <a:avLst>
              <a:gd name="adj" fmla="val 50000"/>
            </a:avLst>
          </a:prstGeom>
          <a:solidFill>
            <a:schemeClr val="accent1">
              <a:alpha val="12000"/>
            </a:schemeClr>
          </a:solidFill>
          <a:ln w="12700">
            <a:solidFill>
              <a:srgbClr val="5B4BC4"/>
            </a:solidFill>
            <a:prstDash val="solid"/>
          </a:ln>
        </p:spPr>
        <p:txBody>
          <a:bodyPr wrap="square" lIns="50800" tIns="50800" rIns="50800" bIns="50800" rtlCol="0" anchor="ctr"/>
          <a:lstStyle/>
          <a:p>
            <a:pPr algn="ctr" indent="0" marL="0">
              <a:buNone/>
            </a:pPr>
            <a:r>
              <a:rPr lang="en-US" sz="1500" b="1" dirty="0">
                <a:solidFill>
                  <a:schemeClr val="tx1"/>
                </a:solidFill>
              </a:rPr>
              <a:t>Movicel</a:t>
            </a:r>
            <a:endParaRPr lang="en-US" sz="1500" dirty="0"/>
          </a:p>
        </p:txBody>
      </p:sp>
      <p:sp>
        <p:nvSpPr>
          <p:cNvPr id="13" name="Text 11"/>
          <p:cNvSpPr txBox="1"/>
          <p:nvPr/>
        </p:nvSpPr>
        <p:spPr>
          <a:xfrm>
            <a:off x="3931920" y="4572000"/>
            <a:ext cx="1828800" cy="548640"/>
          </a:xfrm>
          <a:prstGeom prst="roundRect">
            <a:avLst>
              <a:gd name="adj" fmla="val 50000"/>
            </a:avLst>
          </a:prstGeom>
          <a:solidFill>
            <a:schemeClr val="accent1">
              <a:alpha val="12000"/>
            </a:schemeClr>
          </a:solidFill>
          <a:ln w="12700">
            <a:solidFill>
              <a:srgbClr val="5B4BC4"/>
            </a:solidFill>
            <a:prstDash val="solid"/>
          </a:ln>
        </p:spPr>
        <p:txBody>
          <a:bodyPr wrap="square" lIns="50800" tIns="50800" rIns="50800" bIns="50800" rtlCol="0" anchor="ctr"/>
          <a:lstStyle/>
          <a:p>
            <a:pPr algn="ctr" indent="0" marL="0">
              <a:buNone/>
            </a:pPr>
            <a:r>
              <a:rPr lang="en-US" sz="1500" b="1" dirty="0">
                <a:solidFill>
                  <a:schemeClr val="tx1"/>
                </a:solidFill>
              </a:rPr>
              <a:t>Satélite</a:t>
            </a:r>
            <a:endParaRPr lang="en-US" sz="1500" dirty="0"/>
          </a:p>
        </p:txBody>
      </p:sp>
      <p:sp>
        <p:nvSpPr>
          <p:cNvPr id="14" name="Shape 12"/>
          <p:cNvSpPr/>
          <p:nvPr/>
        </p:nvSpPr>
        <p:spPr>
          <a:xfrm>
            <a:off x="3200400" y="1801368"/>
            <a:ext cx="731520" cy="100584"/>
          </a:xfrm>
          <a:prstGeom prst="line">
            <a:avLst/>
          </a:prstGeom>
          <a:noFill/>
          <a:ln w="19050">
            <a:solidFill>
              <a:schemeClr val="accent1"/>
            </a:solidFill>
            <a:prstDash val="solid"/>
            <a:tailEnd type="triangle"/>
          </a:ln>
        </p:spPr>
      </p:sp>
      <p:sp>
        <p:nvSpPr>
          <p:cNvPr id="15" name="Shape 13"/>
          <p:cNvSpPr/>
          <p:nvPr/>
        </p:nvSpPr>
        <p:spPr>
          <a:xfrm flipV="1">
            <a:off x="3200400" y="2029968"/>
            <a:ext cx="731520" cy="548640"/>
          </a:xfrm>
          <a:prstGeom prst="line">
            <a:avLst/>
          </a:prstGeom>
          <a:noFill/>
          <a:ln w="19050">
            <a:solidFill>
              <a:schemeClr val="accent1"/>
            </a:solidFill>
            <a:prstDash val="solid"/>
            <a:tailEnd type="triangle"/>
          </a:ln>
        </p:spPr>
      </p:sp>
      <p:sp>
        <p:nvSpPr>
          <p:cNvPr id="16" name="Shape 14"/>
          <p:cNvSpPr/>
          <p:nvPr/>
        </p:nvSpPr>
        <p:spPr>
          <a:xfrm flipV="1">
            <a:off x="3200400" y="2926080"/>
            <a:ext cx="731520" cy="429768"/>
          </a:xfrm>
          <a:prstGeom prst="line">
            <a:avLst/>
          </a:prstGeom>
          <a:noFill/>
          <a:ln w="19050">
            <a:solidFill>
              <a:schemeClr val="accent1"/>
            </a:solidFill>
            <a:prstDash val="solid"/>
            <a:tailEnd type="triangle"/>
          </a:ln>
        </p:spPr>
      </p:sp>
      <p:sp>
        <p:nvSpPr>
          <p:cNvPr id="17" name="Shape 15"/>
          <p:cNvSpPr/>
          <p:nvPr/>
        </p:nvSpPr>
        <p:spPr>
          <a:xfrm flipV="1">
            <a:off x="3200400" y="3886200"/>
            <a:ext cx="731520" cy="246888"/>
          </a:xfrm>
          <a:prstGeom prst="line">
            <a:avLst/>
          </a:prstGeom>
          <a:noFill/>
          <a:ln w="19050">
            <a:solidFill>
              <a:schemeClr val="accent1"/>
            </a:solidFill>
            <a:prstDash val="solid"/>
            <a:tailEnd type="triangle"/>
          </a:ln>
        </p:spPr>
      </p:sp>
      <p:sp>
        <p:nvSpPr>
          <p:cNvPr id="18" name="Shape 16"/>
          <p:cNvSpPr/>
          <p:nvPr/>
        </p:nvSpPr>
        <p:spPr>
          <a:xfrm flipV="1">
            <a:off x="3200400" y="4846320"/>
            <a:ext cx="731520" cy="64008"/>
          </a:xfrm>
          <a:prstGeom prst="line">
            <a:avLst/>
          </a:prstGeom>
          <a:noFill/>
          <a:ln w="19050">
            <a:solidFill>
              <a:schemeClr val="accent1"/>
            </a:solidFill>
            <a:prstDash val="solid"/>
            <a:tailEnd type="triangle"/>
          </a:ln>
        </p:spPr>
      </p:sp>
      <p:sp>
        <p:nvSpPr>
          <p:cNvPr id="19" name="Shape 17"/>
          <p:cNvSpPr/>
          <p:nvPr/>
        </p:nvSpPr>
        <p:spPr>
          <a:xfrm>
            <a:off x="3200400" y="1874520"/>
            <a:ext cx="731520" cy="914400"/>
          </a:xfrm>
          <a:prstGeom prst="line">
            <a:avLst/>
          </a:prstGeom>
          <a:noFill/>
          <a:ln w="15875">
            <a:solidFill>
              <a:schemeClr val="tx2"/>
            </a:solidFill>
            <a:prstDash val="dash"/>
            <a:tailEnd type="triangle"/>
          </a:ln>
        </p:spPr>
      </p:sp>
      <p:sp>
        <p:nvSpPr>
          <p:cNvPr id="20" name="Text 18"/>
          <p:cNvSpPr txBox="1"/>
          <p:nvPr/>
        </p:nvSpPr>
        <p:spPr>
          <a:xfrm>
            <a:off x="6400800" y="2514600"/>
            <a:ext cx="1828800" cy="1371600"/>
          </a:xfrm>
          <a:prstGeom prst="roundRect">
            <a:avLst>
              <a:gd name="adj" fmla="val 13333"/>
            </a:avLst>
          </a:prstGeom>
          <a:solidFill>
            <a:schemeClr val="bg1"/>
          </a:solidFill>
          <a:ln w="15875">
            <a:solidFill>
              <a:srgbClr val="14213D"/>
            </a:solidFill>
            <a:prstDash val="solid"/>
          </a:ln>
        </p:spPr>
        <p:txBody>
          <a:bodyPr wrap="square" lIns="50800" tIns="50800" rIns="50800" bIns="50800" rtlCol="0" anchor="ctr"/>
          <a:lstStyle/>
          <a:p>
            <a:pPr algn="ctr" indent="0" marL="0">
              <a:buNone/>
            </a:pPr>
            <a:r>
              <a:rPr lang="en-US" sz="1600" b="1" dirty="0">
                <a:solidFill>
                  <a:schemeClr val="tx1"/>
                </a:solidFill>
              </a:rPr>
              <a:t>APN privada</a:t>
            </a:r>
            <a:endParaRPr lang="en-US" sz="1400" dirty="0"/>
          </a:p>
          <a:p>
            <a:pPr algn="ctr" indent="0" marL="0">
              <a:buNone/>
            </a:pPr>
            <a:r>
              <a:rPr lang="en-US" sz="1300" dirty="0">
                <a:solidFill>
                  <a:schemeClr val="tx1"/>
                </a:solidFill>
              </a:rPr>
              <a:t>ou Internet</a:t>
            </a:r>
            <a:endParaRPr lang="en-US" sz="1400" dirty="0"/>
          </a:p>
          <a:p>
            <a:pPr algn="ctr" indent="0" marL="0">
              <a:buNone/>
            </a:pPr>
            <a:r>
              <a:rPr lang="en-US" sz="1300" dirty="0">
                <a:solidFill>
                  <a:schemeClr val="accent1"/>
                </a:solidFill>
              </a:rPr>
              <a:t>túnel cifrado TLS</a:t>
            </a:r>
            <a:endParaRPr lang="en-US" sz="1400" dirty="0"/>
          </a:p>
        </p:txBody>
      </p:sp>
      <p:sp>
        <p:nvSpPr>
          <p:cNvPr id="21" name="Shape 19"/>
          <p:cNvSpPr/>
          <p:nvPr/>
        </p:nvSpPr>
        <p:spPr>
          <a:xfrm>
            <a:off x="5760720" y="1965960"/>
            <a:ext cx="640080" cy="777240"/>
          </a:xfrm>
          <a:prstGeom prst="line">
            <a:avLst/>
          </a:prstGeom>
          <a:noFill/>
          <a:ln w="19050">
            <a:solidFill>
              <a:schemeClr val="accent1"/>
            </a:solidFill>
            <a:prstDash val="solid"/>
            <a:tailEnd type="triangle"/>
          </a:ln>
        </p:spPr>
      </p:sp>
      <p:sp>
        <p:nvSpPr>
          <p:cNvPr id="22" name="Shape 20"/>
          <p:cNvSpPr/>
          <p:nvPr/>
        </p:nvSpPr>
        <p:spPr>
          <a:xfrm>
            <a:off x="5760720" y="2926080"/>
            <a:ext cx="640080" cy="137160"/>
          </a:xfrm>
          <a:prstGeom prst="line">
            <a:avLst/>
          </a:prstGeom>
          <a:noFill/>
          <a:ln w="19050">
            <a:solidFill>
              <a:schemeClr val="accent1"/>
            </a:solidFill>
            <a:prstDash val="solid"/>
            <a:tailEnd type="triangle"/>
          </a:ln>
        </p:spPr>
      </p:sp>
      <p:sp>
        <p:nvSpPr>
          <p:cNvPr id="23" name="Shape 21"/>
          <p:cNvSpPr/>
          <p:nvPr/>
        </p:nvSpPr>
        <p:spPr>
          <a:xfrm flipV="1">
            <a:off x="5760720" y="3383280"/>
            <a:ext cx="640080" cy="502920"/>
          </a:xfrm>
          <a:prstGeom prst="line">
            <a:avLst/>
          </a:prstGeom>
          <a:noFill/>
          <a:ln w="19050">
            <a:solidFill>
              <a:schemeClr val="accent1"/>
            </a:solidFill>
            <a:prstDash val="solid"/>
            <a:tailEnd type="triangle"/>
          </a:ln>
        </p:spPr>
      </p:sp>
      <p:sp>
        <p:nvSpPr>
          <p:cNvPr id="24" name="Shape 22"/>
          <p:cNvSpPr/>
          <p:nvPr/>
        </p:nvSpPr>
        <p:spPr>
          <a:xfrm flipV="1">
            <a:off x="5760720" y="3703320"/>
            <a:ext cx="640080" cy="1143000"/>
          </a:xfrm>
          <a:prstGeom prst="line">
            <a:avLst/>
          </a:prstGeom>
          <a:noFill/>
          <a:ln w="19050">
            <a:solidFill>
              <a:schemeClr val="accent1"/>
            </a:solidFill>
            <a:prstDash val="solid"/>
            <a:tailEnd type="triangle"/>
          </a:ln>
        </p:spPr>
      </p:sp>
      <p:sp>
        <p:nvSpPr>
          <p:cNvPr id="25" name="Shape 23"/>
          <p:cNvSpPr/>
          <p:nvPr/>
        </p:nvSpPr>
        <p:spPr>
          <a:xfrm>
            <a:off x="8549640" y="2743200"/>
            <a:ext cx="822960" cy="914400"/>
          </a:xfrm>
          <a:prstGeom prst="roundRect">
            <a:avLst>
              <a:gd name="adj" fmla="val 8889"/>
            </a:avLst>
          </a:prstGeom>
          <a:solidFill>
            <a:schemeClr val="accent3"/>
          </a:solidFill>
          <a:ln/>
        </p:spPr>
      </p:sp>
      <p:pic>
        <p:nvPicPr>
          <p:cNvPr id="26" name="Image 0" descr="preencoded.png">    </p:cNvPr>
          <p:cNvPicPr>
            <a:picLocks noChangeAspect="1"/>
          </p:cNvPicPr>
          <p:nvPr/>
        </p:nvPicPr>
        <p:blipFill>
          <a:blip r:embed="rId1"/>
          <a:stretch>
            <a:fillRect/>
          </a:stretch>
        </p:blipFill>
        <p:spPr>
          <a:xfrm>
            <a:off x="8778240" y="2852928"/>
            <a:ext cx="365760" cy="365760"/>
          </a:xfrm>
          <a:prstGeom prst="rect">
            <a:avLst/>
          </a:prstGeom>
        </p:spPr>
      </p:pic>
      <p:sp>
        <p:nvSpPr>
          <p:cNvPr id="27" name="Text 24"/>
          <p:cNvSpPr txBox="1"/>
          <p:nvPr/>
        </p:nvSpPr>
        <p:spPr>
          <a:xfrm>
            <a:off x="8549640" y="3291840"/>
            <a:ext cx="822960" cy="274320"/>
          </a:xfrm>
          <a:prstGeom prst="rect">
            <a:avLst/>
          </a:prstGeom>
          <a:noFill/>
          <a:ln/>
        </p:spPr>
        <p:txBody>
          <a:bodyPr wrap="square" lIns="0" tIns="0" rIns="0" bIns="0" rtlCol="0" anchor="t"/>
          <a:lstStyle/>
          <a:p>
            <a:pPr algn="ctr" indent="0" marL="0">
              <a:buNone/>
            </a:pPr>
            <a:r>
              <a:rPr lang="en-US" sz="1100" b="1" dirty="0">
                <a:solidFill>
                  <a:schemeClr val="bg1"/>
                </a:solidFill>
              </a:rPr>
              <a:t>firewall</a:t>
            </a:r>
            <a:endParaRPr lang="en-US" sz="1100" dirty="0"/>
          </a:p>
        </p:txBody>
      </p:sp>
      <p:sp>
        <p:nvSpPr>
          <p:cNvPr id="28" name="Shape 25"/>
          <p:cNvSpPr/>
          <p:nvPr/>
        </p:nvSpPr>
        <p:spPr>
          <a:xfrm>
            <a:off x="8229600" y="3200400"/>
            <a:ext cx="320040" cy="914"/>
          </a:xfrm>
          <a:prstGeom prst="line">
            <a:avLst/>
          </a:prstGeom>
          <a:noFill/>
          <a:ln w="25400">
            <a:solidFill>
              <a:schemeClr val="accent1"/>
            </a:solidFill>
            <a:prstDash val="solid"/>
            <a:tailEnd type="triangle"/>
          </a:ln>
        </p:spPr>
      </p:sp>
      <p:sp>
        <p:nvSpPr>
          <p:cNvPr id="29" name="Shape 26"/>
          <p:cNvSpPr/>
          <p:nvPr/>
        </p:nvSpPr>
        <p:spPr>
          <a:xfrm>
            <a:off x="9372600" y="3200400"/>
            <a:ext cx="320040" cy="914"/>
          </a:xfrm>
          <a:prstGeom prst="line">
            <a:avLst/>
          </a:prstGeom>
          <a:noFill/>
          <a:ln w="25400">
            <a:solidFill>
              <a:schemeClr val="accent1"/>
            </a:solidFill>
            <a:prstDash val="solid"/>
            <a:tailEnd type="triangle"/>
          </a:ln>
        </p:spPr>
      </p:sp>
      <p:sp>
        <p:nvSpPr>
          <p:cNvPr id="30" name="Shape 27"/>
          <p:cNvSpPr/>
          <p:nvPr/>
        </p:nvSpPr>
        <p:spPr>
          <a:xfrm>
            <a:off x="9692640" y="1508760"/>
            <a:ext cx="1965960" cy="3840480"/>
          </a:xfrm>
          <a:prstGeom prst="roundRect">
            <a:avLst>
              <a:gd name="adj" fmla="val 5581"/>
            </a:avLst>
          </a:prstGeom>
          <a:solidFill>
            <a:schemeClr val="accent1">
              <a:alpha val="12000"/>
            </a:schemeClr>
          </a:solidFill>
          <a:ln w="15875">
            <a:solidFill>
              <a:srgbClr val="5B4BC4"/>
            </a:solidFill>
            <a:prstDash val="solid"/>
          </a:ln>
        </p:spPr>
      </p:sp>
      <p:sp>
        <p:nvSpPr>
          <p:cNvPr id="31" name="Text 28"/>
          <p:cNvSpPr txBox="1"/>
          <p:nvPr/>
        </p:nvSpPr>
        <p:spPr>
          <a:xfrm>
            <a:off x="9829800" y="1627632"/>
            <a:ext cx="17373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PLATAFORMA VIGIA</a:t>
            </a:r>
            <a:endParaRPr lang="en-US" sz="1200" dirty="0"/>
          </a:p>
        </p:txBody>
      </p:sp>
      <p:sp>
        <p:nvSpPr>
          <p:cNvPr id="32" name="Text 29"/>
          <p:cNvSpPr txBox="1"/>
          <p:nvPr/>
        </p:nvSpPr>
        <p:spPr>
          <a:xfrm>
            <a:off x="9829800" y="2011680"/>
            <a:ext cx="1691640" cy="438912"/>
          </a:xfrm>
          <a:prstGeom prst="roundRect">
            <a:avLst>
              <a:gd name="adj" fmla="val 16667"/>
            </a:avLst>
          </a:prstGeom>
          <a:solidFill>
            <a:schemeClr val="bg1"/>
          </a:solidFill>
          <a:ln w="12700">
            <a:solidFill>
              <a:srgbClr val="A99CF0"/>
            </a:solidFill>
            <a:prstDash val="solid"/>
          </a:ln>
        </p:spPr>
        <p:txBody>
          <a:bodyPr wrap="square" lIns="50800" tIns="50800" rIns="50800" bIns="50800" rtlCol="0" anchor="ctr"/>
          <a:lstStyle/>
          <a:p>
            <a:pPr algn="ctr" indent="0" marL="0">
              <a:buNone/>
            </a:pPr>
            <a:r>
              <a:rPr lang="en-US" sz="1200" dirty="0">
                <a:solidFill>
                  <a:schemeClr val="tx1"/>
                </a:solidFill>
              </a:rPr>
              <a:t>Broker MQTT · 8883</a:t>
            </a:r>
            <a:endParaRPr lang="en-US" sz="1200" dirty="0"/>
          </a:p>
        </p:txBody>
      </p:sp>
      <p:sp>
        <p:nvSpPr>
          <p:cNvPr id="33" name="Text 30"/>
          <p:cNvSpPr txBox="1"/>
          <p:nvPr/>
        </p:nvSpPr>
        <p:spPr>
          <a:xfrm>
            <a:off x="9829800" y="2560320"/>
            <a:ext cx="1691640" cy="438912"/>
          </a:xfrm>
          <a:prstGeom prst="roundRect">
            <a:avLst>
              <a:gd name="adj" fmla="val 16667"/>
            </a:avLst>
          </a:prstGeom>
          <a:solidFill>
            <a:schemeClr val="bg1"/>
          </a:solidFill>
          <a:ln w="12700">
            <a:solidFill>
              <a:srgbClr val="A99CF0"/>
            </a:solidFill>
            <a:prstDash val="solid"/>
          </a:ln>
        </p:spPr>
        <p:txBody>
          <a:bodyPr wrap="square" lIns="50800" tIns="50800" rIns="50800" bIns="50800" rtlCol="0" anchor="ctr"/>
          <a:lstStyle/>
          <a:p>
            <a:pPr algn="ctr" indent="0" marL="0">
              <a:buNone/>
            </a:pPr>
            <a:r>
              <a:rPr lang="en-US" sz="1200" dirty="0">
                <a:solidFill>
                  <a:schemeClr val="tx1"/>
                </a:solidFill>
              </a:rPr>
              <a:t>Ingestão</a:t>
            </a:r>
            <a:endParaRPr lang="en-US" sz="1200" dirty="0"/>
          </a:p>
        </p:txBody>
      </p:sp>
      <p:sp>
        <p:nvSpPr>
          <p:cNvPr id="34" name="Text 31"/>
          <p:cNvSpPr txBox="1"/>
          <p:nvPr/>
        </p:nvSpPr>
        <p:spPr>
          <a:xfrm>
            <a:off x="9829800" y="3108960"/>
            <a:ext cx="1691640" cy="438912"/>
          </a:xfrm>
          <a:prstGeom prst="roundRect">
            <a:avLst>
              <a:gd name="adj" fmla="val 16667"/>
            </a:avLst>
          </a:prstGeom>
          <a:solidFill>
            <a:schemeClr val="bg1"/>
          </a:solidFill>
          <a:ln w="12700">
            <a:solidFill>
              <a:srgbClr val="A99CF0"/>
            </a:solidFill>
            <a:prstDash val="solid"/>
          </a:ln>
        </p:spPr>
        <p:txBody>
          <a:bodyPr wrap="square" lIns="50800" tIns="50800" rIns="50800" bIns="50800" rtlCol="0" anchor="ctr"/>
          <a:lstStyle/>
          <a:p>
            <a:pPr algn="ctr" indent="0" marL="0">
              <a:buNone/>
            </a:pPr>
            <a:r>
              <a:rPr lang="en-US" sz="1200" dirty="0">
                <a:solidFill>
                  <a:schemeClr val="tx1"/>
                </a:solidFill>
              </a:rPr>
              <a:t>Séries temporais</a:t>
            </a:r>
            <a:endParaRPr lang="en-US" sz="1200" dirty="0"/>
          </a:p>
        </p:txBody>
      </p:sp>
      <p:sp>
        <p:nvSpPr>
          <p:cNvPr id="35" name="Text 32"/>
          <p:cNvSpPr txBox="1"/>
          <p:nvPr/>
        </p:nvSpPr>
        <p:spPr>
          <a:xfrm>
            <a:off x="9829800" y="3657600"/>
            <a:ext cx="1691640" cy="438912"/>
          </a:xfrm>
          <a:prstGeom prst="roundRect">
            <a:avLst>
              <a:gd name="adj" fmla="val 16667"/>
            </a:avLst>
          </a:prstGeom>
          <a:solidFill>
            <a:schemeClr val="bg1"/>
          </a:solidFill>
          <a:ln w="12700">
            <a:solidFill>
              <a:srgbClr val="A99CF0"/>
            </a:solidFill>
            <a:prstDash val="solid"/>
          </a:ln>
        </p:spPr>
        <p:txBody>
          <a:bodyPr wrap="square" lIns="50800" tIns="50800" rIns="50800" bIns="50800" rtlCol="0" anchor="ctr"/>
          <a:lstStyle/>
          <a:p>
            <a:pPr algn="ctr" indent="0" marL="0">
              <a:buNone/>
            </a:pPr>
            <a:r>
              <a:rPr lang="en-US" sz="1200" dirty="0">
                <a:solidFill>
                  <a:schemeClr val="tx1"/>
                </a:solidFill>
              </a:rPr>
              <a:t>Previsão</a:t>
            </a:r>
            <a:endParaRPr lang="en-US" sz="1200" dirty="0"/>
          </a:p>
        </p:txBody>
      </p:sp>
      <p:sp>
        <p:nvSpPr>
          <p:cNvPr id="36" name="Text 33"/>
          <p:cNvSpPr txBox="1"/>
          <p:nvPr/>
        </p:nvSpPr>
        <p:spPr>
          <a:xfrm>
            <a:off x="9829800" y="4206240"/>
            <a:ext cx="1691640" cy="438912"/>
          </a:xfrm>
          <a:prstGeom prst="roundRect">
            <a:avLst>
              <a:gd name="adj" fmla="val 16667"/>
            </a:avLst>
          </a:prstGeom>
          <a:solidFill>
            <a:schemeClr val="bg1"/>
          </a:solidFill>
          <a:ln w="12700">
            <a:solidFill>
              <a:srgbClr val="A99CF0"/>
            </a:solidFill>
            <a:prstDash val="solid"/>
          </a:ln>
        </p:spPr>
        <p:txBody>
          <a:bodyPr wrap="square" lIns="50800" tIns="50800" rIns="50800" bIns="50800" rtlCol="0" anchor="ctr"/>
          <a:lstStyle/>
          <a:p>
            <a:pPr algn="ctr" indent="0" marL="0">
              <a:buNone/>
            </a:pPr>
            <a:r>
              <a:rPr lang="en-US" sz="1200" dirty="0">
                <a:solidFill>
                  <a:schemeClr val="tx1"/>
                </a:solidFill>
              </a:rPr>
              <a:t>Gestão de gateways</a:t>
            </a:r>
            <a:endParaRPr lang="en-US" sz="1200" dirty="0"/>
          </a:p>
        </p:txBody>
      </p:sp>
      <p:sp>
        <p:nvSpPr>
          <p:cNvPr id="37" name="Text 34"/>
          <p:cNvSpPr txBox="1"/>
          <p:nvPr/>
        </p:nvSpPr>
        <p:spPr>
          <a:xfrm>
            <a:off x="9829800" y="4754880"/>
            <a:ext cx="1691640" cy="438912"/>
          </a:xfrm>
          <a:prstGeom prst="roundRect">
            <a:avLst>
              <a:gd name="adj" fmla="val 16667"/>
            </a:avLst>
          </a:prstGeom>
          <a:solidFill>
            <a:schemeClr val="accent1"/>
          </a:solidFill>
          <a:ln/>
        </p:spPr>
        <p:txBody>
          <a:bodyPr wrap="square" lIns="50800" tIns="50800" rIns="50800" bIns="50800" rtlCol="0" anchor="ctr"/>
          <a:lstStyle/>
          <a:p>
            <a:pPr algn="ctr" indent="0" marL="0">
              <a:buNone/>
            </a:pPr>
            <a:r>
              <a:rPr lang="en-US" sz="1200" b="1" dirty="0">
                <a:solidFill>
                  <a:schemeClr val="bg1"/>
                </a:solidFill>
              </a:rPr>
              <a:t>API · Web · App · SMS</a:t>
            </a:r>
            <a:endParaRPr lang="en-US" sz="1200" dirty="0"/>
          </a:p>
        </p:txBody>
      </p:sp>
      <p:sp>
        <p:nvSpPr>
          <p:cNvPr id="38" name="Text 35"/>
          <p:cNvSpPr txBox="1"/>
          <p:nvPr/>
        </p:nvSpPr>
        <p:spPr>
          <a:xfrm>
            <a:off x="9692640" y="5532120"/>
            <a:ext cx="1965960" cy="566928"/>
          </a:xfrm>
          <a:prstGeom prst="roundRect">
            <a:avLst>
              <a:gd name="adj" fmla="val 12903"/>
            </a:avLst>
          </a:prstGeom>
          <a:ln w="12700">
            <a:solidFill>
              <a:srgbClr val="14213D"/>
            </a:solidFill>
            <a:prstDash val="dash"/>
          </a:ln>
        </p:spPr>
        <p:txBody>
          <a:bodyPr wrap="square" lIns="50800" tIns="50800" rIns="50800" bIns="50800" rtlCol="0" anchor="ctr"/>
          <a:lstStyle/>
          <a:p>
            <a:pPr algn="ctr" indent="0" marL="0">
              <a:buNone/>
            </a:pPr>
            <a:r>
              <a:rPr lang="en-US" sz="1100" dirty="0">
                <a:solidFill>
                  <a:schemeClr val="tx1"/>
                </a:solidFill>
              </a:rPr>
              <a:t>Sistemas Sonangol · ERP / logística (fase 2)</a:t>
            </a:r>
            <a:endParaRPr lang="en-US" sz="1100" dirty="0"/>
          </a:p>
        </p:txBody>
      </p:sp>
      <p:sp>
        <p:nvSpPr>
          <p:cNvPr id="39" name="Shape 36"/>
          <p:cNvSpPr/>
          <p:nvPr/>
        </p:nvSpPr>
        <p:spPr>
          <a:xfrm>
            <a:off x="10675620" y="5349240"/>
            <a:ext cx="914" cy="182880"/>
          </a:xfrm>
          <a:prstGeom prst="line">
            <a:avLst/>
          </a:prstGeom>
          <a:noFill/>
          <a:ln w="15875">
            <a:solidFill>
              <a:schemeClr val="tx1"/>
            </a:solidFill>
            <a:prstDash val="dash"/>
          </a:ln>
        </p:spPr>
      </p:sp>
      <p:sp>
        <p:nvSpPr>
          <p:cNvPr id="40" name="Text 37"/>
          <p:cNvSpPr txBox="1"/>
          <p:nvPr/>
        </p:nvSpPr>
        <p:spPr>
          <a:xfrm>
            <a:off x="3931920" y="5806440"/>
            <a:ext cx="5486400" cy="274320"/>
          </a:xfrm>
          <a:prstGeom prst="rect">
            <a:avLst/>
          </a:prstGeom>
          <a:noFill/>
          <a:ln/>
        </p:spPr>
        <p:txBody>
          <a:bodyPr wrap="square" lIns="0" tIns="0" rIns="0" bIns="0" rtlCol="0" anchor="t"/>
          <a:lstStyle/>
          <a:p>
            <a:pPr indent="0" marL="0">
              <a:buNone/>
            </a:pPr>
            <a:r>
              <a:rPr lang="en-US" sz="1100" dirty="0">
                <a:solidFill>
                  <a:schemeClr val="tx2"/>
                </a:solidFill>
              </a:rPr>
              <a:t>Linha contínua: ligação principal · tracejada: reserva automática</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05 · CAMADA 3 — PROTOCOLOS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A conversa entre o posto e a plataforma, passo a passo</a:t>
            </a:r>
            <a:endParaRPr lang="en-US" sz="3400" dirty="0"/>
          </a:p>
        </p:txBody>
      </p:sp>
      <p:sp>
        <p:nvSpPr>
          <p:cNvPr id="4" name="Text 2"/>
          <p:cNvSpPr txBox="1"/>
          <p:nvPr/>
        </p:nvSpPr>
        <p:spPr>
          <a:xfrm>
            <a:off x="548640" y="1554480"/>
            <a:ext cx="3520440" cy="365760"/>
          </a:xfrm>
          <a:prstGeom prst="rect">
            <a:avLst/>
          </a:prstGeom>
          <a:noFill/>
          <a:ln/>
        </p:spPr>
        <p:txBody>
          <a:bodyPr wrap="square" lIns="0" tIns="0" rIns="0" bIns="0" rtlCol="0" anchor="t"/>
          <a:lstStyle/>
          <a:p>
            <a:pPr indent="0" marL="0">
              <a:buNone/>
            </a:pPr>
            <a:r>
              <a:rPr lang="en-US" sz="1800" b="1" dirty="0">
                <a:solidFill>
                  <a:schemeClr val="tx1"/>
                </a:solidFill>
              </a:rPr>
              <a:t>1 · O gateway pergunta</a:t>
            </a:r>
            <a:endParaRPr lang="en-US" sz="1800" dirty="0"/>
          </a:p>
        </p:txBody>
      </p:sp>
      <p:sp>
        <p:nvSpPr>
          <p:cNvPr id="5" name="Text 3"/>
          <p:cNvSpPr txBox="1"/>
          <p:nvPr/>
        </p:nvSpPr>
        <p:spPr>
          <a:xfrm>
            <a:off x="548640" y="1920240"/>
            <a:ext cx="3520440" cy="274320"/>
          </a:xfrm>
          <a:prstGeom prst="rect">
            <a:avLst/>
          </a:prstGeom>
          <a:noFill/>
          <a:ln/>
        </p:spPr>
        <p:txBody>
          <a:bodyPr wrap="square" lIns="0" tIns="0" rIns="0" bIns="0" rtlCol="0" anchor="t"/>
          <a:lstStyle/>
          <a:p>
            <a:pPr indent="0" marL="0">
              <a:buNone/>
            </a:pPr>
            <a:r>
              <a:rPr lang="en-US" sz="1200" dirty="0">
                <a:solidFill>
                  <a:schemeClr val="accent1"/>
                </a:solidFill>
              </a:rPr>
              <a:t>RS-232 · protocolo Veeder-Root (padrão do setor)</a:t>
            </a:r>
            <a:endParaRPr lang="en-US" sz="1200" dirty="0"/>
          </a:p>
        </p:txBody>
      </p:sp>
      <p:sp>
        <p:nvSpPr>
          <p:cNvPr id="6" name="Text 4"/>
          <p:cNvSpPr txBox="1"/>
          <p:nvPr/>
        </p:nvSpPr>
        <p:spPr>
          <a:xfrm>
            <a:off x="548640" y="2286000"/>
            <a:ext cx="3520440" cy="2240280"/>
          </a:xfrm>
          <a:prstGeom prst="roundRect">
            <a:avLst>
              <a:gd name="adj" fmla="val 4082"/>
            </a:avLst>
          </a:prstGeom>
          <a:solidFill>
            <a:schemeClr val="tx1"/>
          </a:solidFill>
          <a:ln/>
        </p:spPr>
        <p:txBody>
          <a:bodyPr wrap="square" lIns="152400" tIns="152400" rIns="152400" bIns="152400" rtlCol="0" anchor="t"/>
          <a:lstStyle/>
          <a:p>
            <a:pPr algn="l" indent="0" marL="0">
              <a:buNone/>
            </a:pPr>
            <a:r>
              <a:rPr lang="en-US" sz="1300" dirty="0">
                <a:solidFill>
                  <a:srgbClr val="E6EAF2"/>
                </a:solidFill>
                <a:latin typeface="Courier New" pitchFamily="34" charset="0"/>
                <a:ea typeface="Courier New" pitchFamily="34" charset="-122"/>
                <a:cs typeface="Courier New" pitchFamily="34" charset="-120"/>
              </a:rPr>
              <a:t>&lt;SOH&gt;i20100</a:t>
            </a:r>
            <a:endParaRPr lang="en-US" sz="1300" dirty="0"/>
          </a:p>
          <a:p>
            <a:pPr algn="l" indent="0" marL="0">
              <a:buNone/>
            </a:pP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função 201 =</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relatório de inventário</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de todos os tanques</a:t>
            </a:r>
            <a:endParaRPr lang="en-US" sz="1300" dirty="0"/>
          </a:p>
        </p:txBody>
      </p:sp>
      <p:sp>
        <p:nvSpPr>
          <p:cNvPr id="7" name="Shape 5"/>
          <p:cNvSpPr/>
          <p:nvPr/>
        </p:nvSpPr>
        <p:spPr>
          <a:xfrm>
            <a:off x="4096512" y="3401568"/>
            <a:ext cx="219456" cy="914"/>
          </a:xfrm>
          <a:prstGeom prst="line">
            <a:avLst/>
          </a:prstGeom>
          <a:noFill/>
          <a:ln w="31750">
            <a:solidFill>
              <a:schemeClr val="accent1"/>
            </a:solidFill>
            <a:prstDash val="solid"/>
            <a:tailEnd type="triangle"/>
          </a:ln>
        </p:spPr>
      </p:sp>
      <p:sp>
        <p:nvSpPr>
          <p:cNvPr id="8" name="Text 6"/>
          <p:cNvSpPr txBox="1"/>
          <p:nvPr/>
        </p:nvSpPr>
        <p:spPr>
          <a:xfrm>
            <a:off x="4343400" y="1554480"/>
            <a:ext cx="3520440" cy="365760"/>
          </a:xfrm>
          <a:prstGeom prst="rect">
            <a:avLst/>
          </a:prstGeom>
          <a:noFill/>
          <a:ln/>
        </p:spPr>
        <p:txBody>
          <a:bodyPr wrap="square" lIns="0" tIns="0" rIns="0" bIns="0" rtlCol="0" anchor="t"/>
          <a:lstStyle/>
          <a:p>
            <a:pPr indent="0" marL="0">
              <a:buNone/>
            </a:pPr>
            <a:r>
              <a:rPr lang="en-US" sz="1800" b="1" dirty="0">
                <a:solidFill>
                  <a:schemeClr val="tx1"/>
                </a:solidFill>
              </a:rPr>
              <a:t>2 · A consola responde</a:t>
            </a:r>
            <a:endParaRPr lang="en-US" sz="1800" dirty="0"/>
          </a:p>
        </p:txBody>
      </p:sp>
      <p:sp>
        <p:nvSpPr>
          <p:cNvPr id="9" name="Text 7"/>
          <p:cNvSpPr txBox="1"/>
          <p:nvPr/>
        </p:nvSpPr>
        <p:spPr>
          <a:xfrm>
            <a:off x="4343400" y="1920240"/>
            <a:ext cx="3520440" cy="274320"/>
          </a:xfrm>
          <a:prstGeom prst="rect">
            <a:avLst/>
          </a:prstGeom>
          <a:noFill/>
          <a:ln/>
        </p:spPr>
        <p:txBody>
          <a:bodyPr wrap="square" lIns="0" tIns="0" rIns="0" bIns="0" rtlCol="0" anchor="t"/>
          <a:lstStyle/>
          <a:p>
            <a:pPr indent="0" marL="0">
              <a:buNone/>
            </a:pPr>
            <a:r>
              <a:rPr lang="en-US" sz="1200" dirty="0">
                <a:solidFill>
                  <a:schemeClr val="accent1"/>
                </a:solidFill>
              </a:rPr>
              <a:t>em menos de um segundo</a:t>
            </a:r>
            <a:endParaRPr lang="en-US" sz="1200" dirty="0"/>
          </a:p>
        </p:txBody>
      </p:sp>
      <p:sp>
        <p:nvSpPr>
          <p:cNvPr id="10" name="Text 8"/>
          <p:cNvSpPr txBox="1"/>
          <p:nvPr/>
        </p:nvSpPr>
        <p:spPr>
          <a:xfrm>
            <a:off x="4343400" y="2286000"/>
            <a:ext cx="3520440" cy="2240280"/>
          </a:xfrm>
          <a:prstGeom prst="roundRect">
            <a:avLst>
              <a:gd name="adj" fmla="val 4082"/>
            </a:avLst>
          </a:prstGeom>
          <a:solidFill>
            <a:schemeClr val="tx1"/>
          </a:solidFill>
          <a:ln/>
        </p:spPr>
        <p:txBody>
          <a:bodyPr wrap="square" lIns="152400" tIns="152400" rIns="152400" bIns="152400" rtlCol="0" anchor="t"/>
          <a:lstStyle/>
          <a:p>
            <a:pPr algn="l" indent="0" marL="0">
              <a:buNone/>
            </a:pPr>
            <a:r>
              <a:rPr lang="en-US" sz="1300" dirty="0">
                <a:solidFill>
                  <a:srgbClr val="E6EAF2"/>
                </a:solidFill>
                <a:latin typeface="Courier New" pitchFamily="34" charset="0"/>
                <a:ea typeface="Courier New" pitchFamily="34" charset="-122"/>
                <a:cs typeface="Courier New" pitchFamily="34" charset="-120"/>
              </a:rPr>
              <a:t>T1 GASOLINA</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VOL 18 420 L  ALT 1 236 mm</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ÁGUA 6 mm    28,4 °C</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T2 GASÓLEO</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VOL  5 110 L  ALT   498 mm</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ÁGUA 0 mm    29,1 °C</a:t>
            </a:r>
            <a:endParaRPr lang="en-US" sz="1300" dirty="0"/>
          </a:p>
        </p:txBody>
      </p:sp>
      <p:sp>
        <p:nvSpPr>
          <p:cNvPr id="11" name="Shape 9"/>
          <p:cNvSpPr/>
          <p:nvPr/>
        </p:nvSpPr>
        <p:spPr>
          <a:xfrm>
            <a:off x="7891272" y="3401568"/>
            <a:ext cx="219456" cy="914"/>
          </a:xfrm>
          <a:prstGeom prst="line">
            <a:avLst/>
          </a:prstGeom>
          <a:noFill/>
          <a:ln w="31750">
            <a:solidFill>
              <a:schemeClr val="accent1"/>
            </a:solidFill>
            <a:prstDash val="solid"/>
            <a:tailEnd type="triangle"/>
          </a:ln>
        </p:spPr>
      </p:sp>
      <p:sp>
        <p:nvSpPr>
          <p:cNvPr id="12" name="Text 10"/>
          <p:cNvSpPr txBox="1"/>
          <p:nvPr/>
        </p:nvSpPr>
        <p:spPr>
          <a:xfrm>
            <a:off x="8138160" y="1554480"/>
            <a:ext cx="3520440" cy="365760"/>
          </a:xfrm>
          <a:prstGeom prst="rect">
            <a:avLst/>
          </a:prstGeom>
          <a:noFill/>
          <a:ln/>
        </p:spPr>
        <p:txBody>
          <a:bodyPr wrap="square" lIns="0" tIns="0" rIns="0" bIns="0" rtlCol="0" anchor="t"/>
          <a:lstStyle/>
          <a:p>
            <a:pPr indent="0" marL="0">
              <a:buNone/>
            </a:pPr>
            <a:r>
              <a:rPr lang="en-US" sz="1800" b="1" dirty="0">
                <a:solidFill>
                  <a:schemeClr val="tx1"/>
                </a:solidFill>
              </a:rPr>
              <a:t>3 · O gateway envia</a:t>
            </a:r>
            <a:endParaRPr lang="en-US" sz="1800" dirty="0"/>
          </a:p>
        </p:txBody>
      </p:sp>
      <p:sp>
        <p:nvSpPr>
          <p:cNvPr id="13" name="Text 11"/>
          <p:cNvSpPr txBox="1"/>
          <p:nvPr/>
        </p:nvSpPr>
        <p:spPr>
          <a:xfrm>
            <a:off x="8138160" y="1920240"/>
            <a:ext cx="3520440" cy="274320"/>
          </a:xfrm>
          <a:prstGeom prst="rect">
            <a:avLst/>
          </a:prstGeom>
          <a:noFill/>
          <a:ln/>
        </p:spPr>
        <p:txBody>
          <a:bodyPr wrap="square" lIns="0" tIns="0" rIns="0" bIns="0" rtlCol="0" anchor="t"/>
          <a:lstStyle/>
          <a:p>
            <a:pPr indent="0" marL="0">
              <a:buNone/>
            </a:pPr>
            <a:r>
              <a:rPr lang="en-US" sz="1200" dirty="0">
                <a:solidFill>
                  <a:schemeClr val="accent1"/>
                </a:solidFill>
              </a:rPr>
              <a:t>MQTT sobre TLS · porta 8883</a:t>
            </a:r>
            <a:endParaRPr lang="en-US" sz="1200" dirty="0"/>
          </a:p>
        </p:txBody>
      </p:sp>
      <p:sp>
        <p:nvSpPr>
          <p:cNvPr id="14" name="Text 12"/>
          <p:cNvSpPr txBox="1"/>
          <p:nvPr/>
        </p:nvSpPr>
        <p:spPr>
          <a:xfrm>
            <a:off x="8138160" y="2286000"/>
            <a:ext cx="3520440" cy="2240280"/>
          </a:xfrm>
          <a:prstGeom prst="roundRect">
            <a:avLst>
              <a:gd name="adj" fmla="val 4082"/>
            </a:avLst>
          </a:prstGeom>
          <a:solidFill>
            <a:schemeClr val="tx1"/>
          </a:solidFill>
          <a:ln/>
        </p:spPr>
        <p:txBody>
          <a:bodyPr wrap="square" lIns="152400" tIns="152400" rIns="152400" bIns="152400" rtlCol="0" anchor="t"/>
          <a:lstStyle/>
          <a:p>
            <a:pPr algn="l" indent="0" marL="0">
              <a:buNone/>
            </a:pPr>
            <a:r>
              <a:rPr lang="en-US" sz="1300" dirty="0">
                <a:solidFill>
                  <a:srgbClr val="E6EAF2"/>
                </a:solidFill>
                <a:latin typeface="Courier New" pitchFamily="34" charset="0"/>
                <a:ea typeface="Courier New" pitchFamily="34" charset="-122"/>
                <a:cs typeface="Courier New" pitchFamily="34" charset="-120"/>
              </a:rPr>
              <a:t>{ "posto": "SD-LDA-0142",</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"tanque": "T2",</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"volume_15c_l": 5062,</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"agua_mm": 0,</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"temp_c": 29.1,</a:t>
            </a:r>
            <a:endParaRPr lang="en-US" sz="1300" dirty="0"/>
          </a:p>
          <a:p>
            <a:pPr algn="l" indent="0" marL="0">
              <a:buNone/>
            </a:pPr>
            <a:r>
              <a:rPr lang="en-US" sz="1300" dirty="0">
                <a:solidFill>
                  <a:srgbClr val="E6EAF2"/>
                </a:solidFill>
                <a:latin typeface="Courier New" pitchFamily="34" charset="0"/>
                <a:ea typeface="Courier New" pitchFamily="34" charset="-122"/>
                <a:cs typeface="Courier New" pitchFamily="34" charset="-120"/>
              </a:rPr>
              <a:t>  "sinal_dbm": -79 }</a:t>
            </a:r>
            <a:endParaRPr lang="en-US" sz="1300" dirty="0"/>
          </a:p>
        </p:txBody>
      </p:sp>
      <p:sp>
        <p:nvSpPr>
          <p:cNvPr id="15" name="Shape 13"/>
          <p:cNvSpPr/>
          <p:nvPr/>
        </p:nvSpPr>
        <p:spPr>
          <a:xfrm>
            <a:off x="548640" y="4846320"/>
            <a:ext cx="3520440" cy="1234440"/>
          </a:xfrm>
          <a:prstGeom prst="roundRect">
            <a:avLst>
              <a:gd name="adj" fmla="val 8889"/>
            </a:avLst>
          </a:prstGeom>
          <a:solidFill>
            <a:schemeClr val="bg2"/>
          </a:solidFill>
          <a:ln/>
        </p:spPr>
      </p:sp>
      <p:sp>
        <p:nvSpPr>
          <p:cNvPr id="16" name="Text 14"/>
          <p:cNvSpPr txBox="1"/>
          <p:nvPr/>
        </p:nvSpPr>
        <p:spPr>
          <a:xfrm>
            <a:off x="822960" y="4919472"/>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10 min</a:t>
            </a:r>
            <a:endParaRPr lang="en-US" sz="4000" dirty="0"/>
          </a:p>
        </p:txBody>
      </p:sp>
      <p:sp>
        <p:nvSpPr>
          <p:cNvPr id="17" name="Text 15"/>
          <p:cNvSpPr txBox="1"/>
          <p:nvPr/>
        </p:nvSpPr>
        <p:spPr>
          <a:xfrm>
            <a:off x="822960" y="5577840"/>
            <a:ext cx="3017520" cy="365760"/>
          </a:xfrm>
          <a:prstGeom prst="rect">
            <a:avLst/>
          </a:prstGeom>
          <a:noFill/>
          <a:ln/>
        </p:spPr>
        <p:txBody>
          <a:bodyPr wrap="square" lIns="0" tIns="0" rIns="0" bIns="0" rtlCol="0" anchor="t"/>
          <a:lstStyle/>
          <a:p>
            <a:pPr indent="0" marL="0">
              <a:buNone/>
            </a:pPr>
            <a:r>
              <a:rPr lang="en-US" sz="1400" dirty="0">
                <a:solidFill>
                  <a:schemeClr val="tx2"/>
                </a:solidFill>
              </a:rPr>
              <a:t>entre leituras</a:t>
            </a:r>
            <a:endParaRPr lang="en-US" sz="1400" dirty="0"/>
          </a:p>
        </p:txBody>
      </p:sp>
      <p:sp>
        <p:nvSpPr>
          <p:cNvPr id="18" name="Shape 16"/>
          <p:cNvSpPr/>
          <p:nvPr/>
        </p:nvSpPr>
        <p:spPr>
          <a:xfrm>
            <a:off x="4343400" y="4846320"/>
            <a:ext cx="3520440" cy="1234440"/>
          </a:xfrm>
          <a:prstGeom prst="roundRect">
            <a:avLst>
              <a:gd name="adj" fmla="val 8889"/>
            </a:avLst>
          </a:prstGeom>
          <a:solidFill>
            <a:schemeClr val="bg2"/>
          </a:solidFill>
          <a:ln/>
        </p:spPr>
      </p:sp>
      <p:sp>
        <p:nvSpPr>
          <p:cNvPr id="19" name="Text 17"/>
          <p:cNvSpPr txBox="1"/>
          <p:nvPr/>
        </p:nvSpPr>
        <p:spPr>
          <a:xfrm>
            <a:off x="4617720" y="4919472"/>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 1 KB</a:t>
            </a:r>
            <a:endParaRPr lang="en-US" sz="4000" dirty="0"/>
          </a:p>
        </p:txBody>
      </p:sp>
      <p:sp>
        <p:nvSpPr>
          <p:cNvPr id="20" name="Text 18"/>
          <p:cNvSpPr txBox="1"/>
          <p:nvPr/>
        </p:nvSpPr>
        <p:spPr>
          <a:xfrm>
            <a:off x="4617720" y="5577840"/>
            <a:ext cx="3017520" cy="365760"/>
          </a:xfrm>
          <a:prstGeom prst="rect">
            <a:avLst/>
          </a:prstGeom>
          <a:noFill/>
          <a:ln/>
        </p:spPr>
        <p:txBody>
          <a:bodyPr wrap="square" lIns="0" tIns="0" rIns="0" bIns="0" rtlCol="0" anchor="t"/>
          <a:lstStyle/>
          <a:p>
            <a:pPr indent="0" marL="0">
              <a:buNone/>
            </a:pPr>
            <a:r>
              <a:rPr lang="en-US" sz="1400" dirty="0">
                <a:solidFill>
                  <a:schemeClr val="tx2"/>
                </a:solidFill>
              </a:rPr>
              <a:t>por leitura</a:t>
            </a:r>
            <a:endParaRPr lang="en-US" sz="1400" dirty="0"/>
          </a:p>
        </p:txBody>
      </p:sp>
      <p:sp>
        <p:nvSpPr>
          <p:cNvPr id="21" name="Shape 19"/>
          <p:cNvSpPr/>
          <p:nvPr/>
        </p:nvSpPr>
        <p:spPr>
          <a:xfrm>
            <a:off x="8138160" y="4846320"/>
            <a:ext cx="3520440" cy="1234440"/>
          </a:xfrm>
          <a:prstGeom prst="roundRect">
            <a:avLst>
              <a:gd name="adj" fmla="val 8889"/>
            </a:avLst>
          </a:prstGeom>
          <a:solidFill>
            <a:schemeClr val="bg2"/>
          </a:solidFill>
          <a:ln/>
        </p:spPr>
      </p:sp>
      <p:sp>
        <p:nvSpPr>
          <p:cNvPr id="22" name="Text 20"/>
          <p:cNvSpPr txBox="1"/>
          <p:nvPr/>
        </p:nvSpPr>
        <p:spPr>
          <a:xfrm>
            <a:off x="8412480" y="4919472"/>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 5 MB</a:t>
            </a:r>
            <a:endParaRPr lang="en-US" sz="4000" dirty="0"/>
          </a:p>
        </p:txBody>
      </p:sp>
      <p:sp>
        <p:nvSpPr>
          <p:cNvPr id="23" name="Text 21"/>
          <p:cNvSpPr txBox="1"/>
          <p:nvPr/>
        </p:nvSpPr>
        <p:spPr>
          <a:xfrm>
            <a:off x="8412480" y="5577840"/>
            <a:ext cx="3017520" cy="365760"/>
          </a:xfrm>
          <a:prstGeom prst="rect">
            <a:avLst/>
          </a:prstGeom>
          <a:noFill/>
          <a:ln/>
        </p:spPr>
        <p:txBody>
          <a:bodyPr wrap="square" lIns="0" tIns="0" rIns="0" bIns="0" rtlCol="0" anchor="t"/>
          <a:lstStyle/>
          <a:p>
            <a:pPr indent="0" marL="0">
              <a:buNone/>
            </a:pPr>
            <a:r>
              <a:rPr lang="en-US" sz="1400" dirty="0">
                <a:solidFill>
                  <a:schemeClr val="tx2"/>
                </a:solidFill>
              </a:rPr>
              <a:t>de dados por mês, por posto</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06 · CAMADA 4 — PROCESSAMENTO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De uma leitura a uma decisão, em segundos</a:t>
            </a:r>
            <a:endParaRPr lang="en-US" sz="3400" dirty="0"/>
          </a:p>
        </p:txBody>
      </p:sp>
      <p:sp>
        <p:nvSpPr>
          <p:cNvPr id="4" name="Text 2"/>
          <p:cNvSpPr txBox="1"/>
          <p:nvPr/>
        </p:nvSpPr>
        <p:spPr>
          <a:xfrm>
            <a:off x="54864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Leitura</a:t>
            </a:r>
            <a:endParaRPr lang="en-US" sz="1400" dirty="0"/>
          </a:p>
          <a:p>
            <a:pPr algn="ctr" indent="0" marL="0">
              <a:buNone/>
            </a:pPr>
            <a:r>
              <a:rPr lang="en-US" sz="1200" dirty="0">
                <a:solidFill>
                  <a:schemeClr val="tx2"/>
                </a:solidFill>
              </a:rPr>
              <a:t>bruta</a:t>
            </a:r>
            <a:endParaRPr lang="en-US" sz="1400" dirty="0"/>
          </a:p>
        </p:txBody>
      </p:sp>
      <p:sp>
        <p:nvSpPr>
          <p:cNvPr id="5" name="Shape 3"/>
          <p:cNvSpPr/>
          <p:nvPr/>
        </p:nvSpPr>
        <p:spPr>
          <a:xfrm>
            <a:off x="1938528" y="2080260"/>
            <a:ext cx="214884" cy="914"/>
          </a:xfrm>
          <a:prstGeom prst="line">
            <a:avLst/>
          </a:prstGeom>
          <a:noFill/>
          <a:ln w="25400">
            <a:solidFill>
              <a:schemeClr val="accent1"/>
            </a:solidFill>
            <a:prstDash val="solid"/>
            <a:tailEnd type="triangle"/>
          </a:ln>
        </p:spPr>
      </p:sp>
      <p:sp>
        <p:nvSpPr>
          <p:cNvPr id="6" name="Text 4"/>
          <p:cNvSpPr txBox="1"/>
          <p:nvPr/>
        </p:nvSpPr>
        <p:spPr>
          <a:xfrm>
            <a:off x="217170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Validação</a:t>
            </a:r>
            <a:endParaRPr lang="en-US" sz="1400" dirty="0"/>
          </a:p>
          <a:p>
            <a:pPr algn="ctr" indent="0" marL="0">
              <a:buNone/>
            </a:pPr>
            <a:r>
              <a:rPr lang="en-US" sz="1200" dirty="0">
                <a:solidFill>
                  <a:schemeClr val="tx2"/>
                </a:solidFill>
              </a:rPr>
              <a:t>valores impossíveis</a:t>
            </a:r>
            <a:endParaRPr lang="en-US" sz="1400" dirty="0"/>
          </a:p>
        </p:txBody>
      </p:sp>
      <p:sp>
        <p:nvSpPr>
          <p:cNvPr id="7" name="Shape 5"/>
          <p:cNvSpPr/>
          <p:nvPr/>
        </p:nvSpPr>
        <p:spPr>
          <a:xfrm>
            <a:off x="3561588" y="2080260"/>
            <a:ext cx="214884" cy="914"/>
          </a:xfrm>
          <a:prstGeom prst="line">
            <a:avLst/>
          </a:prstGeom>
          <a:noFill/>
          <a:ln w="25400">
            <a:solidFill>
              <a:schemeClr val="accent1"/>
            </a:solidFill>
            <a:prstDash val="solid"/>
            <a:tailEnd type="triangle"/>
          </a:ln>
        </p:spPr>
      </p:sp>
      <p:sp>
        <p:nvSpPr>
          <p:cNvPr id="8" name="Text 6"/>
          <p:cNvSpPr txBox="1"/>
          <p:nvPr/>
        </p:nvSpPr>
        <p:spPr>
          <a:xfrm>
            <a:off x="379476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Litros</a:t>
            </a:r>
            <a:endParaRPr lang="en-US" sz="1400" dirty="0"/>
          </a:p>
          <a:p>
            <a:pPr algn="ctr" indent="0" marL="0">
              <a:buNone/>
            </a:pPr>
            <a:r>
              <a:rPr lang="en-US" sz="1200" dirty="0">
                <a:solidFill>
                  <a:schemeClr val="tx2"/>
                </a:solidFill>
              </a:rPr>
              <a:t>a 15 °C</a:t>
            </a:r>
            <a:endParaRPr lang="en-US" sz="1400" dirty="0"/>
          </a:p>
        </p:txBody>
      </p:sp>
      <p:sp>
        <p:nvSpPr>
          <p:cNvPr id="9" name="Shape 7"/>
          <p:cNvSpPr/>
          <p:nvPr/>
        </p:nvSpPr>
        <p:spPr>
          <a:xfrm>
            <a:off x="5184648" y="2080260"/>
            <a:ext cx="214884" cy="914"/>
          </a:xfrm>
          <a:prstGeom prst="line">
            <a:avLst/>
          </a:prstGeom>
          <a:noFill/>
          <a:ln w="25400">
            <a:solidFill>
              <a:schemeClr val="accent1"/>
            </a:solidFill>
            <a:prstDash val="solid"/>
            <a:tailEnd type="triangle"/>
          </a:ln>
        </p:spPr>
      </p:sp>
      <p:sp>
        <p:nvSpPr>
          <p:cNvPr id="10" name="Text 8"/>
          <p:cNvSpPr txBox="1"/>
          <p:nvPr/>
        </p:nvSpPr>
        <p:spPr>
          <a:xfrm>
            <a:off x="541782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Eventos</a:t>
            </a:r>
            <a:endParaRPr lang="en-US" sz="1400" dirty="0"/>
          </a:p>
          <a:p>
            <a:pPr algn="ctr" indent="0" marL="0">
              <a:buNone/>
            </a:pPr>
            <a:r>
              <a:rPr lang="en-US" sz="1200" dirty="0">
                <a:solidFill>
                  <a:schemeClr val="tx2"/>
                </a:solidFill>
              </a:rPr>
              <a:t>venda · entrega</a:t>
            </a:r>
            <a:endParaRPr lang="en-US" sz="1400" dirty="0"/>
          </a:p>
        </p:txBody>
      </p:sp>
      <p:sp>
        <p:nvSpPr>
          <p:cNvPr id="11" name="Shape 9"/>
          <p:cNvSpPr/>
          <p:nvPr/>
        </p:nvSpPr>
        <p:spPr>
          <a:xfrm>
            <a:off x="6807708" y="2080260"/>
            <a:ext cx="214884" cy="914"/>
          </a:xfrm>
          <a:prstGeom prst="line">
            <a:avLst/>
          </a:prstGeom>
          <a:noFill/>
          <a:ln w="25400">
            <a:solidFill>
              <a:schemeClr val="accent1"/>
            </a:solidFill>
            <a:prstDash val="solid"/>
            <a:tailEnd type="triangle"/>
          </a:ln>
        </p:spPr>
      </p:sp>
      <p:sp>
        <p:nvSpPr>
          <p:cNvPr id="12" name="Text 10"/>
          <p:cNvSpPr txBox="1"/>
          <p:nvPr/>
        </p:nvSpPr>
        <p:spPr>
          <a:xfrm>
            <a:off x="704088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Previsão</a:t>
            </a:r>
            <a:endParaRPr lang="en-US" sz="1400" dirty="0"/>
          </a:p>
          <a:p>
            <a:pPr algn="ctr" indent="0" marL="0">
              <a:buNone/>
            </a:pPr>
            <a:r>
              <a:rPr lang="en-US" sz="1200" dirty="0">
                <a:solidFill>
                  <a:schemeClr val="tx2"/>
                </a:solidFill>
              </a:rPr>
              <a:t>hora de rutura</a:t>
            </a:r>
            <a:endParaRPr lang="en-US" sz="1400" dirty="0"/>
          </a:p>
        </p:txBody>
      </p:sp>
      <p:sp>
        <p:nvSpPr>
          <p:cNvPr id="13" name="Shape 11"/>
          <p:cNvSpPr/>
          <p:nvPr/>
        </p:nvSpPr>
        <p:spPr>
          <a:xfrm>
            <a:off x="8430768" y="2080260"/>
            <a:ext cx="214884" cy="914"/>
          </a:xfrm>
          <a:prstGeom prst="line">
            <a:avLst/>
          </a:prstGeom>
          <a:noFill/>
          <a:ln w="25400">
            <a:solidFill>
              <a:schemeClr val="accent1"/>
            </a:solidFill>
            <a:prstDash val="solid"/>
            <a:tailEnd type="triangle"/>
          </a:ln>
        </p:spPr>
      </p:sp>
      <p:sp>
        <p:nvSpPr>
          <p:cNvPr id="14" name="Text 12"/>
          <p:cNvSpPr txBox="1"/>
          <p:nvPr/>
        </p:nvSpPr>
        <p:spPr>
          <a:xfrm>
            <a:off x="8663940" y="1600200"/>
            <a:ext cx="1371600" cy="960120"/>
          </a:xfrm>
          <a:prstGeom prst="roundRect">
            <a:avLst>
              <a:gd name="adj" fmla="val 7619"/>
            </a:avLst>
          </a:prstGeom>
          <a:solidFill>
            <a:schemeClr val="bg2"/>
          </a:solidFill>
          <a:ln/>
        </p:spPr>
        <p:txBody>
          <a:bodyPr wrap="square" lIns="50800" tIns="50800" rIns="50800" bIns="50800" rtlCol="0" anchor="ctr"/>
          <a:lstStyle/>
          <a:p>
            <a:pPr algn="ctr" indent="0" marL="0">
              <a:buNone/>
            </a:pPr>
            <a:r>
              <a:rPr lang="en-US" sz="1500" b="1" dirty="0">
                <a:solidFill>
                  <a:schemeClr val="tx1"/>
                </a:solidFill>
              </a:rPr>
              <a:t>Prioridade</a:t>
            </a:r>
            <a:endParaRPr lang="en-US" sz="1400" dirty="0"/>
          </a:p>
          <a:p>
            <a:pPr algn="ctr" indent="0" marL="0">
              <a:buNone/>
            </a:pPr>
            <a:r>
              <a:rPr lang="en-US" sz="1200" dirty="0">
                <a:solidFill>
                  <a:schemeClr val="tx2"/>
                </a:solidFill>
              </a:rPr>
              <a:t>tempo de viagem</a:t>
            </a:r>
            <a:endParaRPr lang="en-US" sz="1400" dirty="0"/>
          </a:p>
        </p:txBody>
      </p:sp>
      <p:sp>
        <p:nvSpPr>
          <p:cNvPr id="15" name="Shape 13"/>
          <p:cNvSpPr/>
          <p:nvPr/>
        </p:nvSpPr>
        <p:spPr>
          <a:xfrm>
            <a:off x="10053828" y="2080260"/>
            <a:ext cx="214884" cy="914"/>
          </a:xfrm>
          <a:prstGeom prst="line">
            <a:avLst/>
          </a:prstGeom>
          <a:noFill/>
          <a:ln w="25400">
            <a:solidFill>
              <a:schemeClr val="accent1"/>
            </a:solidFill>
            <a:prstDash val="solid"/>
            <a:tailEnd type="triangle"/>
          </a:ln>
        </p:spPr>
      </p:sp>
      <p:sp>
        <p:nvSpPr>
          <p:cNvPr id="16" name="Text 14"/>
          <p:cNvSpPr txBox="1"/>
          <p:nvPr/>
        </p:nvSpPr>
        <p:spPr>
          <a:xfrm>
            <a:off x="10287000" y="1600200"/>
            <a:ext cx="1371600" cy="960120"/>
          </a:xfrm>
          <a:prstGeom prst="roundRect">
            <a:avLst>
              <a:gd name="adj" fmla="val 7619"/>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Alerta</a:t>
            </a:r>
            <a:endParaRPr lang="en-US" sz="1400" dirty="0"/>
          </a:p>
          <a:p>
            <a:pPr algn="ctr" indent="0" marL="0">
              <a:buNone/>
            </a:pPr>
            <a:r>
              <a:rPr lang="en-US" sz="1200" dirty="0">
                <a:solidFill>
                  <a:srgbClr val="E6E2FA"/>
                </a:solidFill>
              </a:rPr>
              <a:t>ação recomendada</a:t>
            </a:r>
            <a:endParaRPr lang="en-US" sz="1400" dirty="0"/>
          </a:p>
        </p:txBody>
      </p:sp>
      <p:sp>
        <p:nvSpPr>
          <p:cNvPr id="17" name="Shape 15"/>
          <p:cNvSpPr/>
          <p:nvPr/>
        </p:nvSpPr>
        <p:spPr>
          <a:xfrm>
            <a:off x="548640" y="2880360"/>
            <a:ext cx="3520440" cy="3246120"/>
          </a:xfrm>
          <a:prstGeom prst="roundRect">
            <a:avLst>
              <a:gd name="adj" fmla="val 3380"/>
            </a:avLst>
          </a:prstGeom>
          <a:solidFill>
            <a:schemeClr val="bg1"/>
          </a:solidFill>
          <a:ln w="12700">
            <a:solidFill>
              <a:srgbClr val="D5DAE1"/>
            </a:solidFill>
            <a:prstDash val="solid"/>
          </a:ln>
        </p:spPr>
      </p:sp>
      <p:sp>
        <p:nvSpPr>
          <p:cNvPr id="18" name="Shape 16"/>
          <p:cNvSpPr/>
          <p:nvPr/>
        </p:nvSpPr>
        <p:spPr>
          <a:xfrm>
            <a:off x="777240" y="3063240"/>
            <a:ext cx="548640" cy="548640"/>
          </a:xfrm>
          <a:prstGeom prst="ellipse">
            <a:avLst/>
          </a:prstGeom>
          <a:solidFill>
            <a:srgbClr val="14213D"/>
          </a:solidFill>
          <a:ln/>
        </p:spPr>
      </p:sp>
      <p:pic>
        <p:nvPicPr>
          <p:cNvPr id="19" name="Image 0" descr="preencoded.png">    </p:cNvPr>
          <p:cNvPicPr>
            <a:picLocks noChangeAspect="1"/>
          </p:cNvPicPr>
          <p:nvPr/>
        </p:nvPicPr>
        <p:blipFill>
          <a:blip r:embed="rId1"/>
          <a:stretch>
            <a:fillRect/>
          </a:stretch>
        </p:blipFill>
        <p:spPr>
          <a:xfrm>
            <a:off x="897941" y="3183941"/>
            <a:ext cx="307238" cy="307238"/>
          </a:xfrm>
          <a:prstGeom prst="rect">
            <a:avLst/>
          </a:prstGeom>
        </p:spPr>
      </p:pic>
      <p:sp>
        <p:nvSpPr>
          <p:cNvPr id="20" name="Text 17"/>
          <p:cNvSpPr txBox="1"/>
          <p:nvPr/>
        </p:nvSpPr>
        <p:spPr>
          <a:xfrm>
            <a:off x="1463040" y="3154680"/>
            <a:ext cx="2377440" cy="365760"/>
          </a:xfrm>
          <a:prstGeom prst="rect">
            <a:avLst/>
          </a:prstGeom>
          <a:noFill/>
          <a:ln/>
        </p:spPr>
        <p:txBody>
          <a:bodyPr wrap="square" lIns="0" tIns="0" rIns="0" bIns="0" rtlCol="0" anchor="t"/>
          <a:lstStyle/>
          <a:p>
            <a:pPr indent="0" marL="0">
              <a:buNone/>
            </a:pPr>
            <a:r>
              <a:rPr lang="en-US" sz="1800" b="1" dirty="0">
                <a:solidFill>
                  <a:schemeClr val="tx1"/>
                </a:solidFill>
              </a:rPr>
              <a:t>Venda</a:t>
            </a:r>
            <a:endParaRPr lang="en-US" sz="1800" dirty="0"/>
          </a:p>
        </p:txBody>
      </p:sp>
      <p:sp>
        <p:nvSpPr>
          <p:cNvPr id="21" name="Shape 18"/>
          <p:cNvSpPr/>
          <p:nvPr/>
        </p:nvSpPr>
        <p:spPr>
          <a:xfrm>
            <a:off x="777240" y="5138928"/>
            <a:ext cx="3063240" cy="914"/>
          </a:xfrm>
          <a:prstGeom prst="line">
            <a:avLst/>
          </a:prstGeom>
          <a:noFill/>
          <a:ln w="12700">
            <a:solidFill>
              <a:srgbClr val="D5DAE1"/>
            </a:solidFill>
            <a:prstDash val="solid"/>
          </a:ln>
        </p:spPr>
      </p:sp>
      <p:sp>
        <p:nvSpPr>
          <p:cNvPr id="22" name="Shape 19"/>
          <p:cNvSpPr/>
          <p:nvPr/>
        </p:nvSpPr>
        <p:spPr>
          <a:xfrm>
            <a:off x="777240" y="3794760"/>
            <a:ext cx="340360" cy="53035"/>
          </a:xfrm>
          <a:prstGeom prst="line">
            <a:avLst/>
          </a:prstGeom>
          <a:noFill/>
          <a:ln w="44450">
            <a:solidFill>
              <a:srgbClr val="14213D"/>
            </a:solidFill>
            <a:prstDash val="solid"/>
          </a:ln>
        </p:spPr>
      </p:sp>
      <p:sp>
        <p:nvSpPr>
          <p:cNvPr id="23" name="Shape 20"/>
          <p:cNvSpPr/>
          <p:nvPr/>
        </p:nvSpPr>
        <p:spPr>
          <a:xfrm>
            <a:off x="1117600" y="3847795"/>
            <a:ext cx="340360" cy="66294"/>
          </a:xfrm>
          <a:prstGeom prst="line">
            <a:avLst/>
          </a:prstGeom>
          <a:noFill/>
          <a:ln w="44450">
            <a:solidFill>
              <a:srgbClr val="14213D"/>
            </a:solidFill>
            <a:prstDash val="solid"/>
          </a:ln>
        </p:spPr>
      </p:sp>
      <p:sp>
        <p:nvSpPr>
          <p:cNvPr id="24" name="Shape 21"/>
          <p:cNvSpPr/>
          <p:nvPr/>
        </p:nvSpPr>
        <p:spPr>
          <a:xfrm>
            <a:off x="1457960" y="3914089"/>
            <a:ext cx="340360" cy="79553"/>
          </a:xfrm>
          <a:prstGeom prst="line">
            <a:avLst/>
          </a:prstGeom>
          <a:noFill/>
          <a:ln w="44450">
            <a:solidFill>
              <a:srgbClr val="14213D"/>
            </a:solidFill>
            <a:prstDash val="solid"/>
          </a:ln>
        </p:spPr>
      </p:sp>
      <p:sp>
        <p:nvSpPr>
          <p:cNvPr id="25" name="Shape 22"/>
          <p:cNvSpPr/>
          <p:nvPr/>
        </p:nvSpPr>
        <p:spPr>
          <a:xfrm>
            <a:off x="1798320" y="3993642"/>
            <a:ext cx="340360" cy="66294"/>
          </a:xfrm>
          <a:prstGeom prst="line">
            <a:avLst/>
          </a:prstGeom>
          <a:noFill/>
          <a:ln w="44450">
            <a:solidFill>
              <a:srgbClr val="14213D"/>
            </a:solidFill>
            <a:prstDash val="solid"/>
          </a:ln>
        </p:spPr>
      </p:sp>
      <p:sp>
        <p:nvSpPr>
          <p:cNvPr id="26" name="Shape 23"/>
          <p:cNvSpPr/>
          <p:nvPr/>
        </p:nvSpPr>
        <p:spPr>
          <a:xfrm>
            <a:off x="2138680" y="4059936"/>
            <a:ext cx="340360" cy="79553"/>
          </a:xfrm>
          <a:prstGeom prst="line">
            <a:avLst/>
          </a:prstGeom>
          <a:noFill/>
          <a:ln w="44450">
            <a:solidFill>
              <a:srgbClr val="14213D"/>
            </a:solidFill>
            <a:prstDash val="solid"/>
          </a:ln>
        </p:spPr>
      </p:sp>
      <p:sp>
        <p:nvSpPr>
          <p:cNvPr id="27" name="Shape 24"/>
          <p:cNvSpPr/>
          <p:nvPr/>
        </p:nvSpPr>
        <p:spPr>
          <a:xfrm>
            <a:off x="2479040" y="4139489"/>
            <a:ext cx="340360" cy="66294"/>
          </a:xfrm>
          <a:prstGeom prst="line">
            <a:avLst/>
          </a:prstGeom>
          <a:noFill/>
          <a:ln w="44450">
            <a:solidFill>
              <a:srgbClr val="14213D"/>
            </a:solidFill>
            <a:prstDash val="solid"/>
          </a:ln>
        </p:spPr>
      </p:sp>
      <p:sp>
        <p:nvSpPr>
          <p:cNvPr id="28" name="Shape 25"/>
          <p:cNvSpPr/>
          <p:nvPr/>
        </p:nvSpPr>
        <p:spPr>
          <a:xfrm>
            <a:off x="2819400" y="4205783"/>
            <a:ext cx="340360" cy="79553"/>
          </a:xfrm>
          <a:prstGeom prst="line">
            <a:avLst/>
          </a:prstGeom>
          <a:noFill/>
          <a:ln w="44450">
            <a:solidFill>
              <a:srgbClr val="14213D"/>
            </a:solidFill>
            <a:prstDash val="solid"/>
          </a:ln>
        </p:spPr>
      </p:sp>
      <p:sp>
        <p:nvSpPr>
          <p:cNvPr id="29" name="Shape 26"/>
          <p:cNvSpPr/>
          <p:nvPr/>
        </p:nvSpPr>
        <p:spPr>
          <a:xfrm>
            <a:off x="3159760" y="4285336"/>
            <a:ext cx="340360" cy="66294"/>
          </a:xfrm>
          <a:prstGeom prst="line">
            <a:avLst/>
          </a:prstGeom>
          <a:noFill/>
          <a:ln w="44450">
            <a:solidFill>
              <a:srgbClr val="14213D"/>
            </a:solidFill>
            <a:prstDash val="solid"/>
          </a:ln>
        </p:spPr>
      </p:sp>
      <p:sp>
        <p:nvSpPr>
          <p:cNvPr id="30" name="Shape 27"/>
          <p:cNvSpPr/>
          <p:nvPr/>
        </p:nvSpPr>
        <p:spPr>
          <a:xfrm>
            <a:off x="3500120" y="4351630"/>
            <a:ext cx="340360" cy="79553"/>
          </a:xfrm>
          <a:prstGeom prst="line">
            <a:avLst/>
          </a:prstGeom>
          <a:noFill/>
          <a:ln w="44450">
            <a:solidFill>
              <a:srgbClr val="14213D"/>
            </a:solidFill>
            <a:prstDash val="solid"/>
          </a:ln>
        </p:spPr>
      </p:sp>
      <p:sp>
        <p:nvSpPr>
          <p:cNvPr id="31" name="Text 28"/>
          <p:cNvSpPr txBox="1"/>
          <p:nvPr/>
        </p:nvSpPr>
        <p:spPr>
          <a:xfrm>
            <a:off x="777240" y="5303520"/>
            <a:ext cx="3108960" cy="640080"/>
          </a:xfrm>
          <a:prstGeom prst="rect">
            <a:avLst/>
          </a:prstGeom>
          <a:noFill/>
          <a:ln/>
        </p:spPr>
        <p:txBody>
          <a:bodyPr wrap="square" lIns="0" tIns="0" rIns="0" bIns="0" rtlCol="0" anchor="t"/>
          <a:lstStyle/>
          <a:p>
            <a:pPr indent="0" marL="0">
              <a:buNone/>
            </a:pPr>
            <a:r>
              <a:rPr lang="en-US" sz="1400" dirty="0">
                <a:solidFill>
                  <a:schemeClr val="tx2"/>
                </a:solidFill>
              </a:rPr>
              <a:t>O nível desce aos poucos, ao ritmo das bombas</a:t>
            </a:r>
            <a:endParaRPr lang="en-US" sz="1400" dirty="0"/>
          </a:p>
        </p:txBody>
      </p:sp>
      <p:sp>
        <p:nvSpPr>
          <p:cNvPr id="32" name="Shape 29"/>
          <p:cNvSpPr/>
          <p:nvPr/>
        </p:nvSpPr>
        <p:spPr>
          <a:xfrm>
            <a:off x="4343400" y="2880360"/>
            <a:ext cx="3520440" cy="3246120"/>
          </a:xfrm>
          <a:prstGeom prst="roundRect">
            <a:avLst>
              <a:gd name="adj" fmla="val 3380"/>
            </a:avLst>
          </a:prstGeom>
          <a:solidFill>
            <a:schemeClr val="bg1"/>
          </a:solidFill>
          <a:ln w="12700">
            <a:solidFill>
              <a:srgbClr val="D5DAE1"/>
            </a:solidFill>
            <a:prstDash val="solid"/>
          </a:ln>
        </p:spPr>
      </p:sp>
      <p:sp>
        <p:nvSpPr>
          <p:cNvPr id="33" name="Shape 30"/>
          <p:cNvSpPr/>
          <p:nvPr/>
        </p:nvSpPr>
        <p:spPr>
          <a:xfrm>
            <a:off x="4572000" y="3063240"/>
            <a:ext cx="548640" cy="548640"/>
          </a:xfrm>
          <a:prstGeom prst="ellipse">
            <a:avLst/>
          </a:prstGeom>
          <a:solidFill>
            <a:srgbClr val="1E7A46"/>
          </a:solidFill>
          <a:ln/>
        </p:spPr>
      </p:sp>
      <p:pic>
        <p:nvPicPr>
          <p:cNvPr id="34" name="Image 1" descr="preencoded.png">    </p:cNvPr>
          <p:cNvPicPr>
            <a:picLocks noChangeAspect="1"/>
          </p:cNvPicPr>
          <p:nvPr/>
        </p:nvPicPr>
        <p:blipFill>
          <a:blip r:embed="rId2"/>
          <a:stretch>
            <a:fillRect/>
          </a:stretch>
        </p:blipFill>
        <p:spPr>
          <a:xfrm>
            <a:off x="4692701" y="3183941"/>
            <a:ext cx="307238" cy="307238"/>
          </a:xfrm>
          <a:prstGeom prst="rect">
            <a:avLst/>
          </a:prstGeom>
        </p:spPr>
      </p:pic>
      <p:sp>
        <p:nvSpPr>
          <p:cNvPr id="35" name="Text 31"/>
          <p:cNvSpPr txBox="1"/>
          <p:nvPr/>
        </p:nvSpPr>
        <p:spPr>
          <a:xfrm>
            <a:off x="5257800" y="3154680"/>
            <a:ext cx="2377440" cy="365760"/>
          </a:xfrm>
          <a:prstGeom prst="rect">
            <a:avLst/>
          </a:prstGeom>
          <a:noFill/>
          <a:ln/>
        </p:spPr>
        <p:txBody>
          <a:bodyPr wrap="square" lIns="0" tIns="0" rIns="0" bIns="0" rtlCol="0" anchor="t"/>
          <a:lstStyle/>
          <a:p>
            <a:pPr indent="0" marL="0">
              <a:buNone/>
            </a:pPr>
            <a:r>
              <a:rPr lang="en-US" sz="1800" b="1" dirty="0">
                <a:solidFill>
                  <a:schemeClr val="tx1"/>
                </a:solidFill>
              </a:rPr>
              <a:t>Entrega</a:t>
            </a:r>
            <a:endParaRPr lang="en-US" sz="1800" dirty="0"/>
          </a:p>
        </p:txBody>
      </p:sp>
      <p:sp>
        <p:nvSpPr>
          <p:cNvPr id="36" name="Shape 32"/>
          <p:cNvSpPr/>
          <p:nvPr/>
        </p:nvSpPr>
        <p:spPr>
          <a:xfrm>
            <a:off x="4572000" y="5138928"/>
            <a:ext cx="3063240" cy="914"/>
          </a:xfrm>
          <a:prstGeom prst="line">
            <a:avLst/>
          </a:prstGeom>
          <a:noFill/>
          <a:ln w="12700">
            <a:solidFill>
              <a:srgbClr val="D5DAE1"/>
            </a:solidFill>
            <a:prstDash val="solid"/>
          </a:ln>
        </p:spPr>
      </p:sp>
      <p:sp>
        <p:nvSpPr>
          <p:cNvPr id="37" name="Shape 33"/>
          <p:cNvSpPr/>
          <p:nvPr/>
        </p:nvSpPr>
        <p:spPr>
          <a:xfrm>
            <a:off x="4572000" y="4590288"/>
            <a:ext cx="340360" cy="39776"/>
          </a:xfrm>
          <a:prstGeom prst="line">
            <a:avLst/>
          </a:prstGeom>
          <a:noFill/>
          <a:ln w="44450">
            <a:solidFill>
              <a:srgbClr val="1E7A46"/>
            </a:solidFill>
            <a:prstDash val="solid"/>
          </a:ln>
        </p:spPr>
      </p:sp>
      <p:sp>
        <p:nvSpPr>
          <p:cNvPr id="38" name="Shape 34"/>
          <p:cNvSpPr/>
          <p:nvPr/>
        </p:nvSpPr>
        <p:spPr>
          <a:xfrm>
            <a:off x="4912360" y="4630064"/>
            <a:ext cx="340360" cy="39776"/>
          </a:xfrm>
          <a:prstGeom prst="line">
            <a:avLst/>
          </a:prstGeom>
          <a:noFill/>
          <a:ln w="44450">
            <a:solidFill>
              <a:srgbClr val="1E7A46"/>
            </a:solidFill>
            <a:prstDash val="solid"/>
          </a:ln>
        </p:spPr>
      </p:sp>
      <p:sp>
        <p:nvSpPr>
          <p:cNvPr id="39" name="Shape 35"/>
          <p:cNvSpPr/>
          <p:nvPr/>
        </p:nvSpPr>
        <p:spPr>
          <a:xfrm>
            <a:off x="5252720" y="4669841"/>
            <a:ext cx="340360" cy="39776"/>
          </a:xfrm>
          <a:prstGeom prst="line">
            <a:avLst/>
          </a:prstGeom>
          <a:noFill/>
          <a:ln w="44450">
            <a:solidFill>
              <a:srgbClr val="1E7A46"/>
            </a:solidFill>
            <a:prstDash val="solid"/>
          </a:ln>
        </p:spPr>
      </p:sp>
      <p:sp>
        <p:nvSpPr>
          <p:cNvPr id="40" name="Shape 36"/>
          <p:cNvSpPr/>
          <p:nvPr/>
        </p:nvSpPr>
        <p:spPr>
          <a:xfrm flipV="1">
            <a:off x="5593080" y="3927348"/>
            <a:ext cx="340360" cy="782269"/>
          </a:xfrm>
          <a:prstGeom prst="line">
            <a:avLst/>
          </a:prstGeom>
          <a:noFill/>
          <a:ln w="44450">
            <a:solidFill>
              <a:srgbClr val="1E7A46"/>
            </a:solidFill>
            <a:prstDash val="solid"/>
          </a:ln>
        </p:spPr>
      </p:sp>
      <p:sp>
        <p:nvSpPr>
          <p:cNvPr id="41" name="Shape 37"/>
          <p:cNvSpPr/>
          <p:nvPr/>
        </p:nvSpPr>
        <p:spPr>
          <a:xfrm>
            <a:off x="5933440" y="3927348"/>
            <a:ext cx="340360" cy="26518"/>
          </a:xfrm>
          <a:prstGeom prst="line">
            <a:avLst/>
          </a:prstGeom>
          <a:noFill/>
          <a:ln w="44450">
            <a:solidFill>
              <a:srgbClr val="1E7A46"/>
            </a:solidFill>
            <a:prstDash val="solid"/>
          </a:ln>
        </p:spPr>
      </p:sp>
      <p:sp>
        <p:nvSpPr>
          <p:cNvPr id="42" name="Shape 38"/>
          <p:cNvSpPr/>
          <p:nvPr/>
        </p:nvSpPr>
        <p:spPr>
          <a:xfrm>
            <a:off x="6273800" y="3953866"/>
            <a:ext cx="340360" cy="39776"/>
          </a:xfrm>
          <a:prstGeom prst="line">
            <a:avLst/>
          </a:prstGeom>
          <a:noFill/>
          <a:ln w="44450">
            <a:solidFill>
              <a:srgbClr val="1E7A46"/>
            </a:solidFill>
            <a:prstDash val="solid"/>
          </a:ln>
        </p:spPr>
      </p:sp>
      <p:sp>
        <p:nvSpPr>
          <p:cNvPr id="43" name="Shape 39"/>
          <p:cNvSpPr/>
          <p:nvPr/>
        </p:nvSpPr>
        <p:spPr>
          <a:xfrm>
            <a:off x="6614160" y="3993642"/>
            <a:ext cx="340360" cy="39776"/>
          </a:xfrm>
          <a:prstGeom prst="line">
            <a:avLst/>
          </a:prstGeom>
          <a:noFill/>
          <a:ln w="44450">
            <a:solidFill>
              <a:srgbClr val="1E7A46"/>
            </a:solidFill>
            <a:prstDash val="solid"/>
          </a:ln>
        </p:spPr>
      </p:sp>
      <p:sp>
        <p:nvSpPr>
          <p:cNvPr id="44" name="Shape 40"/>
          <p:cNvSpPr/>
          <p:nvPr/>
        </p:nvSpPr>
        <p:spPr>
          <a:xfrm>
            <a:off x="6954520" y="4033418"/>
            <a:ext cx="340360" cy="39776"/>
          </a:xfrm>
          <a:prstGeom prst="line">
            <a:avLst/>
          </a:prstGeom>
          <a:noFill/>
          <a:ln w="44450">
            <a:solidFill>
              <a:srgbClr val="1E7A46"/>
            </a:solidFill>
            <a:prstDash val="solid"/>
          </a:ln>
        </p:spPr>
      </p:sp>
      <p:sp>
        <p:nvSpPr>
          <p:cNvPr id="45" name="Shape 41"/>
          <p:cNvSpPr/>
          <p:nvPr/>
        </p:nvSpPr>
        <p:spPr>
          <a:xfrm>
            <a:off x="7294880" y="4073195"/>
            <a:ext cx="340360" cy="39776"/>
          </a:xfrm>
          <a:prstGeom prst="line">
            <a:avLst/>
          </a:prstGeom>
          <a:noFill/>
          <a:ln w="44450">
            <a:solidFill>
              <a:srgbClr val="1E7A46"/>
            </a:solidFill>
            <a:prstDash val="solid"/>
          </a:ln>
        </p:spPr>
      </p:sp>
      <p:sp>
        <p:nvSpPr>
          <p:cNvPr id="46" name="Text 42"/>
          <p:cNvSpPr txBox="1"/>
          <p:nvPr/>
        </p:nvSpPr>
        <p:spPr>
          <a:xfrm>
            <a:off x="4572000" y="5303520"/>
            <a:ext cx="3108960" cy="640080"/>
          </a:xfrm>
          <a:prstGeom prst="rect">
            <a:avLst/>
          </a:prstGeom>
          <a:noFill/>
          <a:ln/>
        </p:spPr>
        <p:txBody>
          <a:bodyPr wrap="square" lIns="0" tIns="0" rIns="0" bIns="0" rtlCol="0" anchor="t"/>
          <a:lstStyle/>
          <a:p>
            <a:pPr indent="0" marL="0">
              <a:buNone/>
            </a:pPr>
            <a:r>
              <a:rPr lang="en-US" sz="1400" dirty="0">
                <a:solidFill>
                  <a:schemeClr val="tx2"/>
                </a:solidFill>
              </a:rPr>
              <a:t>O nível sobe de repente — e confere-se com a fatura</a:t>
            </a:r>
            <a:endParaRPr lang="en-US" sz="1400" dirty="0"/>
          </a:p>
        </p:txBody>
      </p:sp>
      <p:sp>
        <p:nvSpPr>
          <p:cNvPr id="47" name="Shape 43"/>
          <p:cNvSpPr/>
          <p:nvPr/>
        </p:nvSpPr>
        <p:spPr>
          <a:xfrm>
            <a:off x="8138160" y="2880360"/>
            <a:ext cx="3520440" cy="3246120"/>
          </a:xfrm>
          <a:prstGeom prst="roundRect">
            <a:avLst>
              <a:gd name="adj" fmla="val 3380"/>
            </a:avLst>
          </a:prstGeom>
          <a:solidFill>
            <a:schemeClr val="bg1"/>
          </a:solidFill>
          <a:ln w="12700">
            <a:solidFill>
              <a:srgbClr val="D5DAE1"/>
            </a:solidFill>
            <a:prstDash val="solid"/>
          </a:ln>
        </p:spPr>
      </p:sp>
      <p:sp>
        <p:nvSpPr>
          <p:cNvPr id="48" name="Shape 44"/>
          <p:cNvSpPr/>
          <p:nvPr/>
        </p:nvSpPr>
        <p:spPr>
          <a:xfrm>
            <a:off x="8366760" y="3063240"/>
            <a:ext cx="548640" cy="548640"/>
          </a:xfrm>
          <a:prstGeom prst="ellipse">
            <a:avLst/>
          </a:prstGeom>
          <a:solidFill>
            <a:srgbClr val="B42318"/>
          </a:solidFill>
          <a:ln/>
        </p:spPr>
      </p:sp>
      <p:pic>
        <p:nvPicPr>
          <p:cNvPr id="49" name="Image 2" descr="preencoded.png">    </p:cNvPr>
          <p:cNvPicPr>
            <a:picLocks noChangeAspect="1"/>
          </p:cNvPicPr>
          <p:nvPr/>
        </p:nvPicPr>
        <p:blipFill>
          <a:blip r:embed="rId3"/>
          <a:stretch>
            <a:fillRect/>
          </a:stretch>
        </p:blipFill>
        <p:spPr>
          <a:xfrm>
            <a:off x="8487461" y="3183941"/>
            <a:ext cx="307238" cy="307238"/>
          </a:xfrm>
          <a:prstGeom prst="rect">
            <a:avLst/>
          </a:prstGeom>
        </p:spPr>
      </p:pic>
      <p:sp>
        <p:nvSpPr>
          <p:cNvPr id="50" name="Text 45"/>
          <p:cNvSpPr txBox="1"/>
          <p:nvPr/>
        </p:nvSpPr>
        <p:spPr>
          <a:xfrm>
            <a:off x="9052560" y="3154680"/>
            <a:ext cx="2377440" cy="365760"/>
          </a:xfrm>
          <a:prstGeom prst="rect">
            <a:avLst/>
          </a:prstGeom>
          <a:noFill/>
          <a:ln/>
        </p:spPr>
        <p:txBody>
          <a:bodyPr wrap="square" lIns="0" tIns="0" rIns="0" bIns="0" rtlCol="0" anchor="t"/>
          <a:lstStyle/>
          <a:p>
            <a:pPr indent="0" marL="0">
              <a:buNone/>
            </a:pPr>
            <a:r>
              <a:rPr lang="en-US" sz="1800" b="1" dirty="0">
                <a:solidFill>
                  <a:schemeClr val="tx1"/>
                </a:solidFill>
              </a:rPr>
              <a:t>Anomalia</a:t>
            </a:r>
            <a:endParaRPr lang="en-US" sz="1800" dirty="0"/>
          </a:p>
        </p:txBody>
      </p:sp>
      <p:sp>
        <p:nvSpPr>
          <p:cNvPr id="51" name="Shape 46"/>
          <p:cNvSpPr/>
          <p:nvPr/>
        </p:nvSpPr>
        <p:spPr>
          <a:xfrm>
            <a:off x="8366760" y="5138928"/>
            <a:ext cx="3063240" cy="914"/>
          </a:xfrm>
          <a:prstGeom prst="line">
            <a:avLst/>
          </a:prstGeom>
          <a:noFill/>
          <a:ln w="12700">
            <a:solidFill>
              <a:srgbClr val="D5DAE1"/>
            </a:solidFill>
            <a:prstDash val="solid"/>
          </a:ln>
        </p:spPr>
      </p:sp>
      <p:sp>
        <p:nvSpPr>
          <p:cNvPr id="52" name="Shape 47"/>
          <p:cNvSpPr/>
          <p:nvPr/>
        </p:nvSpPr>
        <p:spPr>
          <a:xfrm>
            <a:off x="8366760" y="4059936"/>
            <a:ext cx="340360" cy="914"/>
          </a:xfrm>
          <a:prstGeom prst="line">
            <a:avLst/>
          </a:prstGeom>
          <a:noFill/>
          <a:ln w="44450">
            <a:solidFill>
              <a:srgbClr val="B42318"/>
            </a:solidFill>
            <a:prstDash val="solid"/>
          </a:ln>
        </p:spPr>
      </p:sp>
      <p:sp>
        <p:nvSpPr>
          <p:cNvPr id="53" name="Shape 48"/>
          <p:cNvSpPr/>
          <p:nvPr/>
        </p:nvSpPr>
        <p:spPr>
          <a:xfrm>
            <a:off x="8707120" y="4059936"/>
            <a:ext cx="340360" cy="914"/>
          </a:xfrm>
          <a:prstGeom prst="line">
            <a:avLst/>
          </a:prstGeom>
          <a:noFill/>
          <a:ln w="44450">
            <a:solidFill>
              <a:srgbClr val="B42318"/>
            </a:solidFill>
            <a:prstDash val="solid"/>
          </a:ln>
        </p:spPr>
      </p:sp>
      <p:sp>
        <p:nvSpPr>
          <p:cNvPr id="54" name="Shape 49"/>
          <p:cNvSpPr/>
          <p:nvPr/>
        </p:nvSpPr>
        <p:spPr>
          <a:xfrm>
            <a:off x="9047480" y="4059936"/>
            <a:ext cx="340360" cy="13259"/>
          </a:xfrm>
          <a:prstGeom prst="line">
            <a:avLst/>
          </a:prstGeom>
          <a:noFill/>
          <a:ln w="44450">
            <a:solidFill>
              <a:srgbClr val="B42318"/>
            </a:solidFill>
            <a:prstDash val="solid"/>
          </a:ln>
        </p:spPr>
      </p:sp>
      <p:sp>
        <p:nvSpPr>
          <p:cNvPr id="55" name="Shape 50"/>
          <p:cNvSpPr/>
          <p:nvPr/>
        </p:nvSpPr>
        <p:spPr>
          <a:xfrm>
            <a:off x="9387840" y="4073195"/>
            <a:ext cx="340360" cy="66294"/>
          </a:xfrm>
          <a:prstGeom prst="line">
            <a:avLst/>
          </a:prstGeom>
          <a:noFill/>
          <a:ln w="44450">
            <a:solidFill>
              <a:srgbClr val="B42318"/>
            </a:solidFill>
            <a:prstDash val="solid"/>
          </a:ln>
        </p:spPr>
      </p:sp>
      <p:sp>
        <p:nvSpPr>
          <p:cNvPr id="56" name="Shape 51"/>
          <p:cNvSpPr/>
          <p:nvPr/>
        </p:nvSpPr>
        <p:spPr>
          <a:xfrm>
            <a:off x="9728200" y="4139489"/>
            <a:ext cx="340360" cy="66294"/>
          </a:xfrm>
          <a:prstGeom prst="line">
            <a:avLst/>
          </a:prstGeom>
          <a:noFill/>
          <a:ln w="44450">
            <a:solidFill>
              <a:srgbClr val="B42318"/>
            </a:solidFill>
            <a:prstDash val="solid"/>
          </a:ln>
        </p:spPr>
      </p:sp>
      <p:sp>
        <p:nvSpPr>
          <p:cNvPr id="57" name="Shape 52"/>
          <p:cNvSpPr/>
          <p:nvPr/>
        </p:nvSpPr>
        <p:spPr>
          <a:xfrm>
            <a:off x="10068560" y="4205783"/>
            <a:ext cx="340360" cy="66294"/>
          </a:xfrm>
          <a:prstGeom prst="line">
            <a:avLst/>
          </a:prstGeom>
          <a:noFill/>
          <a:ln w="44450">
            <a:solidFill>
              <a:srgbClr val="B42318"/>
            </a:solidFill>
            <a:prstDash val="solid"/>
          </a:ln>
        </p:spPr>
      </p:sp>
      <p:sp>
        <p:nvSpPr>
          <p:cNvPr id="58" name="Shape 53"/>
          <p:cNvSpPr/>
          <p:nvPr/>
        </p:nvSpPr>
        <p:spPr>
          <a:xfrm>
            <a:off x="10408920" y="4272077"/>
            <a:ext cx="340360" cy="914"/>
          </a:xfrm>
          <a:prstGeom prst="line">
            <a:avLst/>
          </a:prstGeom>
          <a:noFill/>
          <a:ln w="44450">
            <a:solidFill>
              <a:srgbClr val="B42318"/>
            </a:solidFill>
            <a:prstDash val="solid"/>
          </a:ln>
        </p:spPr>
      </p:sp>
      <p:sp>
        <p:nvSpPr>
          <p:cNvPr id="59" name="Shape 54"/>
          <p:cNvSpPr/>
          <p:nvPr/>
        </p:nvSpPr>
        <p:spPr>
          <a:xfrm>
            <a:off x="10749280" y="4272077"/>
            <a:ext cx="340360" cy="914"/>
          </a:xfrm>
          <a:prstGeom prst="line">
            <a:avLst/>
          </a:prstGeom>
          <a:noFill/>
          <a:ln w="44450">
            <a:solidFill>
              <a:srgbClr val="B42318"/>
            </a:solidFill>
            <a:prstDash val="solid"/>
          </a:ln>
        </p:spPr>
      </p:sp>
      <p:sp>
        <p:nvSpPr>
          <p:cNvPr id="60" name="Shape 55"/>
          <p:cNvSpPr/>
          <p:nvPr/>
        </p:nvSpPr>
        <p:spPr>
          <a:xfrm>
            <a:off x="11089640" y="4272077"/>
            <a:ext cx="340360" cy="914"/>
          </a:xfrm>
          <a:prstGeom prst="line">
            <a:avLst/>
          </a:prstGeom>
          <a:noFill/>
          <a:ln w="44450">
            <a:solidFill>
              <a:srgbClr val="B42318"/>
            </a:solidFill>
            <a:prstDash val="solid"/>
          </a:ln>
        </p:spPr>
      </p:sp>
      <p:sp>
        <p:nvSpPr>
          <p:cNvPr id="61" name="Text 56"/>
          <p:cNvSpPr txBox="1"/>
          <p:nvPr/>
        </p:nvSpPr>
        <p:spPr>
          <a:xfrm>
            <a:off x="8366760" y="5303520"/>
            <a:ext cx="3108960" cy="640080"/>
          </a:xfrm>
          <a:prstGeom prst="rect">
            <a:avLst/>
          </a:prstGeom>
          <a:noFill/>
          <a:ln/>
        </p:spPr>
        <p:txBody>
          <a:bodyPr wrap="square" lIns="0" tIns="0" rIns="0" bIns="0" rtlCol="0" anchor="t"/>
          <a:lstStyle/>
          <a:p>
            <a:pPr indent="0" marL="0">
              <a:buNone/>
            </a:pPr>
            <a:r>
              <a:rPr lang="en-US" sz="1400" dirty="0">
                <a:solidFill>
                  <a:schemeClr val="tx2"/>
                </a:solidFill>
              </a:rPr>
              <a:t>O nível desce sem vendas (ex.: de madrugada)</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06 · CAMADA 4 — EXEMPLO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Um tanque, 30 horas: a plataforma diz quando despachar</a:t>
            </a:r>
            <a:endParaRPr lang="en-US" sz="3400" dirty="0"/>
          </a:p>
        </p:txBody>
      </p:sp>
      <p:sp>
        <p:nvSpPr>
          <p:cNvPr id="4" name="Text 2"/>
          <p:cNvSpPr txBox="1"/>
          <p:nvPr/>
        </p:nvSpPr>
        <p:spPr>
          <a:xfrm>
            <a:off x="548640" y="1417320"/>
            <a:ext cx="7589520" cy="320040"/>
          </a:xfrm>
          <a:prstGeom prst="rect">
            <a:avLst/>
          </a:prstGeom>
          <a:noFill/>
          <a:ln/>
        </p:spPr>
        <p:txBody>
          <a:bodyPr wrap="square" lIns="0" tIns="0" rIns="0" bIns="0" rtlCol="0" anchor="t"/>
          <a:lstStyle/>
          <a:p>
            <a:pPr indent="0" marL="0">
              <a:buNone/>
            </a:pPr>
            <a:r>
              <a:rPr lang="en-US" sz="1400" b="1" dirty="0">
                <a:solidFill>
                  <a:schemeClr val="tx1"/>
                </a:solidFill>
              </a:rPr>
              <a:t>Tanque T2 · gasóleo · 30 000 L (dados ilustrativos)</a:t>
            </a:r>
            <a:endParaRPr lang="en-US" sz="1400" dirty="0"/>
          </a:p>
        </p:txBody>
      </p:sp>
      <p:sp>
        <p:nvSpPr>
          <p:cNvPr id="5" name="Shape 3"/>
          <p:cNvSpPr/>
          <p:nvPr/>
        </p:nvSpPr>
        <p:spPr>
          <a:xfrm>
            <a:off x="1371600" y="4898898"/>
            <a:ext cx="6766560" cy="541782"/>
          </a:xfrm>
          <a:prstGeom prst="rect">
            <a:avLst/>
          </a:prstGeom>
          <a:solidFill>
            <a:schemeClr val="accent3">
              <a:alpha val="10000"/>
            </a:schemeClr>
          </a:solidFill>
          <a:ln/>
        </p:spPr>
      </p:sp>
      <p:sp>
        <p:nvSpPr>
          <p:cNvPr id="6" name="Shape 4"/>
          <p:cNvSpPr/>
          <p:nvPr/>
        </p:nvSpPr>
        <p:spPr>
          <a:xfrm>
            <a:off x="1371600" y="5440680"/>
            <a:ext cx="6766560" cy="914"/>
          </a:xfrm>
          <a:prstGeom prst="line">
            <a:avLst/>
          </a:prstGeom>
          <a:noFill/>
          <a:ln w="9525">
            <a:solidFill>
              <a:srgbClr val="E5E8EC"/>
            </a:solidFill>
            <a:prstDash val="solid"/>
          </a:ln>
        </p:spPr>
      </p:sp>
      <p:sp>
        <p:nvSpPr>
          <p:cNvPr id="7" name="Text 5"/>
          <p:cNvSpPr txBox="1"/>
          <p:nvPr/>
        </p:nvSpPr>
        <p:spPr>
          <a:xfrm>
            <a:off x="457200" y="5312664"/>
            <a:ext cx="804672" cy="256032"/>
          </a:xfrm>
          <a:prstGeom prst="rect">
            <a:avLst/>
          </a:prstGeom>
          <a:noFill/>
          <a:ln/>
        </p:spPr>
        <p:txBody>
          <a:bodyPr wrap="square" lIns="0" tIns="0" rIns="0" bIns="0" rtlCol="0" anchor="t"/>
          <a:lstStyle/>
          <a:p>
            <a:pPr algn="r" indent="0" marL="0">
              <a:buNone/>
            </a:pPr>
            <a:r>
              <a:rPr lang="en-US" sz="1100" dirty="0">
                <a:solidFill>
                  <a:schemeClr val="tx2"/>
                </a:solidFill>
              </a:rPr>
              <a:t>0 L</a:t>
            </a:r>
            <a:endParaRPr lang="en-US" sz="1100" dirty="0"/>
          </a:p>
        </p:txBody>
      </p:sp>
      <p:sp>
        <p:nvSpPr>
          <p:cNvPr id="8" name="Shape 6"/>
          <p:cNvSpPr/>
          <p:nvPr/>
        </p:nvSpPr>
        <p:spPr>
          <a:xfrm>
            <a:off x="1371600" y="4537710"/>
            <a:ext cx="6766560" cy="914"/>
          </a:xfrm>
          <a:prstGeom prst="line">
            <a:avLst/>
          </a:prstGeom>
          <a:noFill/>
          <a:ln w="9525">
            <a:solidFill>
              <a:srgbClr val="E5E8EC"/>
            </a:solidFill>
            <a:prstDash val="solid"/>
          </a:ln>
        </p:spPr>
      </p:sp>
      <p:sp>
        <p:nvSpPr>
          <p:cNvPr id="9" name="Text 7"/>
          <p:cNvSpPr txBox="1"/>
          <p:nvPr/>
        </p:nvSpPr>
        <p:spPr>
          <a:xfrm>
            <a:off x="457200" y="4409694"/>
            <a:ext cx="804672" cy="256032"/>
          </a:xfrm>
          <a:prstGeom prst="rect">
            <a:avLst/>
          </a:prstGeom>
          <a:noFill/>
          <a:ln/>
        </p:spPr>
        <p:txBody>
          <a:bodyPr wrap="square" lIns="0" tIns="0" rIns="0" bIns="0" rtlCol="0" anchor="t"/>
          <a:lstStyle/>
          <a:p>
            <a:pPr algn="r" indent="0" marL="0">
              <a:buNone/>
            </a:pPr>
            <a:r>
              <a:rPr lang="en-US" sz="1100" dirty="0">
                <a:solidFill>
                  <a:schemeClr val="tx2"/>
                </a:solidFill>
              </a:rPr>
              <a:t>7 500</a:t>
            </a:r>
            <a:endParaRPr lang="en-US" sz="1100" dirty="0"/>
          </a:p>
        </p:txBody>
      </p:sp>
      <p:sp>
        <p:nvSpPr>
          <p:cNvPr id="10" name="Shape 8"/>
          <p:cNvSpPr/>
          <p:nvPr/>
        </p:nvSpPr>
        <p:spPr>
          <a:xfrm>
            <a:off x="1371600" y="3634740"/>
            <a:ext cx="6766560" cy="914"/>
          </a:xfrm>
          <a:prstGeom prst="line">
            <a:avLst/>
          </a:prstGeom>
          <a:noFill/>
          <a:ln w="9525">
            <a:solidFill>
              <a:srgbClr val="E5E8EC"/>
            </a:solidFill>
            <a:prstDash val="solid"/>
          </a:ln>
        </p:spPr>
      </p:sp>
      <p:sp>
        <p:nvSpPr>
          <p:cNvPr id="11" name="Text 9"/>
          <p:cNvSpPr txBox="1"/>
          <p:nvPr/>
        </p:nvSpPr>
        <p:spPr>
          <a:xfrm>
            <a:off x="457200" y="3506724"/>
            <a:ext cx="804672" cy="256032"/>
          </a:xfrm>
          <a:prstGeom prst="rect">
            <a:avLst/>
          </a:prstGeom>
          <a:noFill/>
          <a:ln/>
        </p:spPr>
        <p:txBody>
          <a:bodyPr wrap="square" lIns="0" tIns="0" rIns="0" bIns="0" rtlCol="0" anchor="t"/>
          <a:lstStyle/>
          <a:p>
            <a:pPr algn="r" indent="0" marL="0">
              <a:buNone/>
            </a:pPr>
            <a:r>
              <a:rPr lang="en-US" sz="1100" dirty="0">
                <a:solidFill>
                  <a:schemeClr val="tx2"/>
                </a:solidFill>
              </a:rPr>
              <a:t>15 000</a:t>
            </a:r>
            <a:endParaRPr lang="en-US" sz="1100" dirty="0"/>
          </a:p>
        </p:txBody>
      </p:sp>
      <p:sp>
        <p:nvSpPr>
          <p:cNvPr id="12" name="Shape 10"/>
          <p:cNvSpPr/>
          <p:nvPr/>
        </p:nvSpPr>
        <p:spPr>
          <a:xfrm>
            <a:off x="1371600" y="2731770"/>
            <a:ext cx="6766560" cy="914"/>
          </a:xfrm>
          <a:prstGeom prst="line">
            <a:avLst/>
          </a:prstGeom>
          <a:noFill/>
          <a:ln w="9525">
            <a:solidFill>
              <a:srgbClr val="E5E8EC"/>
            </a:solidFill>
            <a:prstDash val="solid"/>
          </a:ln>
        </p:spPr>
      </p:sp>
      <p:sp>
        <p:nvSpPr>
          <p:cNvPr id="13" name="Text 11"/>
          <p:cNvSpPr txBox="1"/>
          <p:nvPr/>
        </p:nvSpPr>
        <p:spPr>
          <a:xfrm>
            <a:off x="457200" y="2603754"/>
            <a:ext cx="804672" cy="256032"/>
          </a:xfrm>
          <a:prstGeom prst="rect">
            <a:avLst/>
          </a:prstGeom>
          <a:noFill/>
          <a:ln/>
        </p:spPr>
        <p:txBody>
          <a:bodyPr wrap="square" lIns="0" tIns="0" rIns="0" bIns="0" rtlCol="0" anchor="t"/>
          <a:lstStyle/>
          <a:p>
            <a:pPr algn="r" indent="0" marL="0">
              <a:buNone/>
            </a:pPr>
            <a:r>
              <a:rPr lang="en-US" sz="1100" dirty="0">
                <a:solidFill>
                  <a:schemeClr val="tx2"/>
                </a:solidFill>
              </a:rPr>
              <a:t>22 500</a:t>
            </a:r>
            <a:endParaRPr lang="en-US" sz="1100" dirty="0"/>
          </a:p>
        </p:txBody>
      </p:sp>
      <p:sp>
        <p:nvSpPr>
          <p:cNvPr id="14" name="Shape 12"/>
          <p:cNvSpPr/>
          <p:nvPr/>
        </p:nvSpPr>
        <p:spPr>
          <a:xfrm>
            <a:off x="1371600" y="1828800"/>
            <a:ext cx="6766560" cy="914"/>
          </a:xfrm>
          <a:prstGeom prst="line">
            <a:avLst/>
          </a:prstGeom>
          <a:noFill/>
          <a:ln w="9525">
            <a:solidFill>
              <a:srgbClr val="E5E8EC"/>
            </a:solidFill>
            <a:prstDash val="solid"/>
          </a:ln>
        </p:spPr>
      </p:sp>
      <p:sp>
        <p:nvSpPr>
          <p:cNvPr id="15" name="Text 13"/>
          <p:cNvSpPr txBox="1"/>
          <p:nvPr/>
        </p:nvSpPr>
        <p:spPr>
          <a:xfrm>
            <a:off x="457200" y="1700784"/>
            <a:ext cx="804672" cy="256032"/>
          </a:xfrm>
          <a:prstGeom prst="rect">
            <a:avLst/>
          </a:prstGeom>
          <a:noFill/>
          <a:ln/>
        </p:spPr>
        <p:txBody>
          <a:bodyPr wrap="square" lIns="0" tIns="0" rIns="0" bIns="0" rtlCol="0" anchor="t"/>
          <a:lstStyle/>
          <a:p>
            <a:pPr algn="r" indent="0" marL="0">
              <a:buNone/>
            </a:pPr>
            <a:r>
              <a:rPr lang="en-US" sz="1100" dirty="0">
                <a:solidFill>
                  <a:schemeClr val="tx2"/>
                </a:solidFill>
              </a:rPr>
              <a:t>30 000</a:t>
            </a:r>
            <a:endParaRPr lang="en-US" sz="1100" dirty="0"/>
          </a:p>
        </p:txBody>
      </p:sp>
      <p:sp>
        <p:nvSpPr>
          <p:cNvPr id="16" name="Shape 14"/>
          <p:cNvSpPr/>
          <p:nvPr/>
        </p:nvSpPr>
        <p:spPr>
          <a:xfrm>
            <a:off x="1371600" y="4898898"/>
            <a:ext cx="6766560" cy="914"/>
          </a:xfrm>
          <a:prstGeom prst="line">
            <a:avLst/>
          </a:prstGeom>
          <a:noFill/>
          <a:ln w="19050">
            <a:solidFill>
              <a:schemeClr val="accent3"/>
            </a:solidFill>
            <a:prstDash val="dash"/>
          </a:ln>
        </p:spPr>
      </p:sp>
      <p:sp>
        <p:nvSpPr>
          <p:cNvPr id="17" name="Text 15"/>
          <p:cNvSpPr txBox="1"/>
          <p:nvPr/>
        </p:nvSpPr>
        <p:spPr>
          <a:xfrm>
            <a:off x="1463040" y="4953762"/>
            <a:ext cx="2743200" cy="256032"/>
          </a:xfrm>
          <a:prstGeom prst="rect">
            <a:avLst/>
          </a:prstGeom>
          <a:noFill/>
          <a:ln/>
        </p:spPr>
        <p:txBody>
          <a:bodyPr wrap="square" lIns="0" tIns="0" rIns="0" bIns="0" rtlCol="0" anchor="t"/>
          <a:lstStyle/>
          <a:p>
            <a:pPr indent="0" marL="0">
              <a:buNone/>
            </a:pPr>
            <a:r>
              <a:rPr lang="en-US" sz="1100" b="1" dirty="0">
                <a:solidFill>
                  <a:schemeClr val="accent3"/>
                </a:solidFill>
              </a:rPr>
              <a:t>nível crítico 15% (4 500 L)</a:t>
            </a:r>
            <a:endParaRPr lang="en-US" sz="1100" dirty="0"/>
          </a:p>
        </p:txBody>
      </p:sp>
      <p:sp>
        <p:nvSpPr>
          <p:cNvPr id="18" name="Text 16"/>
          <p:cNvSpPr txBox="1"/>
          <p:nvPr/>
        </p:nvSpPr>
        <p:spPr>
          <a:xfrm>
            <a:off x="914400"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ter 00h</a:t>
            </a:r>
            <a:endParaRPr lang="en-US" sz="1100" dirty="0"/>
          </a:p>
        </p:txBody>
      </p:sp>
      <p:sp>
        <p:nvSpPr>
          <p:cNvPr id="19" name="Text 17"/>
          <p:cNvSpPr txBox="1"/>
          <p:nvPr/>
        </p:nvSpPr>
        <p:spPr>
          <a:xfrm>
            <a:off x="2314378"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06h</a:t>
            </a:r>
            <a:endParaRPr lang="en-US" sz="1100" dirty="0"/>
          </a:p>
        </p:txBody>
      </p:sp>
      <p:sp>
        <p:nvSpPr>
          <p:cNvPr id="20" name="Text 18"/>
          <p:cNvSpPr txBox="1"/>
          <p:nvPr/>
        </p:nvSpPr>
        <p:spPr>
          <a:xfrm>
            <a:off x="3714356"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12h</a:t>
            </a:r>
            <a:endParaRPr lang="en-US" sz="1100" dirty="0"/>
          </a:p>
        </p:txBody>
      </p:sp>
      <p:sp>
        <p:nvSpPr>
          <p:cNvPr id="21" name="Text 19"/>
          <p:cNvSpPr txBox="1"/>
          <p:nvPr/>
        </p:nvSpPr>
        <p:spPr>
          <a:xfrm>
            <a:off x="5114334"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18h</a:t>
            </a:r>
            <a:endParaRPr lang="en-US" sz="1100" dirty="0"/>
          </a:p>
        </p:txBody>
      </p:sp>
      <p:sp>
        <p:nvSpPr>
          <p:cNvPr id="22" name="Text 20"/>
          <p:cNvSpPr txBox="1"/>
          <p:nvPr/>
        </p:nvSpPr>
        <p:spPr>
          <a:xfrm>
            <a:off x="6514312"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qua 00h</a:t>
            </a:r>
            <a:endParaRPr lang="en-US" sz="1100" dirty="0"/>
          </a:p>
        </p:txBody>
      </p:sp>
      <p:sp>
        <p:nvSpPr>
          <p:cNvPr id="23" name="Text 21"/>
          <p:cNvSpPr txBox="1"/>
          <p:nvPr/>
        </p:nvSpPr>
        <p:spPr>
          <a:xfrm>
            <a:off x="7680960" y="5513832"/>
            <a:ext cx="914400" cy="256032"/>
          </a:xfrm>
          <a:prstGeom prst="rect">
            <a:avLst/>
          </a:prstGeom>
          <a:noFill/>
          <a:ln/>
        </p:spPr>
        <p:txBody>
          <a:bodyPr wrap="square" lIns="0" tIns="0" rIns="0" bIns="0" rtlCol="0" anchor="t"/>
          <a:lstStyle/>
          <a:p>
            <a:pPr algn="ctr" indent="0" marL="0">
              <a:buNone/>
            </a:pPr>
            <a:r>
              <a:rPr lang="en-US" sz="1100" dirty="0">
                <a:solidFill>
                  <a:schemeClr val="tx2"/>
                </a:solidFill>
              </a:rPr>
              <a:t>05h</a:t>
            </a:r>
            <a:endParaRPr lang="en-US" sz="1100" dirty="0"/>
          </a:p>
        </p:txBody>
      </p:sp>
      <p:sp>
        <p:nvSpPr>
          <p:cNvPr id="24" name="Shape 22"/>
          <p:cNvSpPr/>
          <p:nvPr/>
        </p:nvSpPr>
        <p:spPr>
          <a:xfrm>
            <a:off x="1371600" y="3995928"/>
            <a:ext cx="233330" cy="6020"/>
          </a:xfrm>
          <a:prstGeom prst="line">
            <a:avLst/>
          </a:prstGeom>
          <a:noFill/>
          <a:ln w="38100">
            <a:solidFill>
              <a:schemeClr val="tx1"/>
            </a:solidFill>
            <a:prstDash val="solid"/>
          </a:ln>
        </p:spPr>
      </p:sp>
      <p:sp>
        <p:nvSpPr>
          <p:cNvPr id="25" name="Shape 23"/>
          <p:cNvSpPr/>
          <p:nvPr/>
        </p:nvSpPr>
        <p:spPr>
          <a:xfrm>
            <a:off x="1604930" y="4001948"/>
            <a:ext cx="233330" cy="6020"/>
          </a:xfrm>
          <a:prstGeom prst="line">
            <a:avLst/>
          </a:prstGeom>
          <a:noFill/>
          <a:ln w="38100">
            <a:solidFill>
              <a:schemeClr val="tx1"/>
            </a:solidFill>
            <a:prstDash val="solid"/>
          </a:ln>
        </p:spPr>
      </p:sp>
      <p:sp>
        <p:nvSpPr>
          <p:cNvPr id="26" name="Shape 24"/>
          <p:cNvSpPr/>
          <p:nvPr/>
        </p:nvSpPr>
        <p:spPr>
          <a:xfrm>
            <a:off x="1838259" y="4007968"/>
            <a:ext cx="233330" cy="12040"/>
          </a:xfrm>
          <a:prstGeom prst="line">
            <a:avLst/>
          </a:prstGeom>
          <a:noFill/>
          <a:ln w="38100">
            <a:solidFill>
              <a:schemeClr val="tx1"/>
            </a:solidFill>
            <a:prstDash val="solid"/>
          </a:ln>
        </p:spPr>
      </p:sp>
      <p:sp>
        <p:nvSpPr>
          <p:cNvPr id="27" name="Shape 25"/>
          <p:cNvSpPr/>
          <p:nvPr/>
        </p:nvSpPr>
        <p:spPr>
          <a:xfrm>
            <a:off x="2071589" y="4020007"/>
            <a:ext cx="233330" cy="18059"/>
          </a:xfrm>
          <a:prstGeom prst="line">
            <a:avLst/>
          </a:prstGeom>
          <a:noFill/>
          <a:ln w="38100">
            <a:solidFill>
              <a:schemeClr val="tx1"/>
            </a:solidFill>
            <a:prstDash val="solid"/>
          </a:ln>
        </p:spPr>
      </p:sp>
      <p:sp>
        <p:nvSpPr>
          <p:cNvPr id="28" name="Shape 26"/>
          <p:cNvSpPr/>
          <p:nvPr/>
        </p:nvSpPr>
        <p:spPr>
          <a:xfrm>
            <a:off x="2304919" y="4038067"/>
            <a:ext cx="233330" cy="30099"/>
          </a:xfrm>
          <a:prstGeom prst="line">
            <a:avLst/>
          </a:prstGeom>
          <a:noFill/>
          <a:ln w="38100">
            <a:solidFill>
              <a:schemeClr val="tx1"/>
            </a:solidFill>
            <a:prstDash val="solid"/>
          </a:ln>
        </p:spPr>
      </p:sp>
      <p:sp>
        <p:nvSpPr>
          <p:cNvPr id="29" name="Shape 27"/>
          <p:cNvSpPr/>
          <p:nvPr/>
        </p:nvSpPr>
        <p:spPr>
          <a:xfrm>
            <a:off x="2538248" y="4068166"/>
            <a:ext cx="233330" cy="48158"/>
          </a:xfrm>
          <a:prstGeom prst="line">
            <a:avLst/>
          </a:prstGeom>
          <a:noFill/>
          <a:ln w="38100">
            <a:solidFill>
              <a:schemeClr val="tx1"/>
            </a:solidFill>
            <a:prstDash val="solid"/>
          </a:ln>
        </p:spPr>
      </p:sp>
      <p:sp>
        <p:nvSpPr>
          <p:cNvPr id="30" name="Shape 28"/>
          <p:cNvSpPr/>
          <p:nvPr/>
        </p:nvSpPr>
        <p:spPr>
          <a:xfrm>
            <a:off x="2771578" y="4116324"/>
            <a:ext cx="233330" cy="96317"/>
          </a:xfrm>
          <a:prstGeom prst="line">
            <a:avLst/>
          </a:prstGeom>
          <a:noFill/>
          <a:ln w="38100">
            <a:solidFill>
              <a:schemeClr val="tx1"/>
            </a:solidFill>
            <a:prstDash val="solid"/>
          </a:ln>
        </p:spPr>
      </p:sp>
      <p:sp>
        <p:nvSpPr>
          <p:cNvPr id="31" name="Shape 29"/>
          <p:cNvSpPr/>
          <p:nvPr/>
        </p:nvSpPr>
        <p:spPr>
          <a:xfrm>
            <a:off x="3004908" y="4212641"/>
            <a:ext cx="233330" cy="144475"/>
          </a:xfrm>
          <a:prstGeom prst="line">
            <a:avLst/>
          </a:prstGeom>
          <a:noFill/>
          <a:ln w="38100">
            <a:solidFill>
              <a:schemeClr val="tx1"/>
            </a:solidFill>
            <a:prstDash val="solid"/>
          </a:ln>
        </p:spPr>
      </p:sp>
      <p:sp>
        <p:nvSpPr>
          <p:cNvPr id="32" name="Shape 30"/>
          <p:cNvSpPr/>
          <p:nvPr/>
        </p:nvSpPr>
        <p:spPr>
          <a:xfrm>
            <a:off x="3238237" y="4357116"/>
            <a:ext cx="233330" cy="192634"/>
          </a:xfrm>
          <a:prstGeom prst="line">
            <a:avLst/>
          </a:prstGeom>
          <a:noFill/>
          <a:ln w="38100">
            <a:solidFill>
              <a:schemeClr val="tx1"/>
            </a:solidFill>
            <a:prstDash val="solid"/>
          </a:ln>
        </p:spPr>
      </p:sp>
      <p:sp>
        <p:nvSpPr>
          <p:cNvPr id="33" name="Shape 31"/>
          <p:cNvSpPr/>
          <p:nvPr/>
        </p:nvSpPr>
        <p:spPr>
          <a:xfrm>
            <a:off x="3471567" y="4549750"/>
            <a:ext cx="233330" cy="192634"/>
          </a:xfrm>
          <a:prstGeom prst="line">
            <a:avLst/>
          </a:prstGeom>
          <a:noFill/>
          <a:ln w="38100">
            <a:solidFill>
              <a:schemeClr val="tx1"/>
            </a:solidFill>
            <a:prstDash val="solid"/>
          </a:ln>
        </p:spPr>
      </p:sp>
      <p:sp>
        <p:nvSpPr>
          <p:cNvPr id="34" name="Shape 32"/>
          <p:cNvSpPr/>
          <p:nvPr/>
        </p:nvSpPr>
        <p:spPr>
          <a:xfrm flipV="1">
            <a:off x="3704897" y="2466899"/>
            <a:ext cx="233330" cy="2275484"/>
          </a:xfrm>
          <a:prstGeom prst="line">
            <a:avLst/>
          </a:prstGeom>
          <a:noFill/>
          <a:ln w="38100">
            <a:solidFill>
              <a:schemeClr val="tx1"/>
            </a:solidFill>
            <a:prstDash val="solid"/>
          </a:ln>
        </p:spPr>
      </p:sp>
      <p:sp>
        <p:nvSpPr>
          <p:cNvPr id="35" name="Shape 33"/>
          <p:cNvSpPr/>
          <p:nvPr/>
        </p:nvSpPr>
        <p:spPr>
          <a:xfrm>
            <a:off x="3938226" y="2466899"/>
            <a:ext cx="233330" cy="108356"/>
          </a:xfrm>
          <a:prstGeom prst="line">
            <a:avLst/>
          </a:prstGeom>
          <a:noFill/>
          <a:ln w="38100">
            <a:solidFill>
              <a:schemeClr val="tx1"/>
            </a:solidFill>
            <a:prstDash val="solid"/>
          </a:ln>
        </p:spPr>
      </p:sp>
      <p:sp>
        <p:nvSpPr>
          <p:cNvPr id="36" name="Shape 34"/>
          <p:cNvSpPr/>
          <p:nvPr/>
        </p:nvSpPr>
        <p:spPr>
          <a:xfrm>
            <a:off x="4171556" y="2575255"/>
            <a:ext cx="233330" cy="156515"/>
          </a:xfrm>
          <a:prstGeom prst="line">
            <a:avLst/>
          </a:prstGeom>
          <a:noFill/>
          <a:ln w="38100">
            <a:solidFill>
              <a:schemeClr val="tx1"/>
            </a:solidFill>
            <a:prstDash val="solid"/>
          </a:ln>
        </p:spPr>
      </p:sp>
      <p:sp>
        <p:nvSpPr>
          <p:cNvPr id="37" name="Shape 35"/>
          <p:cNvSpPr/>
          <p:nvPr/>
        </p:nvSpPr>
        <p:spPr>
          <a:xfrm>
            <a:off x="4404886" y="2731770"/>
            <a:ext cx="233330" cy="180594"/>
          </a:xfrm>
          <a:prstGeom prst="line">
            <a:avLst/>
          </a:prstGeom>
          <a:noFill/>
          <a:ln w="38100">
            <a:solidFill>
              <a:schemeClr val="tx1"/>
            </a:solidFill>
            <a:prstDash val="solid"/>
          </a:ln>
        </p:spPr>
      </p:sp>
      <p:sp>
        <p:nvSpPr>
          <p:cNvPr id="38" name="Shape 36"/>
          <p:cNvSpPr/>
          <p:nvPr/>
        </p:nvSpPr>
        <p:spPr>
          <a:xfrm>
            <a:off x="4638215" y="2912364"/>
            <a:ext cx="233330" cy="192634"/>
          </a:xfrm>
          <a:prstGeom prst="line">
            <a:avLst/>
          </a:prstGeom>
          <a:noFill/>
          <a:ln w="38100">
            <a:solidFill>
              <a:schemeClr val="tx1"/>
            </a:solidFill>
            <a:prstDash val="solid"/>
          </a:ln>
        </p:spPr>
      </p:sp>
      <p:sp>
        <p:nvSpPr>
          <p:cNvPr id="39" name="Shape 37"/>
          <p:cNvSpPr/>
          <p:nvPr/>
        </p:nvSpPr>
        <p:spPr>
          <a:xfrm>
            <a:off x="4871545" y="3104998"/>
            <a:ext cx="233330" cy="192634"/>
          </a:xfrm>
          <a:prstGeom prst="line">
            <a:avLst/>
          </a:prstGeom>
          <a:noFill/>
          <a:ln w="38100">
            <a:solidFill>
              <a:schemeClr val="tx1"/>
            </a:solidFill>
            <a:prstDash val="solid"/>
          </a:ln>
        </p:spPr>
      </p:sp>
      <p:sp>
        <p:nvSpPr>
          <p:cNvPr id="40" name="Shape 38"/>
          <p:cNvSpPr/>
          <p:nvPr/>
        </p:nvSpPr>
        <p:spPr>
          <a:xfrm>
            <a:off x="5104874" y="3297631"/>
            <a:ext cx="233330" cy="216713"/>
          </a:xfrm>
          <a:prstGeom prst="line">
            <a:avLst/>
          </a:prstGeom>
          <a:noFill/>
          <a:ln w="38100">
            <a:solidFill>
              <a:schemeClr val="tx1"/>
            </a:solidFill>
            <a:prstDash val="solid"/>
          </a:ln>
        </p:spPr>
      </p:sp>
      <p:sp>
        <p:nvSpPr>
          <p:cNvPr id="41" name="Shape 39"/>
          <p:cNvSpPr/>
          <p:nvPr/>
        </p:nvSpPr>
        <p:spPr>
          <a:xfrm>
            <a:off x="5338204" y="3514344"/>
            <a:ext cx="233330" cy="240792"/>
          </a:xfrm>
          <a:prstGeom prst="line">
            <a:avLst/>
          </a:prstGeom>
          <a:noFill/>
          <a:ln w="38100">
            <a:solidFill>
              <a:schemeClr val="tx1"/>
            </a:solidFill>
            <a:prstDash val="solid"/>
          </a:ln>
        </p:spPr>
      </p:sp>
      <p:sp>
        <p:nvSpPr>
          <p:cNvPr id="42" name="Shape 40"/>
          <p:cNvSpPr/>
          <p:nvPr/>
        </p:nvSpPr>
        <p:spPr>
          <a:xfrm>
            <a:off x="5571534" y="3755136"/>
            <a:ext cx="233330" cy="228752"/>
          </a:xfrm>
          <a:prstGeom prst="line">
            <a:avLst/>
          </a:prstGeom>
          <a:noFill/>
          <a:ln w="38100">
            <a:solidFill>
              <a:schemeClr val="tx1"/>
            </a:solidFill>
            <a:prstDash val="solid"/>
          </a:ln>
        </p:spPr>
      </p:sp>
      <p:sp>
        <p:nvSpPr>
          <p:cNvPr id="43" name="Shape 41"/>
          <p:cNvSpPr/>
          <p:nvPr/>
        </p:nvSpPr>
        <p:spPr>
          <a:xfrm>
            <a:off x="5804863" y="3983888"/>
            <a:ext cx="233330" cy="156515"/>
          </a:xfrm>
          <a:prstGeom prst="line">
            <a:avLst/>
          </a:prstGeom>
          <a:noFill/>
          <a:ln w="38100">
            <a:solidFill>
              <a:schemeClr val="accent1"/>
            </a:solidFill>
            <a:prstDash val="dash"/>
          </a:ln>
        </p:spPr>
      </p:sp>
      <p:sp>
        <p:nvSpPr>
          <p:cNvPr id="44" name="Shape 42"/>
          <p:cNvSpPr/>
          <p:nvPr/>
        </p:nvSpPr>
        <p:spPr>
          <a:xfrm>
            <a:off x="6038193" y="4140403"/>
            <a:ext cx="233330" cy="144475"/>
          </a:xfrm>
          <a:prstGeom prst="line">
            <a:avLst/>
          </a:prstGeom>
          <a:noFill/>
          <a:ln w="38100">
            <a:solidFill>
              <a:schemeClr val="accent1"/>
            </a:solidFill>
            <a:prstDash val="dash"/>
          </a:ln>
        </p:spPr>
      </p:sp>
      <p:sp>
        <p:nvSpPr>
          <p:cNvPr id="45" name="Shape 43"/>
          <p:cNvSpPr/>
          <p:nvPr/>
        </p:nvSpPr>
        <p:spPr>
          <a:xfrm>
            <a:off x="6271523" y="4284878"/>
            <a:ext cx="233330" cy="156515"/>
          </a:xfrm>
          <a:prstGeom prst="line">
            <a:avLst/>
          </a:prstGeom>
          <a:noFill/>
          <a:ln w="38100">
            <a:solidFill>
              <a:schemeClr val="accent1"/>
            </a:solidFill>
            <a:prstDash val="dash"/>
          </a:ln>
        </p:spPr>
      </p:sp>
      <p:sp>
        <p:nvSpPr>
          <p:cNvPr id="46" name="Shape 44"/>
          <p:cNvSpPr/>
          <p:nvPr/>
        </p:nvSpPr>
        <p:spPr>
          <a:xfrm>
            <a:off x="6504852" y="4441393"/>
            <a:ext cx="233330" cy="156515"/>
          </a:xfrm>
          <a:prstGeom prst="line">
            <a:avLst/>
          </a:prstGeom>
          <a:noFill/>
          <a:ln w="38100">
            <a:solidFill>
              <a:schemeClr val="accent1"/>
            </a:solidFill>
            <a:prstDash val="dash"/>
          </a:ln>
        </p:spPr>
      </p:sp>
      <p:sp>
        <p:nvSpPr>
          <p:cNvPr id="47" name="Shape 45"/>
          <p:cNvSpPr/>
          <p:nvPr/>
        </p:nvSpPr>
        <p:spPr>
          <a:xfrm>
            <a:off x="6738182" y="4597908"/>
            <a:ext cx="233330" cy="144475"/>
          </a:xfrm>
          <a:prstGeom prst="line">
            <a:avLst/>
          </a:prstGeom>
          <a:noFill/>
          <a:ln w="38100">
            <a:solidFill>
              <a:schemeClr val="accent1"/>
            </a:solidFill>
            <a:prstDash val="dash"/>
          </a:ln>
        </p:spPr>
      </p:sp>
      <p:sp>
        <p:nvSpPr>
          <p:cNvPr id="48" name="Shape 46"/>
          <p:cNvSpPr/>
          <p:nvPr/>
        </p:nvSpPr>
        <p:spPr>
          <a:xfrm>
            <a:off x="6971512" y="4742383"/>
            <a:ext cx="233330" cy="132436"/>
          </a:xfrm>
          <a:prstGeom prst="line">
            <a:avLst/>
          </a:prstGeom>
          <a:noFill/>
          <a:ln w="38100">
            <a:solidFill>
              <a:schemeClr val="accent1"/>
            </a:solidFill>
            <a:prstDash val="dash"/>
          </a:ln>
        </p:spPr>
      </p:sp>
      <p:sp>
        <p:nvSpPr>
          <p:cNvPr id="49" name="Shape 47"/>
          <p:cNvSpPr/>
          <p:nvPr/>
        </p:nvSpPr>
        <p:spPr>
          <a:xfrm>
            <a:off x="7204841" y="4874819"/>
            <a:ext cx="233330" cy="96317"/>
          </a:xfrm>
          <a:prstGeom prst="line">
            <a:avLst/>
          </a:prstGeom>
          <a:noFill/>
          <a:ln w="38100">
            <a:solidFill>
              <a:schemeClr val="accent1"/>
            </a:solidFill>
            <a:prstDash val="dash"/>
          </a:ln>
        </p:spPr>
      </p:sp>
      <p:sp>
        <p:nvSpPr>
          <p:cNvPr id="50" name="Shape 48"/>
          <p:cNvSpPr/>
          <p:nvPr/>
        </p:nvSpPr>
        <p:spPr>
          <a:xfrm>
            <a:off x="7438171" y="4971136"/>
            <a:ext cx="233330" cy="72238"/>
          </a:xfrm>
          <a:prstGeom prst="line">
            <a:avLst/>
          </a:prstGeom>
          <a:noFill/>
          <a:ln w="38100">
            <a:solidFill>
              <a:schemeClr val="accent1"/>
            </a:solidFill>
            <a:prstDash val="dash"/>
          </a:ln>
        </p:spPr>
      </p:sp>
      <p:sp>
        <p:nvSpPr>
          <p:cNvPr id="51" name="Shape 49"/>
          <p:cNvSpPr/>
          <p:nvPr/>
        </p:nvSpPr>
        <p:spPr>
          <a:xfrm>
            <a:off x="7671501" y="5043373"/>
            <a:ext cx="233330" cy="60198"/>
          </a:xfrm>
          <a:prstGeom prst="line">
            <a:avLst/>
          </a:prstGeom>
          <a:noFill/>
          <a:ln w="38100">
            <a:solidFill>
              <a:schemeClr val="accent1"/>
            </a:solidFill>
            <a:prstDash val="dash"/>
          </a:ln>
        </p:spPr>
      </p:sp>
      <p:sp>
        <p:nvSpPr>
          <p:cNvPr id="52" name="Shape 50"/>
          <p:cNvSpPr/>
          <p:nvPr/>
        </p:nvSpPr>
        <p:spPr>
          <a:xfrm>
            <a:off x="7904830" y="5103571"/>
            <a:ext cx="233330" cy="48158"/>
          </a:xfrm>
          <a:prstGeom prst="line">
            <a:avLst/>
          </a:prstGeom>
          <a:noFill/>
          <a:ln w="38100">
            <a:solidFill>
              <a:schemeClr val="accent1"/>
            </a:solidFill>
            <a:prstDash val="dash"/>
          </a:ln>
        </p:spPr>
      </p:sp>
      <p:sp>
        <p:nvSpPr>
          <p:cNvPr id="53" name="Shape 51"/>
          <p:cNvSpPr/>
          <p:nvPr/>
        </p:nvSpPr>
        <p:spPr>
          <a:xfrm>
            <a:off x="5722567" y="3901592"/>
            <a:ext cx="164592" cy="164592"/>
          </a:xfrm>
          <a:prstGeom prst="ellipse">
            <a:avLst/>
          </a:prstGeom>
          <a:solidFill>
            <a:schemeClr val="tx1"/>
          </a:solidFill>
          <a:ln w="19050">
            <a:solidFill>
              <a:schemeClr val="bg1"/>
            </a:solidFill>
            <a:prstDash val="solid"/>
          </a:ln>
        </p:spPr>
      </p:sp>
      <p:sp>
        <p:nvSpPr>
          <p:cNvPr id="54" name="Shape 52"/>
          <p:cNvSpPr/>
          <p:nvPr/>
        </p:nvSpPr>
        <p:spPr>
          <a:xfrm>
            <a:off x="7160067" y="4807458"/>
            <a:ext cx="182880" cy="182880"/>
          </a:xfrm>
          <a:prstGeom prst="ellipse">
            <a:avLst/>
          </a:prstGeom>
          <a:solidFill>
            <a:schemeClr val="accent3"/>
          </a:solidFill>
          <a:ln w="19050">
            <a:solidFill>
              <a:schemeClr val="bg1"/>
            </a:solidFill>
            <a:prstDash val="solid"/>
          </a:ln>
        </p:spPr>
      </p:sp>
      <p:sp>
        <p:nvSpPr>
          <p:cNvPr id="55" name="Text 53"/>
          <p:cNvSpPr txBox="1"/>
          <p:nvPr/>
        </p:nvSpPr>
        <p:spPr>
          <a:xfrm>
            <a:off x="1441599" y="3611880"/>
            <a:ext cx="2194560" cy="256032"/>
          </a:xfrm>
          <a:prstGeom prst="rect">
            <a:avLst/>
          </a:prstGeom>
          <a:noFill/>
          <a:ln/>
        </p:spPr>
        <p:txBody>
          <a:bodyPr wrap="square" lIns="0" tIns="0" rIns="0" bIns="0" rtlCol="0" anchor="t"/>
          <a:lstStyle/>
          <a:p>
            <a:pPr indent="0" marL="0">
              <a:buNone/>
            </a:pPr>
            <a:r>
              <a:rPr lang="en-US" sz="1100" dirty="0">
                <a:solidFill>
                  <a:schemeClr val="tx2"/>
                </a:solidFill>
              </a:rPr>
              <a:t>noite: consumo baixo</a:t>
            </a:r>
            <a:endParaRPr lang="en-US" sz="1100" dirty="0"/>
          </a:p>
        </p:txBody>
      </p:sp>
      <p:sp>
        <p:nvSpPr>
          <p:cNvPr id="56" name="Text 54"/>
          <p:cNvSpPr txBox="1"/>
          <p:nvPr/>
        </p:nvSpPr>
        <p:spPr>
          <a:xfrm>
            <a:off x="5914591" y="3636416"/>
            <a:ext cx="731520" cy="256032"/>
          </a:xfrm>
          <a:prstGeom prst="rect">
            <a:avLst/>
          </a:prstGeom>
          <a:noFill/>
          <a:ln/>
        </p:spPr>
        <p:txBody>
          <a:bodyPr wrap="square" lIns="0" tIns="0" rIns="0" bIns="0" rtlCol="0" anchor="t"/>
          <a:lstStyle/>
          <a:p>
            <a:pPr indent="0" marL="0">
              <a:buNone/>
            </a:pPr>
            <a:r>
              <a:rPr lang="en-US" sz="1100" b="1" dirty="0">
                <a:solidFill>
                  <a:schemeClr val="tx1"/>
                </a:solidFill>
              </a:rPr>
              <a:t>agora</a:t>
            </a:r>
            <a:endParaRPr lang="en-US" sz="1100" dirty="0"/>
          </a:p>
        </p:txBody>
      </p:sp>
      <p:sp>
        <p:nvSpPr>
          <p:cNvPr id="57" name="Text 55"/>
          <p:cNvSpPr txBox="1"/>
          <p:nvPr/>
        </p:nvSpPr>
        <p:spPr>
          <a:xfrm>
            <a:off x="6388188" y="3945636"/>
            <a:ext cx="914400" cy="256032"/>
          </a:xfrm>
          <a:prstGeom prst="rect">
            <a:avLst/>
          </a:prstGeom>
          <a:noFill/>
          <a:ln/>
        </p:spPr>
        <p:txBody>
          <a:bodyPr wrap="square" lIns="0" tIns="0" rIns="0" bIns="0" rtlCol="0" anchor="t"/>
          <a:lstStyle/>
          <a:p>
            <a:pPr indent="0" marL="0">
              <a:buNone/>
            </a:pPr>
            <a:r>
              <a:rPr lang="en-US" sz="1100" b="1" dirty="0">
                <a:solidFill>
                  <a:schemeClr val="accent1"/>
                </a:solidFill>
              </a:rPr>
              <a:t>previsão</a:t>
            </a:r>
            <a:endParaRPr lang="en-US" sz="1100" dirty="0"/>
          </a:p>
        </p:txBody>
      </p:sp>
      <p:sp>
        <p:nvSpPr>
          <p:cNvPr id="58" name="Text 56"/>
          <p:cNvSpPr txBox="1"/>
          <p:nvPr/>
        </p:nvSpPr>
        <p:spPr>
          <a:xfrm>
            <a:off x="4029666" y="2174291"/>
            <a:ext cx="914400" cy="256032"/>
          </a:xfrm>
          <a:prstGeom prst="rect">
            <a:avLst/>
          </a:prstGeom>
          <a:noFill/>
          <a:ln/>
        </p:spPr>
        <p:txBody>
          <a:bodyPr wrap="square" lIns="0" tIns="0" rIns="0" bIns="0" rtlCol="0" anchor="t"/>
          <a:lstStyle/>
          <a:p>
            <a:pPr indent="0" marL="0">
              <a:buNone/>
            </a:pPr>
            <a:r>
              <a:rPr lang="en-US" sz="1100" b="1" dirty="0">
                <a:solidFill>
                  <a:schemeClr val="accent4"/>
                </a:solidFill>
              </a:rPr>
              <a:t>entrega</a:t>
            </a:r>
            <a:endParaRPr lang="en-US" sz="1100" dirty="0"/>
          </a:p>
        </p:txBody>
      </p:sp>
      <p:sp>
        <p:nvSpPr>
          <p:cNvPr id="59" name="Shape 57"/>
          <p:cNvSpPr/>
          <p:nvPr/>
        </p:nvSpPr>
        <p:spPr>
          <a:xfrm>
            <a:off x="1371600" y="5989320"/>
            <a:ext cx="411480" cy="914"/>
          </a:xfrm>
          <a:prstGeom prst="line">
            <a:avLst/>
          </a:prstGeom>
          <a:noFill/>
          <a:ln w="38100">
            <a:solidFill>
              <a:schemeClr val="tx1"/>
            </a:solidFill>
            <a:prstDash val="solid"/>
          </a:ln>
        </p:spPr>
      </p:sp>
      <p:sp>
        <p:nvSpPr>
          <p:cNvPr id="60" name="Text 58"/>
          <p:cNvSpPr txBox="1"/>
          <p:nvPr/>
        </p:nvSpPr>
        <p:spPr>
          <a:xfrm>
            <a:off x="1874520" y="5861304"/>
            <a:ext cx="1463040" cy="256032"/>
          </a:xfrm>
          <a:prstGeom prst="rect">
            <a:avLst/>
          </a:prstGeom>
          <a:noFill/>
          <a:ln/>
        </p:spPr>
        <p:txBody>
          <a:bodyPr wrap="square" lIns="0" tIns="0" rIns="0" bIns="0" rtlCol="0" anchor="t"/>
          <a:lstStyle/>
          <a:p>
            <a:pPr indent="0" marL="0">
              <a:buNone/>
            </a:pPr>
            <a:r>
              <a:rPr lang="en-US" sz="1200" dirty="0">
                <a:solidFill>
                  <a:schemeClr val="tx2"/>
                </a:solidFill>
              </a:rPr>
              <a:t>Nível medido</a:t>
            </a:r>
            <a:endParaRPr lang="en-US" sz="1200" dirty="0"/>
          </a:p>
        </p:txBody>
      </p:sp>
      <p:sp>
        <p:nvSpPr>
          <p:cNvPr id="61" name="Shape 59"/>
          <p:cNvSpPr/>
          <p:nvPr/>
        </p:nvSpPr>
        <p:spPr>
          <a:xfrm>
            <a:off x="3474720" y="5989320"/>
            <a:ext cx="411480" cy="914"/>
          </a:xfrm>
          <a:prstGeom prst="line">
            <a:avLst/>
          </a:prstGeom>
          <a:noFill/>
          <a:ln w="38100">
            <a:solidFill>
              <a:schemeClr val="accent1"/>
            </a:solidFill>
            <a:prstDash val="dash"/>
          </a:ln>
        </p:spPr>
      </p:sp>
      <p:sp>
        <p:nvSpPr>
          <p:cNvPr id="62" name="Text 60"/>
          <p:cNvSpPr txBox="1"/>
          <p:nvPr/>
        </p:nvSpPr>
        <p:spPr>
          <a:xfrm>
            <a:off x="3977640" y="5861304"/>
            <a:ext cx="1463040" cy="256032"/>
          </a:xfrm>
          <a:prstGeom prst="rect">
            <a:avLst/>
          </a:prstGeom>
          <a:noFill/>
          <a:ln/>
        </p:spPr>
        <p:txBody>
          <a:bodyPr wrap="square" lIns="0" tIns="0" rIns="0" bIns="0" rtlCol="0" anchor="t"/>
          <a:lstStyle/>
          <a:p>
            <a:pPr indent="0" marL="0">
              <a:buNone/>
            </a:pPr>
            <a:r>
              <a:rPr lang="en-US" sz="1200" dirty="0">
                <a:solidFill>
                  <a:schemeClr val="tx2"/>
                </a:solidFill>
              </a:rPr>
              <a:t>Previsão</a:t>
            </a:r>
            <a:endParaRPr lang="en-US" sz="1200" dirty="0"/>
          </a:p>
        </p:txBody>
      </p:sp>
      <p:sp>
        <p:nvSpPr>
          <p:cNvPr id="63" name="Shape 61"/>
          <p:cNvSpPr/>
          <p:nvPr/>
        </p:nvSpPr>
        <p:spPr>
          <a:xfrm>
            <a:off x="5577840" y="5989320"/>
            <a:ext cx="411480" cy="914"/>
          </a:xfrm>
          <a:prstGeom prst="line">
            <a:avLst/>
          </a:prstGeom>
          <a:noFill/>
          <a:ln w="38100">
            <a:solidFill>
              <a:schemeClr val="accent3"/>
            </a:solidFill>
            <a:prstDash val="dash"/>
          </a:ln>
        </p:spPr>
      </p:sp>
      <p:sp>
        <p:nvSpPr>
          <p:cNvPr id="64" name="Text 62"/>
          <p:cNvSpPr txBox="1"/>
          <p:nvPr/>
        </p:nvSpPr>
        <p:spPr>
          <a:xfrm>
            <a:off x="6080760" y="5861304"/>
            <a:ext cx="1463040" cy="256032"/>
          </a:xfrm>
          <a:prstGeom prst="rect">
            <a:avLst/>
          </a:prstGeom>
          <a:noFill/>
          <a:ln/>
        </p:spPr>
        <p:txBody>
          <a:bodyPr wrap="square" lIns="0" tIns="0" rIns="0" bIns="0" rtlCol="0" anchor="t"/>
          <a:lstStyle/>
          <a:p>
            <a:pPr indent="0" marL="0">
              <a:buNone/>
            </a:pPr>
            <a:r>
              <a:rPr lang="en-US" sz="1200" dirty="0">
                <a:solidFill>
                  <a:schemeClr val="tx2"/>
                </a:solidFill>
              </a:rPr>
              <a:t>Nível crítico</a:t>
            </a:r>
            <a:endParaRPr lang="en-US" sz="1200" dirty="0"/>
          </a:p>
        </p:txBody>
      </p:sp>
      <p:sp>
        <p:nvSpPr>
          <p:cNvPr id="65" name="Shape 63"/>
          <p:cNvSpPr/>
          <p:nvPr/>
        </p:nvSpPr>
        <p:spPr>
          <a:xfrm>
            <a:off x="8549640" y="1508760"/>
            <a:ext cx="3108960" cy="1051560"/>
          </a:xfrm>
          <a:prstGeom prst="roundRect">
            <a:avLst>
              <a:gd name="adj" fmla="val 10435"/>
            </a:avLst>
          </a:prstGeom>
          <a:solidFill>
            <a:schemeClr val="bg2"/>
          </a:solidFill>
          <a:ln/>
        </p:spPr>
      </p:sp>
      <p:sp>
        <p:nvSpPr>
          <p:cNvPr id="66" name="Shape 64"/>
          <p:cNvSpPr/>
          <p:nvPr/>
        </p:nvSpPr>
        <p:spPr>
          <a:xfrm>
            <a:off x="8732520" y="1737360"/>
            <a:ext cx="594360" cy="594360"/>
          </a:xfrm>
          <a:prstGeom prst="ellipse">
            <a:avLst/>
          </a:prstGeom>
          <a:solidFill>
            <a:srgbClr val="1E7A46"/>
          </a:solidFill>
          <a:ln/>
        </p:spPr>
      </p:sp>
      <p:pic>
        <p:nvPicPr>
          <p:cNvPr id="67" name="Image 0" descr="preencoded.png">    </p:cNvPr>
          <p:cNvPicPr>
            <a:picLocks noChangeAspect="1"/>
          </p:cNvPicPr>
          <p:nvPr/>
        </p:nvPicPr>
        <p:blipFill>
          <a:blip r:embed="rId1"/>
          <a:stretch>
            <a:fillRect/>
          </a:stretch>
        </p:blipFill>
        <p:spPr>
          <a:xfrm>
            <a:off x="8863279" y="1868119"/>
            <a:ext cx="332842" cy="332842"/>
          </a:xfrm>
          <a:prstGeom prst="rect">
            <a:avLst/>
          </a:prstGeom>
        </p:spPr>
      </p:pic>
      <p:sp>
        <p:nvSpPr>
          <p:cNvPr id="68" name="Text 65"/>
          <p:cNvSpPr txBox="1"/>
          <p:nvPr/>
        </p:nvSpPr>
        <p:spPr>
          <a:xfrm>
            <a:off x="9464040" y="1645920"/>
            <a:ext cx="2103120" cy="457200"/>
          </a:xfrm>
          <a:prstGeom prst="rect">
            <a:avLst/>
          </a:prstGeom>
          <a:noFill/>
          <a:ln/>
        </p:spPr>
        <p:txBody>
          <a:bodyPr wrap="square" lIns="0" tIns="0" rIns="0" bIns="0" rtlCol="0" anchor="t"/>
          <a:lstStyle/>
          <a:p>
            <a:pPr indent="0" marL="0">
              <a:buNone/>
            </a:pPr>
            <a:r>
              <a:rPr lang="en-US" sz="1400" b="1" dirty="0">
                <a:solidFill>
                  <a:schemeClr val="tx1"/>
                </a:solidFill>
              </a:rPr>
              <a:t>Entrega detetada · 10h05</a:t>
            </a:r>
            <a:endParaRPr lang="en-US" sz="1400" dirty="0"/>
          </a:p>
        </p:txBody>
      </p:sp>
      <p:sp>
        <p:nvSpPr>
          <p:cNvPr id="69" name="Text 66"/>
          <p:cNvSpPr txBox="1"/>
          <p:nvPr/>
        </p:nvSpPr>
        <p:spPr>
          <a:xfrm>
            <a:off x="9464040" y="2075688"/>
            <a:ext cx="2103120" cy="411480"/>
          </a:xfrm>
          <a:prstGeom prst="rect">
            <a:avLst/>
          </a:prstGeom>
          <a:noFill/>
          <a:ln/>
        </p:spPr>
        <p:txBody>
          <a:bodyPr wrap="square" lIns="0" tIns="0" rIns="0" bIns="0" rtlCol="0" anchor="t"/>
          <a:lstStyle/>
          <a:p>
            <a:pPr indent="0" marL="0">
              <a:buNone/>
            </a:pPr>
            <a:r>
              <a:rPr lang="en-US" sz="1300" dirty="0">
                <a:solidFill>
                  <a:schemeClr val="tx2"/>
                </a:solidFill>
              </a:rPr>
              <a:t>+19 700 L · fatura 20 000 L</a:t>
            </a:r>
            <a:endParaRPr lang="en-US" sz="1300" dirty="0"/>
          </a:p>
        </p:txBody>
      </p:sp>
      <p:sp>
        <p:nvSpPr>
          <p:cNvPr id="70" name="Shape 67"/>
          <p:cNvSpPr/>
          <p:nvPr/>
        </p:nvSpPr>
        <p:spPr>
          <a:xfrm>
            <a:off x="8549640" y="2715768"/>
            <a:ext cx="3108960" cy="1051560"/>
          </a:xfrm>
          <a:prstGeom prst="roundRect">
            <a:avLst>
              <a:gd name="adj" fmla="val 10435"/>
            </a:avLst>
          </a:prstGeom>
          <a:solidFill>
            <a:schemeClr val="bg2"/>
          </a:solidFill>
          <a:ln/>
        </p:spPr>
      </p:sp>
      <p:sp>
        <p:nvSpPr>
          <p:cNvPr id="71" name="Shape 68"/>
          <p:cNvSpPr/>
          <p:nvPr/>
        </p:nvSpPr>
        <p:spPr>
          <a:xfrm>
            <a:off x="8732520" y="2944368"/>
            <a:ext cx="594360" cy="594360"/>
          </a:xfrm>
          <a:prstGeom prst="ellipse">
            <a:avLst/>
          </a:prstGeom>
          <a:solidFill>
            <a:srgbClr val="14213D"/>
          </a:solidFill>
          <a:ln/>
        </p:spPr>
      </p:sp>
      <p:pic>
        <p:nvPicPr>
          <p:cNvPr id="72" name="Image 1" descr="preencoded.png">    </p:cNvPr>
          <p:cNvPicPr>
            <a:picLocks noChangeAspect="1"/>
          </p:cNvPicPr>
          <p:nvPr/>
        </p:nvPicPr>
        <p:blipFill>
          <a:blip r:embed="rId2"/>
          <a:stretch>
            <a:fillRect/>
          </a:stretch>
        </p:blipFill>
        <p:spPr>
          <a:xfrm>
            <a:off x="8863279" y="3075127"/>
            <a:ext cx="332842" cy="332842"/>
          </a:xfrm>
          <a:prstGeom prst="rect">
            <a:avLst/>
          </a:prstGeom>
        </p:spPr>
      </p:pic>
      <p:sp>
        <p:nvSpPr>
          <p:cNvPr id="73" name="Text 69"/>
          <p:cNvSpPr txBox="1"/>
          <p:nvPr/>
        </p:nvSpPr>
        <p:spPr>
          <a:xfrm>
            <a:off x="9464040" y="2852928"/>
            <a:ext cx="2103120" cy="457200"/>
          </a:xfrm>
          <a:prstGeom prst="rect">
            <a:avLst/>
          </a:prstGeom>
          <a:noFill/>
          <a:ln/>
        </p:spPr>
        <p:txBody>
          <a:bodyPr wrap="square" lIns="0" tIns="0" rIns="0" bIns="0" rtlCol="0" anchor="t"/>
          <a:lstStyle/>
          <a:p>
            <a:pPr indent="0" marL="0">
              <a:buNone/>
            </a:pPr>
            <a:r>
              <a:rPr lang="en-US" sz="1400" b="1" dirty="0">
                <a:solidFill>
                  <a:schemeClr val="tx1"/>
                </a:solidFill>
              </a:rPr>
              <a:t>Agora · terça 19h</a:t>
            </a:r>
            <a:endParaRPr lang="en-US" sz="1400" dirty="0"/>
          </a:p>
        </p:txBody>
      </p:sp>
      <p:sp>
        <p:nvSpPr>
          <p:cNvPr id="74" name="Text 70"/>
          <p:cNvSpPr txBox="1"/>
          <p:nvPr/>
        </p:nvSpPr>
        <p:spPr>
          <a:xfrm>
            <a:off x="9464040" y="3282696"/>
            <a:ext cx="2103120" cy="411480"/>
          </a:xfrm>
          <a:prstGeom prst="rect">
            <a:avLst/>
          </a:prstGeom>
          <a:noFill/>
          <a:ln/>
        </p:spPr>
        <p:txBody>
          <a:bodyPr wrap="square" lIns="0" tIns="0" rIns="0" bIns="0" rtlCol="0" anchor="t"/>
          <a:lstStyle/>
          <a:p>
            <a:pPr indent="0" marL="0">
              <a:buNone/>
            </a:pPr>
            <a:r>
              <a:rPr lang="en-US" sz="1300" dirty="0">
                <a:solidFill>
                  <a:schemeClr val="tx2"/>
                </a:solidFill>
              </a:rPr>
              <a:t>12 100 L no tanque</a:t>
            </a:r>
            <a:endParaRPr lang="en-US" sz="1300" dirty="0"/>
          </a:p>
        </p:txBody>
      </p:sp>
      <p:sp>
        <p:nvSpPr>
          <p:cNvPr id="75" name="Shape 71"/>
          <p:cNvSpPr/>
          <p:nvPr/>
        </p:nvSpPr>
        <p:spPr>
          <a:xfrm>
            <a:off x="8549640" y="3922776"/>
            <a:ext cx="3108960" cy="1051560"/>
          </a:xfrm>
          <a:prstGeom prst="roundRect">
            <a:avLst>
              <a:gd name="adj" fmla="val 10435"/>
            </a:avLst>
          </a:prstGeom>
          <a:solidFill>
            <a:schemeClr val="bg2"/>
          </a:solidFill>
          <a:ln/>
        </p:spPr>
      </p:sp>
      <p:sp>
        <p:nvSpPr>
          <p:cNvPr id="76" name="Shape 72"/>
          <p:cNvSpPr/>
          <p:nvPr/>
        </p:nvSpPr>
        <p:spPr>
          <a:xfrm>
            <a:off x="8732520" y="4151376"/>
            <a:ext cx="594360" cy="594360"/>
          </a:xfrm>
          <a:prstGeom prst="ellipse">
            <a:avLst/>
          </a:prstGeom>
          <a:solidFill>
            <a:srgbClr val="B42318"/>
          </a:solidFill>
          <a:ln/>
        </p:spPr>
      </p:sp>
      <p:pic>
        <p:nvPicPr>
          <p:cNvPr id="77" name="Image 2" descr="preencoded.png">    </p:cNvPr>
          <p:cNvPicPr>
            <a:picLocks noChangeAspect="1"/>
          </p:cNvPicPr>
          <p:nvPr/>
        </p:nvPicPr>
        <p:blipFill>
          <a:blip r:embed="rId3"/>
          <a:stretch>
            <a:fillRect/>
          </a:stretch>
        </p:blipFill>
        <p:spPr>
          <a:xfrm>
            <a:off x="8863279" y="4282135"/>
            <a:ext cx="332842" cy="332842"/>
          </a:xfrm>
          <a:prstGeom prst="rect">
            <a:avLst/>
          </a:prstGeom>
        </p:spPr>
      </p:pic>
      <p:sp>
        <p:nvSpPr>
          <p:cNvPr id="78" name="Text 73"/>
          <p:cNvSpPr txBox="1"/>
          <p:nvPr/>
        </p:nvSpPr>
        <p:spPr>
          <a:xfrm>
            <a:off x="9464040" y="4059936"/>
            <a:ext cx="2103120" cy="457200"/>
          </a:xfrm>
          <a:prstGeom prst="rect">
            <a:avLst/>
          </a:prstGeom>
          <a:noFill/>
          <a:ln/>
        </p:spPr>
        <p:txBody>
          <a:bodyPr wrap="square" lIns="0" tIns="0" rIns="0" bIns="0" rtlCol="0" anchor="t"/>
          <a:lstStyle/>
          <a:p>
            <a:pPr indent="0" marL="0">
              <a:buNone/>
            </a:pPr>
            <a:r>
              <a:rPr lang="en-US" sz="1400" b="1" dirty="0">
                <a:solidFill>
                  <a:schemeClr val="tx1"/>
                </a:solidFill>
              </a:rPr>
              <a:t>Crítico previsto · quarta 01h10</a:t>
            </a:r>
            <a:endParaRPr lang="en-US" sz="1400" dirty="0"/>
          </a:p>
        </p:txBody>
      </p:sp>
      <p:sp>
        <p:nvSpPr>
          <p:cNvPr id="79" name="Text 74"/>
          <p:cNvSpPr txBox="1"/>
          <p:nvPr/>
        </p:nvSpPr>
        <p:spPr>
          <a:xfrm>
            <a:off x="9464040" y="4489704"/>
            <a:ext cx="2103120" cy="411480"/>
          </a:xfrm>
          <a:prstGeom prst="rect">
            <a:avLst/>
          </a:prstGeom>
          <a:noFill/>
          <a:ln/>
        </p:spPr>
        <p:txBody>
          <a:bodyPr wrap="square" lIns="0" tIns="0" rIns="0" bIns="0" rtlCol="0" anchor="t"/>
          <a:lstStyle/>
          <a:p>
            <a:pPr indent="0" marL="0">
              <a:buNone/>
            </a:pPr>
            <a:r>
              <a:rPr lang="en-US" sz="1300" dirty="0">
                <a:solidFill>
                  <a:schemeClr val="tx2"/>
                </a:solidFill>
              </a:rPr>
              <a:t>Camião a 3 h do depósito</a:t>
            </a:r>
            <a:endParaRPr lang="en-US" sz="1300" dirty="0"/>
          </a:p>
        </p:txBody>
      </p:sp>
      <p:sp>
        <p:nvSpPr>
          <p:cNvPr id="80" name="Text 75"/>
          <p:cNvSpPr txBox="1"/>
          <p:nvPr/>
        </p:nvSpPr>
        <p:spPr>
          <a:xfrm>
            <a:off x="8549640" y="5166360"/>
            <a:ext cx="3108960" cy="960120"/>
          </a:xfrm>
          <a:prstGeom prst="roundRect">
            <a:avLst>
              <a:gd name="adj" fmla="val 7619"/>
            </a:avLst>
          </a:prstGeom>
          <a:solidFill>
            <a:schemeClr val="accent1"/>
          </a:solidFill>
          <a:ln/>
        </p:spPr>
        <p:txBody>
          <a:bodyPr wrap="square" lIns="50800" tIns="50800" rIns="50800" bIns="50800" rtlCol="0" anchor="ctr"/>
          <a:lstStyle/>
          <a:p>
            <a:pPr algn="ctr" indent="0" marL="0">
              <a:buNone/>
            </a:pPr>
            <a:r>
              <a:rPr lang="en-US" sz="1600" dirty="0">
                <a:solidFill>
                  <a:schemeClr val="bg1"/>
                </a:solidFill>
              </a:rPr>
              <a:t>Despachar até</a:t>
            </a:r>
            <a:endParaRPr lang="en-US" sz="1400" dirty="0"/>
          </a:p>
          <a:p>
            <a:pPr algn="ctr" indent="0" marL="0">
              <a:buNone/>
            </a:pPr>
            <a:r>
              <a:rPr lang="en-US" sz="4000" b="1" dirty="0">
                <a:solidFill>
                  <a:schemeClr val="bg1"/>
                </a:solidFill>
              </a:rPr>
              <a:t>22h00</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06 · CAMADA 4 — CÁLCULOS AUTOMÁTICOS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Três números que a plataforma calcula sozinha</a:t>
            </a:r>
            <a:endParaRPr lang="en-US" sz="3400" dirty="0"/>
          </a:p>
        </p:txBody>
      </p:sp>
      <p:sp>
        <p:nvSpPr>
          <p:cNvPr id="4" name="Shape 2"/>
          <p:cNvSpPr/>
          <p:nvPr/>
        </p:nvSpPr>
        <p:spPr>
          <a:xfrm>
            <a:off x="548640" y="1600200"/>
            <a:ext cx="3520440" cy="4023360"/>
          </a:xfrm>
          <a:prstGeom prst="roundRect">
            <a:avLst>
              <a:gd name="adj" fmla="val 3636"/>
            </a:avLst>
          </a:prstGeom>
          <a:solidFill>
            <a:schemeClr val="bg2"/>
          </a:solidFill>
          <a:ln/>
        </p:spPr>
      </p:sp>
      <p:sp>
        <p:nvSpPr>
          <p:cNvPr id="5" name="Shape 3"/>
          <p:cNvSpPr/>
          <p:nvPr/>
        </p:nvSpPr>
        <p:spPr>
          <a:xfrm>
            <a:off x="868680" y="1874520"/>
            <a:ext cx="731520" cy="731520"/>
          </a:xfrm>
          <a:prstGeom prst="ellipse">
            <a:avLst/>
          </a:prstGeom>
          <a:solidFill>
            <a:srgbClr val="5B4BC4"/>
          </a:solidFill>
          <a:ln/>
        </p:spPr>
      </p:sp>
      <p:pic>
        <p:nvPicPr>
          <p:cNvPr id="6" name="Image 0" descr="preencoded.png">    </p:cNvPr>
          <p:cNvPicPr>
            <a:picLocks noChangeAspect="1"/>
          </p:cNvPicPr>
          <p:nvPr/>
        </p:nvPicPr>
        <p:blipFill>
          <a:blip r:embed="rId1"/>
          <a:stretch>
            <a:fillRect/>
          </a:stretch>
        </p:blipFill>
        <p:spPr>
          <a:xfrm>
            <a:off x="1029614" y="2035454"/>
            <a:ext cx="409651" cy="409651"/>
          </a:xfrm>
          <a:prstGeom prst="rect">
            <a:avLst/>
          </a:prstGeom>
        </p:spPr>
      </p:pic>
      <p:sp>
        <p:nvSpPr>
          <p:cNvPr id="7" name="Text 4"/>
          <p:cNvSpPr txBox="1"/>
          <p:nvPr/>
        </p:nvSpPr>
        <p:spPr>
          <a:xfrm>
            <a:off x="868680" y="2788920"/>
            <a:ext cx="3017520" cy="1005840"/>
          </a:xfrm>
          <a:prstGeom prst="rect">
            <a:avLst/>
          </a:prstGeom>
          <a:noFill/>
          <a:ln/>
        </p:spPr>
        <p:txBody>
          <a:bodyPr wrap="square" lIns="0" tIns="0" rIns="0" bIns="0" rtlCol="0" anchor="t"/>
          <a:lstStyle/>
          <a:p>
            <a:pPr indent="0" marL="0">
              <a:buNone/>
            </a:pPr>
            <a:r>
              <a:rPr lang="en-US" sz="6000" b="1" dirty="0">
                <a:solidFill>
                  <a:srgbClr val="5B4BC4"/>
                </a:solidFill>
              </a:rPr>
              <a:t>22h00</a:t>
            </a:r>
            <a:endParaRPr lang="en-US" sz="6000" dirty="0"/>
          </a:p>
        </p:txBody>
      </p:sp>
      <p:sp>
        <p:nvSpPr>
          <p:cNvPr id="8" name="Text 5"/>
          <p:cNvSpPr txBox="1"/>
          <p:nvPr/>
        </p:nvSpPr>
        <p:spPr>
          <a:xfrm>
            <a:off x="868680" y="38404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Hora-limite para despachar</a:t>
            </a:r>
            <a:endParaRPr lang="en-US" sz="1800" dirty="0"/>
          </a:p>
        </p:txBody>
      </p:sp>
      <p:sp>
        <p:nvSpPr>
          <p:cNvPr id="9" name="Text 6"/>
          <p:cNvSpPr txBox="1"/>
          <p:nvPr/>
        </p:nvSpPr>
        <p:spPr>
          <a:xfrm>
            <a:off x="868680" y="4526280"/>
            <a:ext cx="2926080" cy="822960"/>
          </a:xfrm>
          <a:prstGeom prst="rect">
            <a:avLst/>
          </a:prstGeom>
          <a:noFill/>
          <a:ln/>
        </p:spPr>
        <p:txBody>
          <a:bodyPr wrap="square" lIns="0" tIns="0" rIns="0" bIns="0" rtlCol="0" anchor="t"/>
          <a:lstStyle/>
          <a:p>
            <a:pPr indent="0" marL="0">
              <a:buNone/>
            </a:pPr>
            <a:r>
              <a:rPr lang="en-US" sz="1400" dirty="0">
                <a:solidFill>
                  <a:schemeClr val="tx2"/>
                </a:solidFill>
              </a:rPr>
              <a:t>Crítico previsto às 01h10 · o camião precisa de 3 h</a:t>
            </a:r>
            <a:endParaRPr lang="en-US" sz="1400" dirty="0"/>
          </a:p>
        </p:txBody>
      </p:sp>
      <p:sp>
        <p:nvSpPr>
          <p:cNvPr id="10" name="Shape 7"/>
          <p:cNvSpPr/>
          <p:nvPr/>
        </p:nvSpPr>
        <p:spPr>
          <a:xfrm>
            <a:off x="4343400" y="1600200"/>
            <a:ext cx="3520440" cy="4023360"/>
          </a:xfrm>
          <a:prstGeom prst="roundRect">
            <a:avLst>
              <a:gd name="adj" fmla="val 3636"/>
            </a:avLst>
          </a:prstGeom>
          <a:solidFill>
            <a:schemeClr val="bg2"/>
          </a:solidFill>
          <a:ln/>
        </p:spPr>
      </p:sp>
      <p:sp>
        <p:nvSpPr>
          <p:cNvPr id="11" name="Shape 8"/>
          <p:cNvSpPr/>
          <p:nvPr/>
        </p:nvSpPr>
        <p:spPr>
          <a:xfrm>
            <a:off x="4663440" y="1874520"/>
            <a:ext cx="731520" cy="731520"/>
          </a:xfrm>
          <a:prstGeom prst="ellipse">
            <a:avLst/>
          </a:prstGeom>
          <a:solidFill>
            <a:srgbClr val="8A5A00"/>
          </a:solidFill>
          <a:ln/>
        </p:spPr>
      </p:sp>
      <p:pic>
        <p:nvPicPr>
          <p:cNvPr id="12" name="Image 1" descr="preencoded.png">    </p:cNvPr>
          <p:cNvPicPr>
            <a:picLocks noChangeAspect="1"/>
          </p:cNvPicPr>
          <p:nvPr/>
        </p:nvPicPr>
        <p:blipFill>
          <a:blip r:embed="rId2"/>
          <a:stretch>
            <a:fillRect/>
          </a:stretch>
        </p:blipFill>
        <p:spPr>
          <a:xfrm>
            <a:off x="4824374" y="2035454"/>
            <a:ext cx="409651" cy="409651"/>
          </a:xfrm>
          <a:prstGeom prst="rect">
            <a:avLst/>
          </a:prstGeom>
        </p:spPr>
      </p:pic>
      <p:sp>
        <p:nvSpPr>
          <p:cNvPr id="13" name="Text 9"/>
          <p:cNvSpPr txBox="1"/>
          <p:nvPr/>
        </p:nvSpPr>
        <p:spPr>
          <a:xfrm>
            <a:off x="4663440" y="2788920"/>
            <a:ext cx="3017520" cy="1005840"/>
          </a:xfrm>
          <a:prstGeom prst="rect">
            <a:avLst/>
          </a:prstGeom>
          <a:noFill/>
          <a:ln/>
        </p:spPr>
        <p:txBody>
          <a:bodyPr wrap="square" lIns="0" tIns="0" rIns="0" bIns="0" rtlCol="0" anchor="t"/>
          <a:lstStyle/>
          <a:p>
            <a:pPr indent="0" marL="0">
              <a:buNone/>
            </a:pPr>
            <a:r>
              <a:rPr lang="en-US" sz="6000" b="1" dirty="0">
                <a:solidFill>
                  <a:srgbClr val="8A5A00"/>
                </a:solidFill>
              </a:rPr>
              <a:t>−300 L</a:t>
            </a:r>
            <a:endParaRPr lang="en-US" sz="6000" dirty="0"/>
          </a:p>
        </p:txBody>
      </p:sp>
      <p:sp>
        <p:nvSpPr>
          <p:cNvPr id="14" name="Text 10"/>
          <p:cNvSpPr txBox="1"/>
          <p:nvPr/>
        </p:nvSpPr>
        <p:spPr>
          <a:xfrm>
            <a:off x="4663440" y="38404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Entrega abaixo da fatura (1,5%)</a:t>
            </a:r>
            <a:endParaRPr lang="en-US" sz="1800" dirty="0"/>
          </a:p>
        </p:txBody>
      </p:sp>
      <p:sp>
        <p:nvSpPr>
          <p:cNvPr id="15" name="Text 11"/>
          <p:cNvSpPr txBox="1"/>
          <p:nvPr/>
        </p:nvSpPr>
        <p:spPr>
          <a:xfrm>
            <a:off x="4663440" y="4526280"/>
            <a:ext cx="2926080" cy="822960"/>
          </a:xfrm>
          <a:prstGeom prst="rect">
            <a:avLst/>
          </a:prstGeom>
          <a:noFill/>
          <a:ln/>
        </p:spPr>
        <p:txBody>
          <a:bodyPr wrap="square" lIns="0" tIns="0" rIns="0" bIns="0" rtlCol="0" anchor="t"/>
          <a:lstStyle/>
          <a:p>
            <a:pPr indent="0" marL="0">
              <a:buNone/>
            </a:pPr>
            <a:r>
              <a:rPr lang="en-US" sz="1400" dirty="0">
                <a:solidFill>
                  <a:schemeClr val="tx2"/>
                </a:solidFill>
              </a:rPr>
              <a:t>Fatura 20 000 L · medido no tanque 19 700 L a 15 °C</a:t>
            </a:r>
            <a:endParaRPr lang="en-US" sz="1400" dirty="0"/>
          </a:p>
        </p:txBody>
      </p:sp>
      <p:sp>
        <p:nvSpPr>
          <p:cNvPr id="16" name="Shape 12"/>
          <p:cNvSpPr/>
          <p:nvPr/>
        </p:nvSpPr>
        <p:spPr>
          <a:xfrm>
            <a:off x="8138160" y="1600200"/>
            <a:ext cx="3520440" cy="4023360"/>
          </a:xfrm>
          <a:prstGeom prst="roundRect">
            <a:avLst>
              <a:gd name="adj" fmla="val 3636"/>
            </a:avLst>
          </a:prstGeom>
          <a:solidFill>
            <a:schemeClr val="bg2"/>
          </a:solidFill>
          <a:ln/>
        </p:spPr>
      </p:sp>
      <p:sp>
        <p:nvSpPr>
          <p:cNvPr id="17" name="Shape 13"/>
          <p:cNvSpPr/>
          <p:nvPr/>
        </p:nvSpPr>
        <p:spPr>
          <a:xfrm>
            <a:off x="8458200" y="1874520"/>
            <a:ext cx="731520" cy="731520"/>
          </a:xfrm>
          <a:prstGeom prst="ellipse">
            <a:avLst/>
          </a:prstGeom>
          <a:solidFill>
            <a:srgbClr val="B42318"/>
          </a:solidFill>
          <a:ln/>
        </p:spPr>
      </p:sp>
      <p:pic>
        <p:nvPicPr>
          <p:cNvPr id="18" name="Image 2" descr="preencoded.png">    </p:cNvPr>
          <p:cNvPicPr>
            <a:picLocks noChangeAspect="1"/>
          </p:cNvPicPr>
          <p:nvPr/>
        </p:nvPicPr>
        <p:blipFill>
          <a:blip r:embed="rId3"/>
          <a:stretch>
            <a:fillRect/>
          </a:stretch>
        </p:blipFill>
        <p:spPr>
          <a:xfrm>
            <a:off x="8619134" y="2035454"/>
            <a:ext cx="409651" cy="409651"/>
          </a:xfrm>
          <a:prstGeom prst="rect">
            <a:avLst/>
          </a:prstGeom>
        </p:spPr>
      </p:pic>
      <p:sp>
        <p:nvSpPr>
          <p:cNvPr id="19" name="Text 14"/>
          <p:cNvSpPr txBox="1"/>
          <p:nvPr/>
        </p:nvSpPr>
        <p:spPr>
          <a:xfrm>
            <a:off x="8458200" y="2788920"/>
            <a:ext cx="3017520" cy="1005840"/>
          </a:xfrm>
          <a:prstGeom prst="rect">
            <a:avLst/>
          </a:prstGeom>
          <a:noFill/>
          <a:ln/>
        </p:spPr>
        <p:txBody>
          <a:bodyPr wrap="square" lIns="0" tIns="0" rIns="0" bIns="0" rtlCol="0" anchor="t"/>
          <a:lstStyle/>
          <a:p>
            <a:pPr indent="0" marL="0">
              <a:buNone/>
            </a:pPr>
            <a:r>
              <a:rPr lang="en-US" sz="6000" b="1" dirty="0">
                <a:solidFill>
                  <a:srgbClr val="B42318"/>
                </a:solidFill>
              </a:rPr>
              <a:t>−240 L</a:t>
            </a:r>
            <a:endParaRPr lang="en-US" sz="6000" dirty="0"/>
          </a:p>
        </p:txBody>
      </p:sp>
      <p:sp>
        <p:nvSpPr>
          <p:cNvPr id="20" name="Text 15"/>
          <p:cNvSpPr txBox="1"/>
          <p:nvPr/>
        </p:nvSpPr>
        <p:spPr>
          <a:xfrm>
            <a:off x="8458200" y="3840480"/>
            <a:ext cx="2926080" cy="685800"/>
          </a:xfrm>
          <a:prstGeom prst="rect">
            <a:avLst/>
          </a:prstGeom>
          <a:noFill/>
          <a:ln/>
        </p:spPr>
        <p:txBody>
          <a:bodyPr wrap="square" lIns="0" tIns="0" rIns="0" bIns="0" rtlCol="0" anchor="t"/>
          <a:lstStyle/>
          <a:p>
            <a:pPr indent="0" marL="0">
              <a:buNone/>
            </a:pPr>
            <a:r>
              <a:rPr lang="en-US" sz="1800" b="1" dirty="0">
                <a:solidFill>
                  <a:schemeClr val="tx1"/>
                </a:solidFill>
              </a:rPr>
              <a:t>Diferença no dia (2,4%)</a:t>
            </a:r>
            <a:endParaRPr lang="en-US" sz="1800" dirty="0"/>
          </a:p>
        </p:txBody>
      </p:sp>
      <p:sp>
        <p:nvSpPr>
          <p:cNvPr id="21" name="Text 16"/>
          <p:cNvSpPr txBox="1"/>
          <p:nvPr/>
        </p:nvSpPr>
        <p:spPr>
          <a:xfrm>
            <a:off x="8458200" y="4526280"/>
            <a:ext cx="2926080" cy="822960"/>
          </a:xfrm>
          <a:prstGeom prst="rect">
            <a:avLst/>
          </a:prstGeom>
          <a:noFill/>
          <a:ln/>
        </p:spPr>
        <p:txBody>
          <a:bodyPr wrap="square" lIns="0" tIns="0" rIns="0" bIns="0" rtlCol="0" anchor="t"/>
          <a:lstStyle/>
          <a:p>
            <a:pPr indent="0" marL="0">
              <a:buNone/>
            </a:pPr>
            <a:r>
              <a:rPr lang="en-US" sz="1400" dirty="0">
                <a:solidFill>
                  <a:schemeClr val="tx2"/>
                </a:solidFill>
              </a:rPr>
              <a:t>O tanque desceu 9 850 L · as bombas venderam 9 610 L</a:t>
            </a:r>
            <a:endParaRPr lang="en-US" sz="1400" dirty="0"/>
          </a:p>
        </p:txBody>
      </p:sp>
      <p:sp>
        <p:nvSpPr>
          <p:cNvPr id="22" name="Text 17"/>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200" dirty="0">
                <a:solidFill>
                  <a:schemeClr val="tx2"/>
                </a:solidFill>
              </a:rPr>
              <a:t>O terceiro cálculo (reconciliação diária) exige ler também as vendas das bombas — fase 2. As tolerâncias são definidas pela Sonangol.</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07 · MONITORIZAÇÃO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O mesmo dado, no computador, no telemóvel e por SMS</a:t>
            </a:r>
            <a:endParaRPr lang="en-US" sz="3400" dirty="0"/>
          </a:p>
        </p:txBody>
      </p:sp>
      <p:sp>
        <p:nvSpPr>
          <p:cNvPr id="4" name="Shape 2"/>
          <p:cNvSpPr/>
          <p:nvPr/>
        </p:nvSpPr>
        <p:spPr>
          <a:xfrm>
            <a:off x="548640" y="1463040"/>
            <a:ext cx="6400800" cy="4023360"/>
          </a:xfrm>
          <a:prstGeom prst="roundRect">
            <a:avLst>
              <a:gd name="adj" fmla="val 2273"/>
            </a:avLst>
          </a:prstGeom>
          <a:solidFill>
            <a:schemeClr val="bg1"/>
          </a:solidFill>
          <a:ln w="25400">
            <a:solidFill>
              <a:srgbClr val="14213D"/>
            </a:solidFill>
            <a:prstDash val="solid"/>
          </a:ln>
        </p:spPr>
      </p:sp>
      <p:sp>
        <p:nvSpPr>
          <p:cNvPr id="5" name="Shape 3"/>
          <p:cNvSpPr/>
          <p:nvPr/>
        </p:nvSpPr>
        <p:spPr>
          <a:xfrm>
            <a:off x="548640" y="1463040"/>
            <a:ext cx="6400800" cy="384048"/>
          </a:xfrm>
          <a:prstGeom prst="rect">
            <a:avLst/>
          </a:prstGeom>
          <a:solidFill>
            <a:schemeClr val="tx1"/>
          </a:solidFill>
          <a:ln/>
        </p:spPr>
      </p:sp>
      <p:sp>
        <p:nvSpPr>
          <p:cNvPr id="6" name="Text 4"/>
          <p:cNvSpPr txBox="1"/>
          <p:nvPr/>
        </p:nvSpPr>
        <p:spPr>
          <a:xfrm>
            <a:off x="731520" y="1463040"/>
            <a:ext cx="5029200" cy="38404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VIGIA · Despacho · Província de Luanda</a:t>
            </a:r>
            <a:endParaRPr lang="en-US" sz="1200" dirty="0"/>
          </a:p>
        </p:txBody>
      </p:sp>
      <p:sp>
        <p:nvSpPr>
          <p:cNvPr id="7" name="Shape 5"/>
          <p:cNvSpPr/>
          <p:nvPr/>
        </p:nvSpPr>
        <p:spPr>
          <a:xfrm>
            <a:off x="731520" y="2011680"/>
            <a:ext cx="1417320" cy="868680"/>
          </a:xfrm>
          <a:prstGeom prst="roundRect">
            <a:avLst>
              <a:gd name="adj" fmla="val 8421"/>
            </a:avLst>
          </a:prstGeom>
          <a:solidFill>
            <a:srgbClr val="B42318">
              <a:alpha val="12000"/>
            </a:srgbClr>
          </a:solidFill>
          <a:ln/>
        </p:spPr>
      </p:sp>
      <p:sp>
        <p:nvSpPr>
          <p:cNvPr id="8" name="Text 6"/>
          <p:cNvSpPr txBox="1"/>
          <p:nvPr/>
        </p:nvSpPr>
        <p:spPr>
          <a:xfrm>
            <a:off x="841248" y="2057400"/>
            <a:ext cx="1234440" cy="457200"/>
          </a:xfrm>
          <a:prstGeom prst="rect">
            <a:avLst/>
          </a:prstGeom>
          <a:noFill/>
          <a:ln/>
        </p:spPr>
        <p:txBody>
          <a:bodyPr wrap="square" lIns="0" tIns="0" rIns="0" bIns="0" rtlCol="0" anchor="t"/>
          <a:lstStyle/>
          <a:p>
            <a:pPr indent="0" marL="0">
              <a:buNone/>
            </a:pPr>
            <a:r>
              <a:rPr lang="en-US" sz="2400" b="1" dirty="0">
                <a:solidFill>
                  <a:srgbClr val="B42318"/>
                </a:solidFill>
              </a:rPr>
              <a:t>3</a:t>
            </a:r>
            <a:endParaRPr lang="en-US" sz="2400" dirty="0"/>
          </a:p>
        </p:txBody>
      </p:sp>
      <p:sp>
        <p:nvSpPr>
          <p:cNvPr id="9" name="Text 7"/>
          <p:cNvSpPr txBox="1"/>
          <p:nvPr/>
        </p:nvSpPr>
        <p:spPr>
          <a:xfrm>
            <a:off x="841248" y="2514600"/>
            <a:ext cx="1280160" cy="274320"/>
          </a:xfrm>
          <a:prstGeom prst="rect">
            <a:avLst/>
          </a:prstGeom>
          <a:noFill/>
          <a:ln/>
        </p:spPr>
        <p:txBody>
          <a:bodyPr wrap="square" lIns="0" tIns="0" rIns="0" bIns="0" rtlCol="0" anchor="t"/>
          <a:lstStyle/>
          <a:p>
            <a:pPr indent="0" marL="0">
              <a:buNone/>
            </a:pPr>
            <a:r>
              <a:rPr lang="en-US" sz="1100" dirty="0">
                <a:solidFill>
                  <a:schemeClr val="tx1"/>
                </a:solidFill>
              </a:rPr>
              <a:t>postos críticos</a:t>
            </a:r>
            <a:endParaRPr lang="en-US" sz="1100" dirty="0"/>
          </a:p>
        </p:txBody>
      </p:sp>
      <p:sp>
        <p:nvSpPr>
          <p:cNvPr id="10" name="Shape 8"/>
          <p:cNvSpPr/>
          <p:nvPr/>
        </p:nvSpPr>
        <p:spPr>
          <a:xfrm>
            <a:off x="2267712" y="2011680"/>
            <a:ext cx="1417320" cy="868680"/>
          </a:xfrm>
          <a:prstGeom prst="roundRect">
            <a:avLst>
              <a:gd name="adj" fmla="val 8421"/>
            </a:avLst>
          </a:prstGeom>
          <a:solidFill>
            <a:srgbClr val="8A5A00">
              <a:alpha val="12000"/>
            </a:srgbClr>
          </a:solidFill>
          <a:ln/>
        </p:spPr>
      </p:sp>
      <p:sp>
        <p:nvSpPr>
          <p:cNvPr id="11" name="Text 9"/>
          <p:cNvSpPr txBox="1"/>
          <p:nvPr/>
        </p:nvSpPr>
        <p:spPr>
          <a:xfrm>
            <a:off x="2377440" y="2057400"/>
            <a:ext cx="1234440" cy="457200"/>
          </a:xfrm>
          <a:prstGeom prst="rect">
            <a:avLst/>
          </a:prstGeom>
          <a:noFill/>
          <a:ln/>
        </p:spPr>
        <p:txBody>
          <a:bodyPr wrap="square" lIns="0" tIns="0" rIns="0" bIns="0" rtlCol="0" anchor="t"/>
          <a:lstStyle/>
          <a:p>
            <a:pPr indent="0" marL="0">
              <a:buNone/>
            </a:pPr>
            <a:r>
              <a:rPr lang="en-US" sz="2400" b="1" dirty="0">
                <a:solidFill>
                  <a:srgbClr val="8A5A00"/>
                </a:solidFill>
              </a:rPr>
              <a:t>11</a:t>
            </a:r>
            <a:endParaRPr lang="en-US" sz="2400" dirty="0"/>
          </a:p>
        </p:txBody>
      </p:sp>
      <p:sp>
        <p:nvSpPr>
          <p:cNvPr id="12" name="Text 10"/>
          <p:cNvSpPr txBox="1"/>
          <p:nvPr/>
        </p:nvSpPr>
        <p:spPr>
          <a:xfrm>
            <a:off x="2377440" y="2514600"/>
            <a:ext cx="1280160" cy="274320"/>
          </a:xfrm>
          <a:prstGeom prst="rect">
            <a:avLst/>
          </a:prstGeom>
          <a:noFill/>
          <a:ln/>
        </p:spPr>
        <p:txBody>
          <a:bodyPr wrap="square" lIns="0" tIns="0" rIns="0" bIns="0" rtlCol="0" anchor="t"/>
          <a:lstStyle/>
          <a:p>
            <a:pPr indent="0" marL="0">
              <a:buNone/>
            </a:pPr>
            <a:r>
              <a:rPr lang="en-US" sz="1100" dirty="0">
                <a:solidFill>
                  <a:schemeClr val="tx1"/>
                </a:solidFill>
              </a:rPr>
              <a:t>esgotam em 24 h</a:t>
            </a:r>
            <a:endParaRPr lang="en-US" sz="1100" dirty="0"/>
          </a:p>
        </p:txBody>
      </p:sp>
      <p:sp>
        <p:nvSpPr>
          <p:cNvPr id="13" name="Shape 11"/>
          <p:cNvSpPr/>
          <p:nvPr/>
        </p:nvSpPr>
        <p:spPr>
          <a:xfrm>
            <a:off x="3803904" y="2011680"/>
            <a:ext cx="1417320" cy="868680"/>
          </a:xfrm>
          <a:prstGeom prst="roundRect">
            <a:avLst>
              <a:gd name="adj" fmla="val 8421"/>
            </a:avLst>
          </a:prstGeom>
          <a:solidFill>
            <a:srgbClr val="5B4BC4">
              <a:alpha val="12000"/>
            </a:srgbClr>
          </a:solidFill>
          <a:ln/>
        </p:spPr>
      </p:sp>
      <p:sp>
        <p:nvSpPr>
          <p:cNvPr id="14" name="Text 12"/>
          <p:cNvSpPr txBox="1"/>
          <p:nvPr/>
        </p:nvSpPr>
        <p:spPr>
          <a:xfrm>
            <a:off x="3913632" y="2057400"/>
            <a:ext cx="1234440" cy="457200"/>
          </a:xfrm>
          <a:prstGeom prst="rect">
            <a:avLst/>
          </a:prstGeom>
          <a:noFill/>
          <a:ln/>
        </p:spPr>
        <p:txBody>
          <a:bodyPr wrap="square" lIns="0" tIns="0" rIns="0" bIns="0" rtlCol="0" anchor="t"/>
          <a:lstStyle/>
          <a:p>
            <a:pPr indent="0" marL="0">
              <a:buNone/>
            </a:pPr>
            <a:r>
              <a:rPr lang="en-US" sz="2400" b="1" dirty="0">
                <a:solidFill>
                  <a:srgbClr val="5B4BC4"/>
                </a:solidFill>
              </a:rPr>
              <a:t>7</a:t>
            </a:r>
            <a:endParaRPr lang="en-US" sz="2400" dirty="0"/>
          </a:p>
        </p:txBody>
      </p:sp>
      <p:sp>
        <p:nvSpPr>
          <p:cNvPr id="15" name="Text 13"/>
          <p:cNvSpPr txBox="1"/>
          <p:nvPr/>
        </p:nvSpPr>
        <p:spPr>
          <a:xfrm>
            <a:off x="3913632" y="2514600"/>
            <a:ext cx="1280160" cy="274320"/>
          </a:xfrm>
          <a:prstGeom prst="rect">
            <a:avLst/>
          </a:prstGeom>
          <a:noFill/>
          <a:ln/>
        </p:spPr>
        <p:txBody>
          <a:bodyPr wrap="square" lIns="0" tIns="0" rIns="0" bIns="0" rtlCol="0" anchor="t"/>
          <a:lstStyle/>
          <a:p>
            <a:pPr indent="0" marL="0">
              <a:buNone/>
            </a:pPr>
            <a:r>
              <a:rPr lang="en-US" sz="1100" dirty="0">
                <a:solidFill>
                  <a:schemeClr val="tx1"/>
                </a:solidFill>
              </a:rPr>
              <a:t>camiões em rota</a:t>
            </a:r>
            <a:endParaRPr lang="en-US" sz="1100" dirty="0"/>
          </a:p>
        </p:txBody>
      </p:sp>
      <p:sp>
        <p:nvSpPr>
          <p:cNvPr id="16" name="Shape 14"/>
          <p:cNvSpPr/>
          <p:nvPr/>
        </p:nvSpPr>
        <p:spPr>
          <a:xfrm>
            <a:off x="5340096" y="2011680"/>
            <a:ext cx="1417320" cy="868680"/>
          </a:xfrm>
          <a:prstGeom prst="roundRect">
            <a:avLst>
              <a:gd name="adj" fmla="val 8421"/>
            </a:avLst>
          </a:prstGeom>
          <a:solidFill>
            <a:srgbClr val="1E7A46">
              <a:alpha val="12000"/>
            </a:srgbClr>
          </a:solidFill>
          <a:ln/>
        </p:spPr>
      </p:sp>
      <p:sp>
        <p:nvSpPr>
          <p:cNvPr id="17" name="Text 15"/>
          <p:cNvSpPr txBox="1"/>
          <p:nvPr/>
        </p:nvSpPr>
        <p:spPr>
          <a:xfrm>
            <a:off x="5449824" y="2057400"/>
            <a:ext cx="1234440" cy="457200"/>
          </a:xfrm>
          <a:prstGeom prst="rect">
            <a:avLst/>
          </a:prstGeom>
          <a:noFill/>
          <a:ln/>
        </p:spPr>
        <p:txBody>
          <a:bodyPr wrap="square" lIns="0" tIns="0" rIns="0" bIns="0" rtlCol="0" anchor="t"/>
          <a:lstStyle/>
          <a:p>
            <a:pPr indent="0" marL="0">
              <a:buNone/>
            </a:pPr>
            <a:r>
              <a:rPr lang="en-US" sz="2400" b="1" dirty="0">
                <a:solidFill>
                  <a:srgbClr val="1E7A46"/>
                </a:solidFill>
              </a:rPr>
              <a:t>98%</a:t>
            </a:r>
            <a:endParaRPr lang="en-US" sz="2400" dirty="0"/>
          </a:p>
        </p:txBody>
      </p:sp>
      <p:sp>
        <p:nvSpPr>
          <p:cNvPr id="18" name="Text 16"/>
          <p:cNvSpPr txBox="1"/>
          <p:nvPr/>
        </p:nvSpPr>
        <p:spPr>
          <a:xfrm>
            <a:off x="5449824" y="2514600"/>
            <a:ext cx="1280160" cy="274320"/>
          </a:xfrm>
          <a:prstGeom prst="rect">
            <a:avLst/>
          </a:prstGeom>
          <a:noFill/>
          <a:ln/>
        </p:spPr>
        <p:txBody>
          <a:bodyPr wrap="square" lIns="0" tIns="0" rIns="0" bIns="0" rtlCol="0" anchor="t"/>
          <a:lstStyle/>
          <a:p>
            <a:pPr indent="0" marL="0">
              <a:buNone/>
            </a:pPr>
            <a:r>
              <a:rPr lang="en-US" sz="1100" dirty="0">
                <a:solidFill>
                  <a:schemeClr val="tx1"/>
                </a:solidFill>
              </a:rPr>
              <a:t>postos a reportar</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3063240"/>
          <a:ext cx="6035040" cy="914400"/>
        </p:xfrm>
        <a:graphic>
          <a:graphicData uri="http://schemas.openxmlformats.org/drawingml/2006/table">
            <a:tbl>
              <a:tblPr/>
              <a:tblGrid>
                <a:gridCol w="3108960"/>
                <a:gridCol w="1280160"/>
                <a:gridCol w="1645920"/>
              </a:tblGrid>
              <a:tr h="329184">
                <a:tc>
                  <a:txBody>
                    <a:bodyPr/>
                    <a:lstStyle/>
                    <a:p>
                      <a:pPr indent="0" marL="0">
                        <a:buNone/>
                      </a:pPr>
                      <a:r>
                        <a:rPr lang="en-US" sz="1100" b="1" dirty="0">
                          <a:solidFill>
                            <a:srgbClr val="4A5568"/>
                          </a:solidFill>
                        </a:rPr>
                        <a:t>Posto</a:t>
                      </a:r>
                      <a:endParaRPr lang="en-US" sz="11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4F5F7"/>
                    </a:solidFill>
                  </a:tcPr>
                </a:tc>
                <a:tc>
                  <a:txBody>
                    <a:bodyPr/>
                    <a:lstStyle/>
                    <a:p>
                      <a:pPr indent="0" marL="0">
                        <a:buNone/>
                      </a:pPr>
                      <a:r>
                        <a:rPr lang="en-US" sz="1100" b="1" dirty="0">
                          <a:solidFill>
                            <a:srgbClr val="4A5568"/>
                          </a:solidFill>
                        </a:rPr>
                        <a:t>Esgota</a:t>
                      </a:r>
                      <a:endParaRPr lang="en-US" sz="11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4F5F7"/>
                    </a:solidFill>
                  </a:tcPr>
                </a:tc>
                <a:tc>
                  <a:txBody>
                    <a:bodyPr/>
                    <a:lstStyle/>
                    <a:p>
                      <a:pPr indent="0" marL="0">
                        <a:buNone/>
                      </a:pPr>
                      <a:r>
                        <a:rPr lang="en-US" sz="1100" b="1" dirty="0">
                          <a:solidFill>
                            <a:srgbClr val="4A5568"/>
                          </a:solidFill>
                        </a:rPr>
                        <a:t>Ação</a:t>
                      </a:r>
                      <a:endParaRPr lang="en-US" sz="11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4F5F7"/>
                    </a:solidFill>
                  </a:tcPr>
                </a:tc>
              </a:tr>
              <a:tr h="329184">
                <a:tc>
                  <a:txBody>
                    <a:bodyPr/>
                    <a:lstStyle/>
                    <a:p>
                      <a:pPr indent="0" marL="0">
                        <a:buNone/>
                      </a:pPr>
                      <a:r>
                        <a:rPr lang="en-US" sz="1200" dirty="0">
                          <a:solidFill>
                            <a:srgbClr val="14213D"/>
                          </a:solidFill>
                        </a:rPr>
                        <a:t>Viana · T2 gasóleo</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~4 h</a:t>
                      </a:r>
                      <a:endParaRPr lang="en-US" sz="1200" dirty="0">
                        <a:latin typeface="Courier New" charset="0"/>
                        <a:ea typeface="Courier New" charset="0"/>
                        <a:cs typeface="Courier New"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B42318"/>
                          </a:solidFill>
                        </a:rPr>
                        <a:t>DESPACHAR</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4213D"/>
                          </a:solidFill>
                        </a:rPr>
                        <a:t>Cazenga · T1 gasolina</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~5 h</a:t>
                      </a:r>
                      <a:endParaRPr lang="en-US" sz="1200" dirty="0">
                        <a:latin typeface="Courier New" charset="0"/>
                        <a:ea typeface="Courier New" charset="0"/>
                        <a:cs typeface="Courier New"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B42318"/>
                          </a:solidFill>
                        </a:rPr>
                        <a:t>DESPACHAR</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4213D"/>
                          </a:solidFill>
                        </a:rPr>
                        <a:t>Talatona · T3 gasóleo</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~6 h</a:t>
                      </a:r>
                      <a:endParaRPr lang="en-US" sz="1200" dirty="0">
                        <a:latin typeface="Courier New" charset="0"/>
                        <a:ea typeface="Courier New" charset="0"/>
                        <a:cs typeface="Courier New"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B42318"/>
                          </a:solidFill>
                        </a:rPr>
                        <a:t>DESPACHAR</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4213D"/>
                          </a:solidFill>
                        </a:rPr>
                        <a:t>Rangel · T1 gasolina</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~10 h</a:t>
                      </a:r>
                      <a:endParaRPr lang="en-US" sz="1200" dirty="0">
                        <a:latin typeface="Courier New" charset="0"/>
                        <a:ea typeface="Courier New" charset="0"/>
                        <a:cs typeface="Courier New"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8A5A00"/>
                          </a:solidFill>
                        </a:rPr>
                        <a:t>AGENDAR</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indent="0" marL="0">
                        <a:buNone/>
                      </a:pPr>
                      <a:r>
                        <a:rPr lang="en-US" sz="1200" dirty="0">
                          <a:solidFill>
                            <a:srgbClr val="14213D"/>
                          </a:solidFill>
                        </a:rPr>
                        <a:t>Cacuaco · T2 gasóleo</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~14 h</a:t>
                      </a:r>
                      <a:endParaRPr lang="en-US" sz="1200" dirty="0">
                        <a:latin typeface="Courier New" charset="0"/>
                        <a:ea typeface="Courier New" charset="0"/>
                        <a:cs typeface="Courier New" charset="0"/>
                      </a:endParaRPr>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200" b="1" dirty="0">
                          <a:solidFill>
                            <a:srgbClr val="1E7A46"/>
                          </a:solidFill>
                        </a:rPr>
                        <a:t>MONITORIZAR</a:t>
                      </a:r>
                      <a:endParaRPr lang="en-US" sz="1200" dirty="0"/>
                    </a:p>
                  </a:txBody>
                  <a:tcPr marL="73152" marR="73152" marT="27432" marB="27432">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20" name="Shape 17"/>
          <p:cNvSpPr/>
          <p:nvPr/>
        </p:nvSpPr>
        <p:spPr>
          <a:xfrm>
            <a:off x="3383280" y="5486400"/>
            <a:ext cx="731520" cy="228600"/>
          </a:xfrm>
          <a:prstGeom prst="rect">
            <a:avLst/>
          </a:prstGeom>
          <a:solidFill>
            <a:schemeClr val="tx1"/>
          </a:solidFill>
          <a:ln/>
        </p:spPr>
      </p:sp>
      <p:sp>
        <p:nvSpPr>
          <p:cNvPr id="21" name="Shape 18"/>
          <p:cNvSpPr/>
          <p:nvPr/>
        </p:nvSpPr>
        <p:spPr>
          <a:xfrm>
            <a:off x="2834640" y="5715000"/>
            <a:ext cx="1828800" cy="73152"/>
          </a:xfrm>
          <a:prstGeom prst="roundRect">
            <a:avLst>
              <a:gd name="adj" fmla="val 50000"/>
            </a:avLst>
          </a:prstGeom>
          <a:solidFill>
            <a:schemeClr val="tx1"/>
          </a:solidFill>
          <a:ln/>
        </p:spPr>
      </p:sp>
      <p:sp>
        <p:nvSpPr>
          <p:cNvPr id="22" name="Text 19"/>
          <p:cNvSpPr txBox="1"/>
          <p:nvPr/>
        </p:nvSpPr>
        <p:spPr>
          <a:xfrm>
            <a:off x="548640" y="5852160"/>
            <a:ext cx="6400800" cy="320040"/>
          </a:xfrm>
          <a:prstGeom prst="rect">
            <a:avLst/>
          </a:prstGeom>
          <a:noFill/>
          <a:ln/>
        </p:spPr>
        <p:txBody>
          <a:bodyPr wrap="square" lIns="0" tIns="0" rIns="0" bIns="0" rtlCol="0" anchor="t"/>
          <a:lstStyle/>
          <a:p>
            <a:pPr algn="ctr" indent="0" marL="0">
              <a:buNone/>
            </a:pPr>
            <a:r>
              <a:rPr lang="en-US" sz="1400" b="1" dirty="0">
                <a:solidFill>
                  <a:schemeClr val="tx1"/>
                </a:solidFill>
              </a:rPr>
              <a:t>Computador — sede e despacho</a:t>
            </a:r>
            <a:endParaRPr lang="en-US" sz="1400" dirty="0"/>
          </a:p>
        </p:txBody>
      </p:sp>
      <p:sp>
        <p:nvSpPr>
          <p:cNvPr id="23" name="Shape 20"/>
          <p:cNvSpPr/>
          <p:nvPr/>
        </p:nvSpPr>
        <p:spPr>
          <a:xfrm>
            <a:off x="7315200" y="1463040"/>
            <a:ext cx="2286000" cy="4343400"/>
          </a:xfrm>
          <a:prstGeom prst="roundRect">
            <a:avLst>
              <a:gd name="adj" fmla="val 12000"/>
            </a:avLst>
          </a:prstGeom>
          <a:solidFill>
            <a:schemeClr val="tx1"/>
          </a:solidFill>
          <a:ln/>
        </p:spPr>
      </p:sp>
      <p:sp>
        <p:nvSpPr>
          <p:cNvPr id="24" name="Shape 21"/>
          <p:cNvSpPr/>
          <p:nvPr/>
        </p:nvSpPr>
        <p:spPr>
          <a:xfrm>
            <a:off x="7424928" y="1691640"/>
            <a:ext cx="2066544" cy="3931920"/>
          </a:xfrm>
          <a:prstGeom prst="roundRect">
            <a:avLst>
              <a:gd name="adj" fmla="val 8850"/>
            </a:avLst>
          </a:prstGeom>
          <a:solidFill>
            <a:schemeClr val="bg2"/>
          </a:solidFill>
          <a:ln/>
        </p:spPr>
      </p:sp>
      <p:sp>
        <p:nvSpPr>
          <p:cNvPr id="25" name="Shape 22"/>
          <p:cNvSpPr/>
          <p:nvPr/>
        </p:nvSpPr>
        <p:spPr>
          <a:xfrm>
            <a:off x="7543800" y="1828800"/>
            <a:ext cx="1828800" cy="914400"/>
          </a:xfrm>
          <a:prstGeom prst="roundRect">
            <a:avLst>
              <a:gd name="adj" fmla="val 12000"/>
            </a:avLst>
          </a:prstGeom>
          <a:solidFill>
            <a:schemeClr val="bg1"/>
          </a:solidFill>
          <a:ln w="12700">
            <a:solidFill>
              <a:srgbClr val="D5DAE1"/>
            </a:solidFill>
            <a:prstDash val="solid"/>
          </a:ln>
        </p:spPr>
      </p:sp>
      <p:sp>
        <p:nvSpPr>
          <p:cNvPr id="26" name="Text 23"/>
          <p:cNvSpPr txBox="1"/>
          <p:nvPr/>
        </p:nvSpPr>
        <p:spPr>
          <a:xfrm>
            <a:off x="7662672" y="1883664"/>
            <a:ext cx="1645920" cy="228600"/>
          </a:xfrm>
          <a:prstGeom prst="rect">
            <a:avLst/>
          </a:prstGeom>
          <a:noFill/>
          <a:ln/>
        </p:spPr>
        <p:txBody>
          <a:bodyPr wrap="square" lIns="0" tIns="0" rIns="0" bIns="0" rtlCol="0" anchor="t"/>
          <a:lstStyle/>
          <a:p>
            <a:pPr indent="0" marL="0">
              <a:buNone/>
            </a:pPr>
            <a:r>
              <a:rPr lang="en-US" sz="900" dirty="0">
                <a:solidFill>
                  <a:schemeClr val="tx2"/>
                </a:solidFill>
              </a:rPr>
              <a:t>VIGIA · agora</a:t>
            </a:r>
            <a:endParaRPr lang="en-US" sz="900" dirty="0"/>
          </a:p>
        </p:txBody>
      </p:sp>
      <p:sp>
        <p:nvSpPr>
          <p:cNvPr id="27" name="Text 24"/>
          <p:cNvSpPr txBox="1"/>
          <p:nvPr/>
        </p:nvSpPr>
        <p:spPr>
          <a:xfrm>
            <a:off x="7662672" y="2103120"/>
            <a:ext cx="1691640" cy="274320"/>
          </a:xfrm>
          <a:prstGeom prst="rect">
            <a:avLst/>
          </a:prstGeom>
          <a:noFill/>
          <a:ln/>
        </p:spPr>
        <p:txBody>
          <a:bodyPr wrap="square" lIns="0" tIns="0" rIns="0" bIns="0" rtlCol="0" anchor="t"/>
          <a:lstStyle/>
          <a:p>
            <a:pPr indent="0" marL="0">
              <a:buNone/>
            </a:pPr>
            <a:r>
              <a:rPr lang="en-US" sz="1100" b="1" dirty="0">
                <a:solidFill>
                  <a:schemeClr val="accent3"/>
                </a:solidFill>
              </a:rPr>
              <a:t>CRÍTICO · Posto Viana</a:t>
            </a:r>
            <a:endParaRPr lang="en-US" sz="1100" dirty="0"/>
          </a:p>
        </p:txBody>
      </p:sp>
      <p:sp>
        <p:nvSpPr>
          <p:cNvPr id="28" name="Text 25"/>
          <p:cNvSpPr txBox="1"/>
          <p:nvPr/>
        </p:nvSpPr>
        <p:spPr>
          <a:xfrm>
            <a:off x="7662672" y="2377440"/>
            <a:ext cx="1691640" cy="274320"/>
          </a:xfrm>
          <a:prstGeom prst="rect">
            <a:avLst/>
          </a:prstGeom>
          <a:noFill/>
          <a:ln/>
        </p:spPr>
        <p:txBody>
          <a:bodyPr wrap="square" lIns="0" tIns="0" rIns="0" bIns="0" rtlCol="0" anchor="t"/>
          <a:lstStyle/>
          <a:p>
            <a:pPr indent="0" marL="0">
              <a:buNone/>
            </a:pPr>
            <a:r>
              <a:rPr lang="en-US" sz="1100" dirty="0">
                <a:solidFill>
                  <a:schemeClr val="tx1"/>
                </a:solidFill>
              </a:rPr>
              <a:t>T2 gasóleo 9% · ~4 h</a:t>
            </a:r>
            <a:endParaRPr lang="en-US" sz="1100" dirty="0"/>
          </a:p>
        </p:txBody>
      </p:sp>
      <p:sp>
        <p:nvSpPr>
          <p:cNvPr id="29" name="Text 26"/>
          <p:cNvSpPr txBox="1"/>
          <p:nvPr/>
        </p:nvSpPr>
        <p:spPr>
          <a:xfrm>
            <a:off x="7589520" y="2880360"/>
            <a:ext cx="1828800" cy="320040"/>
          </a:xfrm>
          <a:prstGeom prst="rect">
            <a:avLst/>
          </a:prstGeom>
          <a:noFill/>
          <a:ln/>
        </p:spPr>
        <p:txBody>
          <a:bodyPr wrap="square" lIns="0" tIns="0" rIns="0" bIns="0" rtlCol="0" anchor="t"/>
          <a:lstStyle/>
          <a:p>
            <a:pPr indent="0" marL="0">
              <a:buNone/>
            </a:pPr>
            <a:r>
              <a:rPr lang="en-US" sz="1400" b="1" dirty="0">
                <a:solidFill>
                  <a:schemeClr val="tx1"/>
                </a:solidFill>
              </a:rPr>
              <a:t>Posto Viana</a:t>
            </a:r>
            <a:endParaRPr lang="en-US" sz="1400" dirty="0"/>
          </a:p>
        </p:txBody>
      </p:sp>
      <p:sp>
        <p:nvSpPr>
          <p:cNvPr id="30" name="Shape 27"/>
          <p:cNvSpPr/>
          <p:nvPr/>
        </p:nvSpPr>
        <p:spPr>
          <a:xfrm>
            <a:off x="7680960" y="3291840"/>
            <a:ext cx="384048" cy="1280160"/>
          </a:xfrm>
          <a:prstGeom prst="roundRect">
            <a:avLst>
              <a:gd name="adj" fmla="val 28571"/>
            </a:avLst>
          </a:prstGeom>
          <a:solidFill>
            <a:srgbClr val="DDE1E7"/>
          </a:solidFill>
          <a:ln/>
        </p:spPr>
      </p:sp>
      <p:sp>
        <p:nvSpPr>
          <p:cNvPr id="31" name="Shape 28"/>
          <p:cNvSpPr/>
          <p:nvPr/>
        </p:nvSpPr>
        <p:spPr>
          <a:xfrm>
            <a:off x="7680960" y="3714293"/>
            <a:ext cx="384048" cy="857707"/>
          </a:xfrm>
          <a:prstGeom prst="roundRect">
            <a:avLst>
              <a:gd name="adj" fmla="val 19048"/>
            </a:avLst>
          </a:prstGeom>
          <a:solidFill>
            <a:srgbClr val="1E7A46"/>
          </a:solidFill>
          <a:ln/>
        </p:spPr>
      </p:sp>
      <p:sp>
        <p:nvSpPr>
          <p:cNvPr id="32" name="Text 29"/>
          <p:cNvSpPr txBox="1"/>
          <p:nvPr/>
        </p:nvSpPr>
        <p:spPr>
          <a:xfrm>
            <a:off x="7543800" y="4617720"/>
            <a:ext cx="658368" cy="228600"/>
          </a:xfrm>
          <a:prstGeom prst="rect">
            <a:avLst/>
          </a:prstGeom>
          <a:noFill/>
          <a:ln/>
        </p:spPr>
        <p:txBody>
          <a:bodyPr wrap="square" lIns="0" tIns="0" rIns="0" bIns="0" rtlCol="0" anchor="t"/>
          <a:lstStyle/>
          <a:p>
            <a:pPr algn="ctr" indent="0" marL="0">
              <a:buNone/>
            </a:pPr>
            <a:r>
              <a:rPr lang="en-US" sz="1000" dirty="0">
                <a:solidFill>
                  <a:schemeClr val="tx1"/>
                </a:solidFill>
              </a:rPr>
              <a:t>T1 67%</a:t>
            </a:r>
            <a:endParaRPr lang="en-US" sz="1000" dirty="0"/>
          </a:p>
        </p:txBody>
      </p:sp>
      <p:sp>
        <p:nvSpPr>
          <p:cNvPr id="33" name="Shape 30"/>
          <p:cNvSpPr/>
          <p:nvPr/>
        </p:nvSpPr>
        <p:spPr>
          <a:xfrm>
            <a:off x="8275320" y="3291840"/>
            <a:ext cx="384048" cy="1280160"/>
          </a:xfrm>
          <a:prstGeom prst="roundRect">
            <a:avLst>
              <a:gd name="adj" fmla="val 28571"/>
            </a:avLst>
          </a:prstGeom>
          <a:solidFill>
            <a:srgbClr val="DDE1E7"/>
          </a:solidFill>
          <a:ln/>
        </p:spPr>
      </p:sp>
      <p:sp>
        <p:nvSpPr>
          <p:cNvPr id="34" name="Shape 31"/>
          <p:cNvSpPr/>
          <p:nvPr/>
        </p:nvSpPr>
        <p:spPr>
          <a:xfrm>
            <a:off x="8275320" y="4456786"/>
            <a:ext cx="384048" cy="115214"/>
          </a:xfrm>
          <a:prstGeom prst="roundRect">
            <a:avLst>
              <a:gd name="adj" fmla="val 63492"/>
            </a:avLst>
          </a:prstGeom>
          <a:solidFill>
            <a:srgbClr val="B42318"/>
          </a:solidFill>
          <a:ln/>
        </p:spPr>
      </p:sp>
      <p:sp>
        <p:nvSpPr>
          <p:cNvPr id="35" name="Text 32"/>
          <p:cNvSpPr txBox="1"/>
          <p:nvPr/>
        </p:nvSpPr>
        <p:spPr>
          <a:xfrm>
            <a:off x="8138160" y="4617720"/>
            <a:ext cx="658368" cy="228600"/>
          </a:xfrm>
          <a:prstGeom prst="rect">
            <a:avLst/>
          </a:prstGeom>
          <a:noFill/>
          <a:ln/>
        </p:spPr>
        <p:txBody>
          <a:bodyPr wrap="square" lIns="0" tIns="0" rIns="0" bIns="0" rtlCol="0" anchor="t"/>
          <a:lstStyle/>
          <a:p>
            <a:pPr algn="ctr" indent="0" marL="0">
              <a:buNone/>
            </a:pPr>
            <a:r>
              <a:rPr lang="en-US" sz="1000" b="1" dirty="0">
                <a:solidFill>
                  <a:schemeClr val="accent3"/>
                </a:solidFill>
              </a:rPr>
              <a:t>T2 9%</a:t>
            </a:r>
            <a:endParaRPr lang="en-US" sz="1000" dirty="0"/>
          </a:p>
        </p:txBody>
      </p:sp>
      <p:sp>
        <p:nvSpPr>
          <p:cNvPr id="36" name="Shape 33"/>
          <p:cNvSpPr/>
          <p:nvPr/>
        </p:nvSpPr>
        <p:spPr>
          <a:xfrm>
            <a:off x="8869680" y="3291840"/>
            <a:ext cx="384048" cy="1280160"/>
          </a:xfrm>
          <a:prstGeom prst="roundRect">
            <a:avLst>
              <a:gd name="adj" fmla="val 28571"/>
            </a:avLst>
          </a:prstGeom>
          <a:solidFill>
            <a:srgbClr val="DDE1E7"/>
          </a:solidFill>
          <a:ln/>
        </p:spPr>
      </p:sp>
      <p:sp>
        <p:nvSpPr>
          <p:cNvPr id="37" name="Shape 34"/>
          <p:cNvSpPr/>
          <p:nvPr/>
        </p:nvSpPr>
        <p:spPr>
          <a:xfrm>
            <a:off x="8869680" y="4034333"/>
            <a:ext cx="384048" cy="537667"/>
          </a:xfrm>
          <a:prstGeom prst="roundRect">
            <a:avLst>
              <a:gd name="adj" fmla="val 19048"/>
            </a:avLst>
          </a:prstGeom>
          <a:solidFill>
            <a:srgbClr val="E9A23B"/>
          </a:solidFill>
          <a:ln/>
        </p:spPr>
      </p:sp>
      <p:sp>
        <p:nvSpPr>
          <p:cNvPr id="38" name="Text 35"/>
          <p:cNvSpPr txBox="1"/>
          <p:nvPr/>
        </p:nvSpPr>
        <p:spPr>
          <a:xfrm>
            <a:off x="8732520" y="4617720"/>
            <a:ext cx="658368" cy="228600"/>
          </a:xfrm>
          <a:prstGeom prst="rect">
            <a:avLst/>
          </a:prstGeom>
          <a:noFill/>
          <a:ln/>
        </p:spPr>
        <p:txBody>
          <a:bodyPr wrap="square" lIns="0" tIns="0" rIns="0" bIns="0" rtlCol="0" anchor="t"/>
          <a:lstStyle/>
          <a:p>
            <a:pPr algn="ctr" indent="0" marL="0">
              <a:buNone/>
            </a:pPr>
            <a:r>
              <a:rPr lang="en-US" sz="1000" dirty="0">
                <a:solidFill>
                  <a:schemeClr val="tx1"/>
                </a:solidFill>
              </a:rPr>
              <a:t>T3 42%</a:t>
            </a:r>
            <a:endParaRPr lang="en-US" sz="1000" dirty="0"/>
          </a:p>
        </p:txBody>
      </p:sp>
      <p:sp>
        <p:nvSpPr>
          <p:cNvPr id="39" name="Text 36"/>
          <p:cNvSpPr txBox="1"/>
          <p:nvPr/>
        </p:nvSpPr>
        <p:spPr>
          <a:xfrm>
            <a:off x="7543800" y="4983480"/>
            <a:ext cx="1828800" cy="411480"/>
          </a:xfrm>
          <a:prstGeom prst="roundRect">
            <a:avLst>
              <a:gd name="adj" fmla="val 17778"/>
            </a:avLst>
          </a:prstGeom>
          <a:solidFill>
            <a:schemeClr val="accent1"/>
          </a:solidFill>
          <a:ln/>
        </p:spPr>
        <p:txBody>
          <a:bodyPr wrap="square" lIns="50800" tIns="50800" rIns="50800" bIns="50800" rtlCol="0" anchor="ctr"/>
          <a:lstStyle/>
          <a:p>
            <a:pPr algn="ctr" indent="0" marL="0">
              <a:buNone/>
            </a:pPr>
            <a:r>
              <a:rPr lang="en-US" sz="1200" b="1" dirty="0">
                <a:solidFill>
                  <a:schemeClr val="bg1"/>
                </a:solidFill>
              </a:rPr>
              <a:t>Confirmar despacho</a:t>
            </a:r>
            <a:endParaRPr lang="en-US" sz="1200" dirty="0"/>
          </a:p>
        </p:txBody>
      </p:sp>
      <p:sp>
        <p:nvSpPr>
          <p:cNvPr id="40" name="Text 37"/>
          <p:cNvSpPr txBox="1"/>
          <p:nvPr/>
        </p:nvSpPr>
        <p:spPr>
          <a:xfrm>
            <a:off x="7040880" y="5852160"/>
            <a:ext cx="2834640" cy="320040"/>
          </a:xfrm>
          <a:prstGeom prst="rect">
            <a:avLst/>
          </a:prstGeom>
          <a:noFill/>
          <a:ln/>
        </p:spPr>
        <p:txBody>
          <a:bodyPr wrap="square" lIns="0" tIns="0" rIns="0" bIns="0" rtlCol="0" anchor="t"/>
          <a:lstStyle/>
          <a:p>
            <a:pPr algn="ctr" indent="0" marL="0">
              <a:buNone/>
            </a:pPr>
            <a:r>
              <a:rPr lang="en-US" sz="1400" b="1" dirty="0">
                <a:solidFill>
                  <a:schemeClr val="tx1"/>
                </a:solidFill>
              </a:rPr>
              <a:t>Telemóvel — gestor regional</a:t>
            </a:r>
            <a:endParaRPr lang="en-US" sz="1400" dirty="0"/>
          </a:p>
        </p:txBody>
      </p:sp>
      <p:sp>
        <p:nvSpPr>
          <p:cNvPr id="41" name="Shape 38"/>
          <p:cNvSpPr/>
          <p:nvPr/>
        </p:nvSpPr>
        <p:spPr>
          <a:xfrm>
            <a:off x="10058400" y="1508760"/>
            <a:ext cx="594360" cy="594360"/>
          </a:xfrm>
          <a:prstGeom prst="ellipse">
            <a:avLst/>
          </a:prstGeom>
          <a:solidFill>
            <a:srgbClr val="5B4BC4"/>
          </a:solidFill>
          <a:ln/>
        </p:spPr>
      </p:sp>
      <p:pic>
        <p:nvPicPr>
          <p:cNvPr id="42" name="Image 0" descr="preencoded.png">    </p:cNvPr>
          <p:cNvPicPr>
            <a:picLocks noChangeAspect="1"/>
          </p:cNvPicPr>
          <p:nvPr/>
        </p:nvPicPr>
        <p:blipFill>
          <a:blip r:embed="rId1"/>
          <a:stretch>
            <a:fillRect/>
          </a:stretch>
        </p:blipFill>
        <p:spPr>
          <a:xfrm>
            <a:off x="10189159" y="1639519"/>
            <a:ext cx="332842" cy="332842"/>
          </a:xfrm>
          <a:prstGeom prst="rect">
            <a:avLst/>
          </a:prstGeom>
        </p:spPr>
      </p:pic>
      <p:sp>
        <p:nvSpPr>
          <p:cNvPr id="43" name="Text 39"/>
          <p:cNvSpPr txBox="1"/>
          <p:nvPr/>
        </p:nvSpPr>
        <p:spPr>
          <a:xfrm>
            <a:off x="10058400" y="2194560"/>
            <a:ext cx="1645920" cy="320040"/>
          </a:xfrm>
          <a:prstGeom prst="rect">
            <a:avLst/>
          </a:prstGeom>
          <a:noFill/>
          <a:ln/>
        </p:spPr>
        <p:txBody>
          <a:bodyPr wrap="square" lIns="0" tIns="0" rIns="0" bIns="0" rtlCol="0" anchor="t"/>
          <a:lstStyle/>
          <a:p>
            <a:pPr indent="0" marL="0">
              <a:buNone/>
            </a:pPr>
            <a:r>
              <a:rPr lang="en-US" sz="1400" b="1" dirty="0">
                <a:solidFill>
                  <a:schemeClr val="tx1"/>
                </a:solidFill>
              </a:rPr>
              <a:t>SMS · sem internet</a:t>
            </a:r>
            <a:endParaRPr lang="en-US" sz="1400" dirty="0"/>
          </a:p>
        </p:txBody>
      </p:sp>
      <p:sp>
        <p:nvSpPr>
          <p:cNvPr id="44" name="Text 40"/>
          <p:cNvSpPr txBox="1"/>
          <p:nvPr/>
        </p:nvSpPr>
        <p:spPr>
          <a:xfrm>
            <a:off x="10058400" y="2606040"/>
            <a:ext cx="1600200" cy="1965960"/>
          </a:xfrm>
          <a:prstGeom prst="roundRect">
            <a:avLst>
              <a:gd name="adj" fmla="val 8571"/>
            </a:avLst>
          </a:prstGeom>
          <a:solidFill>
            <a:schemeClr val="bg2"/>
          </a:solidFill>
          <a:ln/>
        </p:spPr>
        <p:txBody>
          <a:bodyPr wrap="square" lIns="114300" tIns="114300" rIns="114300" bIns="11430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VIGIA CRITICO Viana T2 gasoleo 9% (~4h). Despachar ate 22:00. Resp 1=OK</a:t>
            </a:r>
            <a:endParaRPr lang="en-US" sz="1100" dirty="0"/>
          </a:p>
        </p:txBody>
      </p:sp>
      <p:sp>
        <p:nvSpPr>
          <p:cNvPr id="45" name="Text 41"/>
          <p:cNvSpPr txBox="1"/>
          <p:nvPr/>
        </p:nvSpPr>
        <p:spPr>
          <a:xfrm>
            <a:off x="10058400" y="4709160"/>
            <a:ext cx="1600200" cy="685800"/>
          </a:xfrm>
          <a:prstGeom prst="rect">
            <a:avLst/>
          </a:prstGeom>
          <a:noFill/>
          <a:ln/>
        </p:spPr>
        <p:txBody>
          <a:bodyPr wrap="square" lIns="0" tIns="0" rIns="0" bIns="0" rtlCol="0" anchor="t"/>
          <a:lstStyle/>
          <a:p>
            <a:pPr indent="0" marL="0">
              <a:buNone/>
            </a:pPr>
            <a:r>
              <a:rPr lang="en-US" sz="1200" dirty="0">
                <a:solidFill>
                  <a:schemeClr val="tx2"/>
                </a:solidFill>
              </a:rPr>
              <a:t>Chega mesmo a quem não tem dados móveis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08 · SEGURANÇA E FIABILIDADE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Seguro por desenho, preparado para as condições angolanas</a:t>
            </a:r>
            <a:endParaRPr lang="en-US" sz="3400" dirty="0"/>
          </a:p>
        </p:txBody>
      </p:sp>
      <p:sp>
        <p:nvSpPr>
          <p:cNvPr id="4" name="Shape 2"/>
          <p:cNvSpPr/>
          <p:nvPr/>
        </p:nvSpPr>
        <p:spPr>
          <a:xfrm>
            <a:off x="548640" y="1508760"/>
            <a:ext cx="3840480" cy="4617720"/>
          </a:xfrm>
          <a:prstGeom prst="roundRect">
            <a:avLst>
              <a:gd name="adj" fmla="val 3333"/>
            </a:avLst>
          </a:prstGeom>
          <a:solidFill>
            <a:schemeClr val="tx1"/>
          </a:solidFill>
          <a:ln/>
        </p:spPr>
      </p:sp>
      <p:sp>
        <p:nvSpPr>
          <p:cNvPr id="5" name="Shape 3"/>
          <p:cNvSpPr/>
          <p:nvPr/>
        </p:nvSpPr>
        <p:spPr>
          <a:xfrm>
            <a:off x="868680" y="1828800"/>
            <a:ext cx="914400" cy="9144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078992" y="2039112"/>
            <a:ext cx="493776" cy="493776"/>
          </a:xfrm>
          <a:prstGeom prst="rect">
            <a:avLst/>
          </a:prstGeom>
        </p:spPr>
      </p:pic>
      <p:sp>
        <p:nvSpPr>
          <p:cNvPr id="7" name="Text 4"/>
          <p:cNvSpPr txBox="1"/>
          <p:nvPr/>
        </p:nvSpPr>
        <p:spPr>
          <a:xfrm>
            <a:off x="868680" y="2971800"/>
            <a:ext cx="3291840" cy="594360"/>
          </a:xfrm>
          <a:prstGeom prst="rect">
            <a:avLst/>
          </a:prstGeom>
          <a:noFill/>
          <a:ln/>
        </p:spPr>
        <p:txBody>
          <a:bodyPr wrap="square" lIns="0" tIns="0" rIns="0" bIns="0" rtlCol="0" anchor="t"/>
          <a:lstStyle/>
          <a:p>
            <a:pPr indent="0" marL="0">
              <a:buNone/>
            </a:pPr>
            <a:r>
              <a:rPr lang="en-US" sz="3000" b="1" dirty="0">
                <a:solidFill>
                  <a:schemeClr val="bg1"/>
                </a:solidFill>
              </a:rPr>
              <a:t>O sistema só lê.</a:t>
            </a:r>
            <a:endParaRPr lang="en-US" sz="3000" dirty="0"/>
          </a:p>
        </p:txBody>
      </p:sp>
      <p:sp>
        <p:nvSpPr>
          <p:cNvPr id="8" name="Text 5"/>
          <p:cNvSpPr txBox="1"/>
          <p:nvPr/>
        </p:nvSpPr>
        <p:spPr>
          <a:xfrm>
            <a:off x="868680" y="3657600"/>
            <a:ext cx="3246120" cy="1371600"/>
          </a:xfrm>
          <a:prstGeom prst="rect">
            <a:avLst/>
          </a:prstGeom>
          <a:noFill/>
          <a:ln/>
        </p:spPr>
        <p:txBody>
          <a:bodyPr wrap="square" lIns="0" tIns="0" rIns="0" bIns="0" rtlCol="0" anchor="t"/>
          <a:lstStyle/>
          <a:p>
            <a:pPr indent="0" marL="0">
              <a:buNone/>
            </a:pPr>
            <a:r>
              <a:rPr lang="en-US" sz="1600" dirty="0">
                <a:solidFill>
                  <a:srgbClr val="C9CFDD"/>
                </a:solidFill>
              </a:rPr>
              <a:t>Sem acesso às bombas, aos preços, ao sistema de caixa ou a pagamentos. Numa rede separada da loja.</a:t>
            </a:r>
            <a:endParaRPr lang="en-US" sz="1600" dirty="0"/>
          </a:p>
        </p:txBody>
      </p:sp>
      <p:sp>
        <p:nvSpPr>
          <p:cNvPr id="9" name="Text 6"/>
          <p:cNvSpPr txBox="1"/>
          <p:nvPr/>
        </p:nvSpPr>
        <p:spPr>
          <a:xfrm>
            <a:off x="868680" y="5074920"/>
            <a:ext cx="3246120" cy="822960"/>
          </a:xfrm>
          <a:prstGeom prst="rect">
            <a:avLst/>
          </a:prstGeom>
          <a:noFill/>
          <a:ln/>
        </p:spPr>
        <p:txBody>
          <a:bodyPr wrap="square" lIns="0" tIns="0" rIns="0" bIns="0" rtlCol="0" anchor="t"/>
          <a:lstStyle/>
          <a:p>
            <a:pPr indent="0" marL="0">
              <a:buNone/>
            </a:pPr>
            <a:r>
              <a:rPr lang="en-US" sz="1400" b="1" dirty="0">
                <a:solidFill>
                  <a:schemeClr val="accent2"/>
                </a:solidFill>
              </a:rPr>
              <a:t>Os dados são da Sonangol — alojados onde a Sonangol decidir.</a:t>
            </a:r>
            <a:endParaRPr lang="en-US" sz="1400" dirty="0"/>
          </a:p>
        </p:txBody>
      </p:sp>
      <p:sp>
        <p:nvSpPr>
          <p:cNvPr id="10" name="Shape 7"/>
          <p:cNvSpPr/>
          <p:nvPr/>
        </p:nvSpPr>
        <p:spPr>
          <a:xfrm>
            <a:off x="4754880" y="1508760"/>
            <a:ext cx="2148840" cy="2240280"/>
          </a:xfrm>
          <a:prstGeom prst="roundRect">
            <a:avLst>
              <a:gd name="adj" fmla="val 5106"/>
            </a:avLst>
          </a:prstGeom>
          <a:solidFill>
            <a:schemeClr val="bg2"/>
          </a:solidFill>
          <a:ln/>
        </p:spPr>
      </p:sp>
      <p:sp>
        <p:nvSpPr>
          <p:cNvPr id="11" name="Shape 8"/>
          <p:cNvSpPr/>
          <p:nvPr/>
        </p:nvSpPr>
        <p:spPr>
          <a:xfrm>
            <a:off x="4983480" y="1737360"/>
            <a:ext cx="594360" cy="594360"/>
          </a:xfrm>
          <a:prstGeom prst="ellipse">
            <a:avLst/>
          </a:prstGeom>
          <a:solidFill>
            <a:srgbClr val="5B4BC4"/>
          </a:solidFill>
          <a:ln/>
        </p:spPr>
      </p:sp>
      <p:pic>
        <p:nvPicPr>
          <p:cNvPr id="12" name="Image 1" descr="preencoded.png">    </p:cNvPr>
          <p:cNvPicPr>
            <a:picLocks noChangeAspect="1"/>
          </p:cNvPicPr>
          <p:nvPr/>
        </p:nvPicPr>
        <p:blipFill>
          <a:blip r:embed="rId2"/>
          <a:stretch>
            <a:fillRect/>
          </a:stretch>
        </p:blipFill>
        <p:spPr>
          <a:xfrm>
            <a:off x="5114239" y="1868119"/>
            <a:ext cx="332842" cy="332842"/>
          </a:xfrm>
          <a:prstGeom prst="rect">
            <a:avLst/>
          </a:prstGeom>
        </p:spPr>
      </p:pic>
      <p:sp>
        <p:nvSpPr>
          <p:cNvPr id="13" name="Text 9"/>
          <p:cNvSpPr txBox="1"/>
          <p:nvPr/>
        </p:nvSpPr>
        <p:spPr>
          <a:xfrm>
            <a:off x="4983480" y="24231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Cifrado</a:t>
            </a:r>
            <a:endParaRPr lang="en-US" sz="1600" dirty="0"/>
          </a:p>
        </p:txBody>
      </p:sp>
      <p:sp>
        <p:nvSpPr>
          <p:cNvPr id="14" name="Text 10"/>
          <p:cNvSpPr txBox="1"/>
          <p:nvPr/>
        </p:nvSpPr>
        <p:spPr>
          <a:xfrm>
            <a:off x="4983480" y="2788920"/>
            <a:ext cx="1783080" cy="868680"/>
          </a:xfrm>
          <a:prstGeom prst="rect">
            <a:avLst/>
          </a:prstGeom>
          <a:noFill/>
          <a:ln/>
        </p:spPr>
        <p:txBody>
          <a:bodyPr wrap="square" lIns="0" tIns="0" rIns="0" bIns="0" rtlCol="0" anchor="t"/>
          <a:lstStyle/>
          <a:p>
            <a:pPr indent="0" marL="0">
              <a:buNone/>
            </a:pPr>
            <a:r>
              <a:rPr lang="en-US" sz="1300" dirty="0">
                <a:solidFill>
                  <a:schemeClr val="tx2"/>
                </a:solidFill>
              </a:rPr>
              <a:t>TLS ponta a ponta · APN privada opcional</a:t>
            </a:r>
            <a:endParaRPr lang="en-US" sz="1300" dirty="0"/>
          </a:p>
        </p:txBody>
      </p:sp>
      <p:sp>
        <p:nvSpPr>
          <p:cNvPr id="15" name="Shape 11"/>
          <p:cNvSpPr/>
          <p:nvPr/>
        </p:nvSpPr>
        <p:spPr>
          <a:xfrm>
            <a:off x="7068312" y="1508760"/>
            <a:ext cx="2148840" cy="2240280"/>
          </a:xfrm>
          <a:prstGeom prst="roundRect">
            <a:avLst>
              <a:gd name="adj" fmla="val 5106"/>
            </a:avLst>
          </a:prstGeom>
          <a:solidFill>
            <a:schemeClr val="bg2"/>
          </a:solidFill>
          <a:ln/>
        </p:spPr>
      </p:sp>
      <p:sp>
        <p:nvSpPr>
          <p:cNvPr id="16" name="Shape 12"/>
          <p:cNvSpPr/>
          <p:nvPr/>
        </p:nvSpPr>
        <p:spPr>
          <a:xfrm>
            <a:off x="7296912" y="1737360"/>
            <a:ext cx="594360" cy="594360"/>
          </a:xfrm>
          <a:prstGeom prst="ellipse">
            <a:avLst/>
          </a:prstGeom>
          <a:solidFill>
            <a:srgbClr val="5B4BC4"/>
          </a:solidFill>
          <a:ln/>
        </p:spPr>
      </p:sp>
      <p:pic>
        <p:nvPicPr>
          <p:cNvPr id="17" name="Image 2" descr="preencoded.png">    </p:cNvPr>
          <p:cNvPicPr>
            <a:picLocks noChangeAspect="1"/>
          </p:cNvPicPr>
          <p:nvPr/>
        </p:nvPicPr>
        <p:blipFill>
          <a:blip r:embed="rId3"/>
          <a:stretch>
            <a:fillRect/>
          </a:stretch>
        </p:blipFill>
        <p:spPr>
          <a:xfrm>
            <a:off x="7427671" y="1868119"/>
            <a:ext cx="332842" cy="332842"/>
          </a:xfrm>
          <a:prstGeom prst="rect">
            <a:avLst/>
          </a:prstGeom>
        </p:spPr>
      </p:pic>
      <p:sp>
        <p:nvSpPr>
          <p:cNvPr id="18" name="Text 13"/>
          <p:cNvSpPr txBox="1"/>
          <p:nvPr/>
        </p:nvSpPr>
        <p:spPr>
          <a:xfrm>
            <a:off x="7296912" y="24231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Identidade</a:t>
            </a:r>
            <a:endParaRPr lang="en-US" sz="1600" dirty="0"/>
          </a:p>
        </p:txBody>
      </p:sp>
      <p:sp>
        <p:nvSpPr>
          <p:cNvPr id="19" name="Text 14"/>
          <p:cNvSpPr txBox="1"/>
          <p:nvPr/>
        </p:nvSpPr>
        <p:spPr>
          <a:xfrm>
            <a:off x="7296912" y="2788920"/>
            <a:ext cx="1783080" cy="868680"/>
          </a:xfrm>
          <a:prstGeom prst="rect">
            <a:avLst/>
          </a:prstGeom>
          <a:noFill/>
          <a:ln/>
        </p:spPr>
        <p:txBody>
          <a:bodyPr wrap="square" lIns="0" tIns="0" rIns="0" bIns="0" rtlCol="0" anchor="t"/>
          <a:lstStyle/>
          <a:p>
            <a:pPr indent="0" marL="0">
              <a:buNone/>
            </a:pPr>
            <a:r>
              <a:rPr lang="en-US" sz="1300" dirty="0">
                <a:solidFill>
                  <a:schemeClr val="tx2"/>
                </a:solidFill>
              </a:rPr>
              <a:t>Certificado único por gateway; os falsos são rejeitados</a:t>
            </a:r>
            <a:endParaRPr lang="en-US" sz="1300" dirty="0"/>
          </a:p>
        </p:txBody>
      </p:sp>
      <p:sp>
        <p:nvSpPr>
          <p:cNvPr id="20" name="Shape 15"/>
          <p:cNvSpPr/>
          <p:nvPr/>
        </p:nvSpPr>
        <p:spPr>
          <a:xfrm>
            <a:off x="9381744" y="1508760"/>
            <a:ext cx="2148840" cy="2240280"/>
          </a:xfrm>
          <a:prstGeom prst="roundRect">
            <a:avLst>
              <a:gd name="adj" fmla="val 5106"/>
            </a:avLst>
          </a:prstGeom>
          <a:solidFill>
            <a:schemeClr val="bg2"/>
          </a:solidFill>
          <a:ln/>
        </p:spPr>
      </p:sp>
      <p:sp>
        <p:nvSpPr>
          <p:cNvPr id="21" name="Shape 16"/>
          <p:cNvSpPr/>
          <p:nvPr/>
        </p:nvSpPr>
        <p:spPr>
          <a:xfrm>
            <a:off x="9610344" y="1737360"/>
            <a:ext cx="594360" cy="594360"/>
          </a:xfrm>
          <a:prstGeom prst="ellipse">
            <a:avLst/>
          </a:prstGeom>
          <a:solidFill>
            <a:srgbClr val="5B4BC4"/>
          </a:solidFill>
          <a:ln/>
        </p:spPr>
      </p:sp>
      <p:pic>
        <p:nvPicPr>
          <p:cNvPr id="22" name="Image 3" descr="preencoded.png">    </p:cNvPr>
          <p:cNvPicPr>
            <a:picLocks noChangeAspect="1"/>
          </p:cNvPicPr>
          <p:nvPr/>
        </p:nvPicPr>
        <p:blipFill>
          <a:blip r:embed="rId4"/>
          <a:stretch>
            <a:fillRect/>
          </a:stretch>
        </p:blipFill>
        <p:spPr>
          <a:xfrm>
            <a:off x="9741103" y="1868119"/>
            <a:ext cx="332842" cy="332842"/>
          </a:xfrm>
          <a:prstGeom prst="rect">
            <a:avLst/>
          </a:prstGeom>
        </p:spPr>
      </p:pic>
      <p:sp>
        <p:nvSpPr>
          <p:cNvPr id="23" name="Text 17"/>
          <p:cNvSpPr txBox="1"/>
          <p:nvPr/>
        </p:nvSpPr>
        <p:spPr>
          <a:xfrm>
            <a:off x="9610344" y="2423160"/>
            <a:ext cx="1783080" cy="365760"/>
          </a:xfrm>
          <a:prstGeom prst="rect">
            <a:avLst/>
          </a:prstGeom>
          <a:noFill/>
          <a:ln/>
        </p:spPr>
        <p:txBody>
          <a:bodyPr wrap="square" lIns="0" tIns="0" rIns="0" bIns="0" rtlCol="0" anchor="t"/>
          <a:lstStyle/>
          <a:p>
            <a:pPr indent="0" marL="0">
              <a:buNone/>
            </a:pPr>
            <a:r>
              <a:rPr lang="en-US" sz="1600" b="1" dirty="0">
                <a:solidFill>
                  <a:schemeClr val="tx1"/>
                </a:solidFill>
              </a:rPr>
              <a:t>Perfis</a:t>
            </a:r>
            <a:endParaRPr lang="en-US" sz="1600" dirty="0"/>
          </a:p>
        </p:txBody>
      </p:sp>
      <p:sp>
        <p:nvSpPr>
          <p:cNvPr id="24" name="Text 18"/>
          <p:cNvSpPr txBox="1"/>
          <p:nvPr/>
        </p:nvSpPr>
        <p:spPr>
          <a:xfrm>
            <a:off x="9610344" y="2788920"/>
            <a:ext cx="1783080" cy="868680"/>
          </a:xfrm>
          <a:prstGeom prst="rect">
            <a:avLst/>
          </a:prstGeom>
          <a:noFill/>
          <a:ln/>
        </p:spPr>
        <p:txBody>
          <a:bodyPr wrap="square" lIns="0" tIns="0" rIns="0" bIns="0" rtlCol="0" anchor="t"/>
          <a:lstStyle/>
          <a:p>
            <a:pPr indent="0" marL="0">
              <a:buNone/>
            </a:pPr>
            <a:r>
              <a:rPr lang="en-US" sz="1300" dirty="0">
                <a:solidFill>
                  <a:schemeClr val="tx2"/>
                </a:solidFill>
              </a:rPr>
              <a:t>Posto · região · sede, com autenticação de dois fatores</a:t>
            </a:r>
            <a:endParaRPr lang="en-US" sz="1300" dirty="0"/>
          </a:p>
        </p:txBody>
      </p:sp>
      <p:sp>
        <p:nvSpPr>
          <p:cNvPr id="25" name="Shape 19"/>
          <p:cNvSpPr/>
          <p:nvPr/>
        </p:nvSpPr>
        <p:spPr>
          <a:xfrm>
            <a:off x="4754880" y="3886200"/>
            <a:ext cx="2148840" cy="2240280"/>
          </a:xfrm>
          <a:prstGeom prst="roundRect">
            <a:avLst>
              <a:gd name="adj" fmla="val 5106"/>
            </a:avLst>
          </a:prstGeom>
          <a:solidFill>
            <a:schemeClr val="bg2"/>
          </a:solidFill>
          <a:ln/>
        </p:spPr>
      </p:sp>
      <p:sp>
        <p:nvSpPr>
          <p:cNvPr id="26" name="Shape 20"/>
          <p:cNvSpPr/>
          <p:nvPr/>
        </p:nvSpPr>
        <p:spPr>
          <a:xfrm>
            <a:off x="4983480" y="4114800"/>
            <a:ext cx="594360" cy="594360"/>
          </a:xfrm>
          <a:prstGeom prst="ellipse">
            <a:avLst/>
          </a:prstGeom>
          <a:solidFill>
            <a:srgbClr val="5B4BC4"/>
          </a:solidFill>
          <a:ln/>
        </p:spPr>
      </p:sp>
      <p:pic>
        <p:nvPicPr>
          <p:cNvPr id="27" name="Image 4" descr="preencoded.png">    </p:cNvPr>
          <p:cNvPicPr>
            <a:picLocks noChangeAspect="1"/>
          </p:cNvPicPr>
          <p:nvPr/>
        </p:nvPicPr>
        <p:blipFill>
          <a:blip r:embed="rId5"/>
          <a:stretch>
            <a:fillRect/>
          </a:stretch>
        </p:blipFill>
        <p:spPr>
          <a:xfrm>
            <a:off x="5114239" y="4245559"/>
            <a:ext cx="332842" cy="332842"/>
          </a:xfrm>
          <a:prstGeom prst="rect">
            <a:avLst/>
          </a:prstGeom>
        </p:spPr>
      </p:pic>
      <p:sp>
        <p:nvSpPr>
          <p:cNvPr id="28" name="Text 21"/>
          <p:cNvSpPr txBox="1"/>
          <p:nvPr/>
        </p:nvSpPr>
        <p:spPr>
          <a:xfrm>
            <a:off x="4983480" y="4800600"/>
            <a:ext cx="1783080" cy="365760"/>
          </a:xfrm>
          <a:prstGeom prst="rect">
            <a:avLst/>
          </a:prstGeom>
          <a:noFill/>
          <a:ln/>
        </p:spPr>
        <p:txBody>
          <a:bodyPr wrap="square" lIns="0" tIns="0" rIns="0" bIns="0" rtlCol="0" anchor="t"/>
          <a:lstStyle/>
          <a:p>
            <a:pPr indent="0" marL="0">
              <a:buNone/>
            </a:pPr>
            <a:r>
              <a:rPr lang="en-US" sz="1600" b="1" dirty="0">
                <a:solidFill>
                  <a:schemeClr val="tx1"/>
                </a:solidFill>
              </a:rPr>
              <a:t>Cortes de energia</a:t>
            </a:r>
            <a:endParaRPr lang="en-US" sz="1600" dirty="0"/>
          </a:p>
        </p:txBody>
      </p:sp>
      <p:sp>
        <p:nvSpPr>
          <p:cNvPr id="29" name="Text 22"/>
          <p:cNvSpPr txBox="1"/>
          <p:nvPr/>
        </p:nvSpPr>
        <p:spPr>
          <a:xfrm>
            <a:off x="4983480" y="5166360"/>
            <a:ext cx="1783080" cy="868680"/>
          </a:xfrm>
          <a:prstGeom prst="rect">
            <a:avLst/>
          </a:prstGeom>
          <a:noFill/>
          <a:ln/>
        </p:spPr>
        <p:txBody>
          <a:bodyPr wrap="square" lIns="0" tIns="0" rIns="0" bIns="0" rtlCol="0" anchor="t"/>
          <a:lstStyle/>
          <a:p>
            <a:pPr indent="0" marL="0">
              <a:buNone/>
            </a:pPr>
            <a:r>
              <a:rPr lang="en-US" sz="1300" dirty="0">
                <a:solidFill>
                  <a:schemeClr val="tx2"/>
                </a:solidFill>
              </a:rPr>
              <a:t>Bateria 8–24 h e reinício automático</a:t>
            </a:r>
            <a:endParaRPr lang="en-US" sz="1300" dirty="0"/>
          </a:p>
        </p:txBody>
      </p:sp>
      <p:sp>
        <p:nvSpPr>
          <p:cNvPr id="30" name="Shape 23"/>
          <p:cNvSpPr/>
          <p:nvPr/>
        </p:nvSpPr>
        <p:spPr>
          <a:xfrm>
            <a:off x="7068312" y="3886200"/>
            <a:ext cx="2148840" cy="2240280"/>
          </a:xfrm>
          <a:prstGeom prst="roundRect">
            <a:avLst>
              <a:gd name="adj" fmla="val 5106"/>
            </a:avLst>
          </a:prstGeom>
          <a:solidFill>
            <a:schemeClr val="bg2"/>
          </a:solidFill>
          <a:ln/>
        </p:spPr>
      </p:sp>
      <p:sp>
        <p:nvSpPr>
          <p:cNvPr id="31" name="Shape 24"/>
          <p:cNvSpPr/>
          <p:nvPr/>
        </p:nvSpPr>
        <p:spPr>
          <a:xfrm>
            <a:off x="7296912" y="4114800"/>
            <a:ext cx="594360" cy="594360"/>
          </a:xfrm>
          <a:prstGeom prst="ellipse">
            <a:avLst/>
          </a:prstGeom>
          <a:solidFill>
            <a:srgbClr val="5B4BC4"/>
          </a:solidFill>
          <a:ln/>
        </p:spPr>
      </p:sp>
      <p:pic>
        <p:nvPicPr>
          <p:cNvPr id="32" name="Image 5" descr="preencoded.png">    </p:cNvPr>
          <p:cNvPicPr>
            <a:picLocks noChangeAspect="1"/>
          </p:cNvPicPr>
          <p:nvPr/>
        </p:nvPicPr>
        <p:blipFill>
          <a:blip r:embed="rId6"/>
          <a:stretch>
            <a:fillRect/>
          </a:stretch>
        </p:blipFill>
        <p:spPr>
          <a:xfrm>
            <a:off x="7427671" y="4245559"/>
            <a:ext cx="332842" cy="332842"/>
          </a:xfrm>
          <a:prstGeom prst="rect">
            <a:avLst/>
          </a:prstGeom>
        </p:spPr>
      </p:pic>
      <p:sp>
        <p:nvSpPr>
          <p:cNvPr id="33" name="Text 25"/>
          <p:cNvSpPr txBox="1"/>
          <p:nvPr/>
        </p:nvSpPr>
        <p:spPr>
          <a:xfrm>
            <a:off x="7296912" y="4800600"/>
            <a:ext cx="1783080" cy="365760"/>
          </a:xfrm>
          <a:prstGeom prst="rect">
            <a:avLst/>
          </a:prstGeom>
          <a:noFill/>
          <a:ln/>
        </p:spPr>
        <p:txBody>
          <a:bodyPr wrap="square" lIns="0" tIns="0" rIns="0" bIns="0" rtlCol="0" anchor="t"/>
          <a:lstStyle/>
          <a:p>
            <a:pPr indent="0" marL="0">
              <a:buNone/>
            </a:pPr>
            <a:r>
              <a:rPr lang="en-US" sz="1600" b="1" dirty="0">
                <a:solidFill>
                  <a:schemeClr val="tx1"/>
                </a:solidFill>
              </a:rPr>
              <a:t>Falha de rede</a:t>
            </a:r>
            <a:endParaRPr lang="en-US" sz="1600" dirty="0"/>
          </a:p>
        </p:txBody>
      </p:sp>
      <p:sp>
        <p:nvSpPr>
          <p:cNvPr id="34" name="Text 26"/>
          <p:cNvSpPr txBox="1"/>
          <p:nvPr/>
        </p:nvSpPr>
        <p:spPr>
          <a:xfrm>
            <a:off x="7296912" y="5166360"/>
            <a:ext cx="1783080" cy="868680"/>
          </a:xfrm>
          <a:prstGeom prst="rect">
            <a:avLst/>
          </a:prstGeom>
          <a:noFill/>
          <a:ln/>
        </p:spPr>
        <p:txBody>
          <a:bodyPr wrap="square" lIns="0" tIns="0" rIns="0" bIns="0" rtlCol="0" anchor="t"/>
          <a:lstStyle/>
          <a:p>
            <a:pPr indent="0" marL="0">
              <a:buNone/>
            </a:pPr>
            <a:r>
              <a:rPr lang="en-US" sz="1300" dirty="0">
                <a:solidFill>
                  <a:schemeClr val="tx2"/>
                </a:solidFill>
              </a:rPr>
              <a:t>Troca de operador; guarda 30 dias de leituras</a:t>
            </a:r>
            <a:endParaRPr lang="en-US" sz="1300" dirty="0"/>
          </a:p>
        </p:txBody>
      </p:sp>
      <p:sp>
        <p:nvSpPr>
          <p:cNvPr id="35" name="Shape 27"/>
          <p:cNvSpPr/>
          <p:nvPr/>
        </p:nvSpPr>
        <p:spPr>
          <a:xfrm>
            <a:off x="9381744" y="3886200"/>
            <a:ext cx="2148840" cy="2240280"/>
          </a:xfrm>
          <a:prstGeom prst="roundRect">
            <a:avLst>
              <a:gd name="adj" fmla="val 5106"/>
            </a:avLst>
          </a:prstGeom>
          <a:solidFill>
            <a:schemeClr val="bg2"/>
          </a:solidFill>
          <a:ln/>
        </p:spPr>
      </p:sp>
      <p:sp>
        <p:nvSpPr>
          <p:cNvPr id="36" name="Shape 28"/>
          <p:cNvSpPr/>
          <p:nvPr/>
        </p:nvSpPr>
        <p:spPr>
          <a:xfrm>
            <a:off x="9610344" y="4114800"/>
            <a:ext cx="594360" cy="594360"/>
          </a:xfrm>
          <a:prstGeom prst="ellipse">
            <a:avLst/>
          </a:prstGeom>
          <a:solidFill>
            <a:srgbClr val="B42318"/>
          </a:solidFill>
          <a:ln/>
        </p:spPr>
      </p:sp>
      <p:pic>
        <p:nvPicPr>
          <p:cNvPr id="37" name="Image 6" descr="preencoded.png">    </p:cNvPr>
          <p:cNvPicPr>
            <a:picLocks noChangeAspect="1"/>
          </p:cNvPicPr>
          <p:nvPr/>
        </p:nvPicPr>
        <p:blipFill>
          <a:blip r:embed="rId7"/>
          <a:stretch>
            <a:fillRect/>
          </a:stretch>
        </p:blipFill>
        <p:spPr>
          <a:xfrm>
            <a:off x="9741103" y="4245559"/>
            <a:ext cx="332842" cy="332842"/>
          </a:xfrm>
          <a:prstGeom prst="rect">
            <a:avLst/>
          </a:prstGeom>
        </p:spPr>
      </p:pic>
      <p:sp>
        <p:nvSpPr>
          <p:cNvPr id="38" name="Text 29"/>
          <p:cNvSpPr txBox="1"/>
          <p:nvPr/>
        </p:nvSpPr>
        <p:spPr>
          <a:xfrm>
            <a:off x="9610344" y="4800600"/>
            <a:ext cx="1783080" cy="365760"/>
          </a:xfrm>
          <a:prstGeom prst="rect">
            <a:avLst/>
          </a:prstGeom>
          <a:noFill/>
          <a:ln/>
        </p:spPr>
        <p:txBody>
          <a:bodyPr wrap="square" lIns="0" tIns="0" rIns="0" bIns="0" rtlCol="0" anchor="t"/>
          <a:lstStyle/>
          <a:p>
            <a:pPr indent="0" marL="0">
              <a:buNone/>
            </a:pPr>
            <a:r>
              <a:rPr lang="en-US" sz="1600" b="1" dirty="0">
                <a:solidFill>
                  <a:schemeClr val="tx1"/>
                </a:solidFill>
              </a:rPr>
              <a:t>ATEX / IECEx</a:t>
            </a:r>
            <a:endParaRPr lang="en-US" sz="1600" dirty="0"/>
          </a:p>
        </p:txBody>
      </p:sp>
      <p:sp>
        <p:nvSpPr>
          <p:cNvPr id="39" name="Text 30"/>
          <p:cNvSpPr txBox="1"/>
          <p:nvPr/>
        </p:nvSpPr>
        <p:spPr>
          <a:xfrm>
            <a:off x="9610344" y="5166360"/>
            <a:ext cx="1783080" cy="868680"/>
          </a:xfrm>
          <a:prstGeom prst="rect">
            <a:avLst/>
          </a:prstGeom>
          <a:noFill/>
          <a:ln/>
        </p:spPr>
        <p:txBody>
          <a:bodyPr wrap="square" lIns="0" tIns="0" rIns="0" bIns="0" rtlCol="0" anchor="t"/>
          <a:lstStyle/>
          <a:p>
            <a:pPr indent="0" marL="0">
              <a:buNone/>
            </a:pPr>
            <a:r>
              <a:rPr lang="en-US" sz="1300" dirty="0">
                <a:solidFill>
                  <a:schemeClr val="tx2"/>
                </a:solidFill>
              </a:rPr>
              <a:t>Com ATG existente, nada novo dentro do tanque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09 · PILOTO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Piloto de 90 dias · 10–20 postos em Luanda</a:t>
            </a:r>
            <a:endParaRPr lang="en-US" sz="3400" dirty="0"/>
          </a:p>
        </p:txBody>
      </p:sp>
      <p:sp>
        <p:nvSpPr>
          <p:cNvPr id="4" name="Shape 2"/>
          <p:cNvSpPr/>
          <p:nvPr/>
        </p:nvSpPr>
        <p:spPr>
          <a:xfrm>
            <a:off x="3657600" y="1783080"/>
            <a:ext cx="666750" cy="3520440"/>
          </a:xfrm>
          <a:prstGeom prst="rect">
            <a:avLst/>
          </a:prstGeom>
          <a:solidFill>
            <a:schemeClr val="bg2"/>
          </a:solidFill>
          <a:ln/>
        </p:spPr>
      </p:sp>
      <p:sp>
        <p:nvSpPr>
          <p:cNvPr id="5" name="Text 3"/>
          <p:cNvSpPr txBox="1"/>
          <p:nvPr/>
        </p:nvSpPr>
        <p:spPr>
          <a:xfrm>
            <a:off x="36576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S1</a:t>
            </a:r>
            <a:endParaRPr lang="en-US" sz="1100" dirty="0"/>
          </a:p>
        </p:txBody>
      </p:sp>
      <p:sp>
        <p:nvSpPr>
          <p:cNvPr id="6" name="Text 4"/>
          <p:cNvSpPr txBox="1"/>
          <p:nvPr/>
        </p:nvSpPr>
        <p:spPr>
          <a:xfrm>
            <a:off x="43243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S2</a:t>
            </a:r>
            <a:endParaRPr lang="en-US" sz="1100" dirty="0"/>
          </a:p>
        </p:txBody>
      </p:sp>
      <p:sp>
        <p:nvSpPr>
          <p:cNvPr id="7" name="Shape 5"/>
          <p:cNvSpPr/>
          <p:nvPr/>
        </p:nvSpPr>
        <p:spPr>
          <a:xfrm>
            <a:off x="4991100" y="1783080"/>
            <a:ext cx="666750" cy="3520440"/>
          </a:xfrm>
          <a:prstGeom prst="rect">
            <a:avLst/>
          </a:prstGeom>
          <a:solidFill>
            <a:schemeClr val="bg2"/>
          </a:solidFill>
          <a:ln/>
        </p:spPr>
      </p:sp>
      <p:sp>
        <p:nvSpPr>
          <p:cNvPr id="8" name="Text 6"/>
          <p:cNvSpPr txBox="1"/>
          <p:nvPr/>
        </p:nvSpPr>
        <p:spPr>
          <a:xfrm>
            <a:off x="49911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S3</a:t>
            </a:r>
            <a:endParaRPr lang="en-US" sz="1100" dirty="0"/>
          </a:p>
        </p:txBody>
      </p:sp>
      <p:sp>
        <p:nvSpPr>
          <p:cNvPr id="9" name="Text 7"/>
          <p:cNvSpPr txBox="1"/>
          <p:nvPr/>
        </p:nvSpPr>
        <p:spPr>
          <a:xfrm>
            <a:off x="56578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S4</a:t>
            </a:r>
            <a:endParaRPr lang="en-US" sz="1100" dirty="0"/>
          </a:p>
        </p:txBody>
      </p:sp>
      <p:sp>
        <p:nvSpPr>
          <p:cNvPr id="10" name="Shape 8"/>
          <p:cNvSpPr/>
          <p:nvPr/>
        </p:nvSpPr>
        <p:spPr>
          <a:xfrm>
            <a:off x="6324600" y="1783080"/>
            <a:ext cx="666750" cy="3520440"/>
          </a:xfrm>
          <a:prstGeom prst="rect">
            <a:avLst/>
          </a:prstGeom>
          <a:solidFill>
            <a:schemeClr val="bg2"/>
          </a:solidFill>
          <a:ln/>
        </p:spPr>
      </p:sp>
      <p:sp>
        <p:nvSpPr>
          <p:cNvPr id="11" name="Text 9"/>
          <p:cNvSpPr txBox="1"/>
          <p:nvPr/>
        </p:nvSpPr>
        <p:spPr>
          <a:xfrm>
            <a:off x="63246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S5</a:t>
            </a:r>
            <a:endParaRPr lang="en-US" sz="1100" dirty="0"/>
          </a:p>
        </p:txBody>
      </p:sp>
      <p:sp>
        <p:nvSpPr>
          <p:cNvPr id="12" name="Text 10"/>
          <p:cNvSpPr txBox="1"/>
          <p:nvPr/>
        </p:nvSpPr>
        <p:spPr>
          <a:xfrm>
            <a:off x="69913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S6</a:t>
            </a:r>
            <a:endParaRPr lang="en-US" sz="1100" dirty="0"/>
          </a:p>
        </p:txBody>
      </p:sp>
      <p:sp>
        <p:nvSpPr>
          <p:cNvPr id="13" name="Shape 11"/>
          <p:cNvSpPr/>
          <p:nvPr/>
        </p:nvSpPr>
        <p:spPr>
          <a:xfrm>
            <a:off x="7658100" y="1783080"/>
            <a:ext cx="666750" cy="3520440"/>
          </a:xfrm>
          <a:prstGeom prst="rect">
            <a:avLst/>
          </a:prstGeom>
          <a:solidFill>
            <a:schemeClr val="bg2"/>
          </a:solidFill>
          <a:ln/>
        </p:spPr>
      </p:sp>
      <p:sp>
        <p:nvSpPr>
          <p:cNvPr id="14" name="Text 12"/>
          <p:cNvSpPr txBox="1"/>
          <p:nvPr/>
        </p:nvSpPr>
        <p:spPr>
          <a:xfrm>
            <a:off x="76581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S7</a:t>
            </a:r>
            <a:endParaRPr lang="en-US" sz="1100" dirty="0"/>
          </a:p>
        </p:txBody>
      </p:sp>
      <p:sp>
        <p:nvSpPr>
          <p:cNvPr id="15" name="Text 13"/>
          <p:cNvSpPr txBox="1"/>
          <p:nvPr/>
        </p:nvSpPr>
        <p:spPr>
          <a:xfrm>
            <a:off x="83248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S8</a:t>
            </a:r>
            <a:endParaRPr lang="en-US" sz="1100" dirty="0"/>
          </a:p>
        </p:txBody>
      </p:sp>
      <p:sp>
        <p:nvSpPr>
          <p:cNvPr id="16" name="Shape 14"/>
          <p:cNvSpPr/>
          <p:nvPr/>
        </p:nvSpPr>
        <p:spPr>
          <a:xfrm>
            <a:off x="8991600" y="1783080"/>
            <a:ext cx="666750" cy="3520440"/>
          </a:xfrm>
          <a:prstGeom prst="rect">
            <a:avLst/>
          </a:prstGeom>
          <a:solidFill>
            <a:schemeClr val="bg2"/>
          </a:solidFill>
          <a:ln/>
        </p:spPr>
      </p:sp>
      <p:sp>
        <p:nvSpPr>
          <p:cNvPr id="17" name="Text 15"/>
          <p:cNvSpPr txBox="1"/>
          <p:nvPr/>
        </p:nvSpPr>
        <p:spPr>
          <a:xfrm>
            <a:off x="89916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S9</a:t>
            </a:r>
            <a:endParaRPr lang="en-US" sz="1100" dirty="0"/>
          </a:p>
        </p:txBody>
      </p:sp>
      <p:sp>
        <p:nvSpPr>
          <p:cNvPr id="18" name="Text 16"/>
          <p:cNvSpPr txBox="1"/>
          <p:nvPr/>
        </p:nvSpPr>
        <p:spPr>
          <a:xfrm>
            <a:off x="96583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S10</a:t>
            </a:r>
            <a:endParaRPr lang="en-US" sz="1100" dirty="0"/>
          </a:p>
        </p:txBody>
      </p:sp>
      <p:sp>
        <p:nvSpPr>
          <p:cNvPr id="19" name="Shape 17"/>
          <p:cNvSpPr/>
          <p:nvPr/>
        </p:nvSpPr>
        <p:spPr>
          <a:xfrm>
            <a:off x="10325100" y="1783080"/>
            <a:ext cx="666750" cy="3520440"/>
          </a:xfrm>
          <a:prstGeom prst="rect">
            <a:avLst/>
          </a:prstGeom>
          <a:solidFill>
            <a:schemeClr val="bg2"/>
          </a:solidFill>
          <a:ln/>
        </p:spPr>
      </p:sp>
      <p:sp>
        <p:nvSpPr>
          <p:cNvPr id="20" name="Text 18"/>
          <p:cNvSpPr txBox="1"/>
          <p:nvPr/>
        </p:nvSpPr>
        <p:spPr>
          <a:xfrm>
            <a:off x="1032510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S11</a:t>
            </a:r>
            <a:endParaRPr lang="en-US" sz="1100" dirty="0"/>
          </a:p>
        </p:txBody>
      </p:sp>
      <p:sp>
        <p:nvSpPr>
          <p:cNvPr id="21" name="Text 19"/>
          <p:cNvSpPr txBox="1"/>
          <p:nvPr/>
        </p:nvSpPr>
        <p:spPr>
          <a:xfrm>
            <a:off x="10991850" y="1481328"/>
            <a:ext cx="666750" cy="256032"/>
          </a:xfrm>
          <a:prstGeom prst="rect">
            <a:avLst/>
          </a:prstGeom>
          <a:noFill/>
          <a:ln/>
        </p:spPr>
        <p:txBody>
          <a:bodyPr wrap="square" lIns="0" tIns="0" rIns="0" bIns="0" rtlCol="0" anchor="t"/>
          <a:lstStyle/>
          <a:p>
            <a:pPr algn="ctr" indent="0" marL="0">
              <a:buNone/>
            </a:pPr>
            <a:r>
              <a:rPr lang="en-US" sz="1100" b="1" dirty="0">
                <a:solidFill>
                  <a:schemeClr val="tx2"/>
                </a:solidFill>
              </a:rPr>
              <a:t>S12</a:t>
            </a:r>
            <a:endParaRPr lang="en-US" sz="1100" dirty="0"/>
          </a:p>
        </p:txBody>
      </p:sp>
      <p:sp>
        <p:nvSpPr>
          <p:cNvPr id="22" name="Text 20"/>
          <p:cNvSpPr txBox="1"/>
          <p:nvPr/>
        </p:nvSpPr>
        <p:spPr>
          <a:xfrm>
            <a:off x="548640" y="1874520"/>
            <a:ext cx="3017520" cy="384048"/>
          </a:xfrm>
          <a:prstGeom prst="rect">
            <a:avLst/>
          </a:prstGeom>
          <a:noFill/>
          <a:ln/>
        </p:spPr>
        <p:txBody>
          <a:bodyPr wrap="square" lIns="0" tIns="0" rIns="0" bIns="0" rtlCol="0" anchor="ctr"/>
          <a:lstStyle/>
          <a:p>
            <a:pPr indent="0" marL="0">
              <a:buNone/>
            </a:pPr>
            <a:r>
              <a:rPr lang="en-US" sz="1500" b="1" dirty="0">
                <a:solidFill>
                  <a:schemeClr val="tx1"/>
                </a:solidFill>
              </a:rPr>
              <a:t>Levantamento dos postos</a:t>
            </a:r>
            <a:endParaRPr lang="en-US" sz="1500" dirty="0"/>
          </a:p>
        </p:txBody>
      </p:sp>
      <p:sp>
        <p:nvSpPr>
          <p:cNvPr id="23" name="Shape 21"/>
          <p:cNvSpPr/>
          <p:nvPr/>
        </p:nvSpPr>
        <p:spPr>
          <a:xfrm>
            <a:off x="3685032" y="1874520"/>
            <a:ext cx="1278636" cy="384048"/>
          </a:xfrm>
          <a:prstGeom prst="roundRect">
            <a:avLst>
              <a:gd name="adj" fmla="val 19048"/>
            </a:avLst>
          </a:prstGeom>
          <a:solidFill>
            <a:schemeClr val="tx1"/>
          </a:solidFill>
          <a:ln/>
        </p:spPr>
      </p:sp>
      <p:sp>
        <p:nvSpPr>
          <p:cNvPr id="24" name="Text 22"/>
          <p:cNvSpPr txBox="1"/>
          <p:nvPr/>
        </p:nvSpPr>
        <p:spPr>
          <a:xfrm>
            <a:off x="548640" y="2423160"/>
            <a:ext cx="3017520" cy="384048"/>
          </a:xfrm>
          <a:prstGeom prst="rect">
            <a:avLst/>
          </a:prstGeom>
          <a:noFill/>
          <a:ln/>
        </p:spPr>
        <p:txBody>
          <a:bodyPr wrap="square" lIns="0" tIns="0" rIns="0" bIns="0" rtlCol="0" anchor="ctr"/>
          <a:lstStyle/>
          <a:p>
            <a:pPr indent="0" marL="0">
              <a:buNone/>
            </a:pPr>
            <a:r>
              <a:rPr lang="en-US" sz="1500" dirty="0">
                <a:solidFill>
                  <a:schemeClr val="tx1"/>
                </a:solidFill>
              </a:rPr>
              <a:t>Compra e preparação</a:t>
            </a:r>
            <a:endParaRPr lang="en-US" sz="1500" dirty="0"/>
          </a:p>
        </p:txBody>
      </p:sp>
      <p:sp>
        <p:nvSpPr>
          <p:cNvPr id="25" name="Shape 23"/>
          <p:cNvSpPr/>
          <p:nvPr/>
        </p:nvSpPr>
        <p:spPr>
          <a:xfrm>
            <a:off x="4351782" y="2423160"/>
            <a:ext cx="1945386" cy="384048"/>
          </a:xfrm>
          <a:prstGeom prst="roundRect">
            <a:avLst>
              <a:gd name="adj" fmla="val 19048"/>
            </a:avLst>
          </a:prstGeom>
          <a:solidFill>
            <a:schemeClr val="tx2"/>
          </a:solidFill>
          <a:ln/>
        </p:spPr>
      </p:sp>
      <p:sp>
        <p:nvSpPr>
          <p:cNvPr id="26" name="Text 24"/>
          <p:cNvSpPr txBox="1"/>
          <p:nvPr/>
        </p:nvSpPr>
        <p:spPr>
          <a:xfrm>
            <a:off x="548640" y="2971800"/>
            <a:ext cx="3017520" cy="384048"/>
          </a:xfrm>
          <a:prstGeom prst="rect">
            <a:avLst/>
          </a:prstGeom>
          <a:noFill/>
          <a:ln/>
        </p:spPr>
        <p:txBody>
          <a:bodyPr wrap="square" lIns="0" tIns="0" rIns="0" bIns="0" rtlCol="0" anchor="ctr"/>
          <a:lstStyle/>
          <a:p>
            <a:pPr indent="0" marL="0">
              <a:buNone/>
            </a:pPr>
            <a:r>
              <a:rPr lang="en-US" sz="1500" dirty="0">
                <a:solidFill>
                  <a:schemeClr val="tx1"/>
                </a:solidFill>
              </a:rPr>
              <a:t>Instalação nos postos</a:t>
            </a:r>
            <a:endParaRPr lang="en-US" sz="1500" dirty="0"/>
          </a:p>
        </p:txBody>
      </p:sp>
      <p:sp>
        <p:nvSpPr>
          <p:cNvPr id="27" name="Shape 25"/>
          <p:cNvSpPr/>
          <p:nvPr/>
        </p:nvSpPr>
        <p:spPr>
          <a:xfrm>
            <a:off x="5018532" y="2971800"/>
            <a:ext cx="2612136" cy="384048"/>
          </a:xfrm>
          <a:prstGeom prst="roundRect">
            <a:avLst>
              <a:gd name="adj" fmla="val 19048"/>
            </a:avLst>
          </a:prstGeom>
          <a:solidFill>
            <a:schemeClr val="accent1"/>
          </a:solidFill>
          <a:ln/>
        </p:spPr>
      </p:sp>
      <p:sp>
        <p:nvSpPr>
          <p:cNvPr id="28" name="Text 26"/>
          <p:cNvSpPr txBox="1"/>
          <p:nvPr/>
        </p:nvSpPr>
        <p:spPr>
          <a:xfrm>
            <a:off x="548640" y="3520440"/>
            <a:ext cx="3017520" cy="384048"/>
          </a:xfrm>
          <a:prstGeom prst="rect">
            <a:avLst/>
          </a:prstGeom>
          <a:noFill/>
          <a:ln/>
        </p:spPr>
        <p:txBody>
          <a:bodyPr wrap="square" lIns="0" tIns="0" rIns="0" bIns="0" rtlCol="0" anchor="ctr"/>
          <a:lstStyle/>
          <a:p>
            <a:pPr indent="0" marL="0">
              <a:buNone/>
            </a:pPr>
            <a:r>
              <a:rPr lang="en-US" sz="1500" dirty="0">
                <a:solidFill>
                  <a:schemeClr val="tx1"/>
                </a:solidFill>
              </a:rPr>
              <a:t>Painel ao vivo + alertas</a:t>
            </a:r>
            <a:endParaRPr lang="en-US" sz="1500" dirty="0"/>
          </a:p>
        </p:txBody>
      </p:sp>
      <p:sp>
        <p:nvSpPr>
          <p:cNvPr id="29" name="Shape 27"/>
          <p:cNvSpPr/>
          <p:nvPr/>
        </p:nvSpPr>
        <p:spPr>
          <a:xfrm>
            <a:off x="7018782" y="3520440"/>
            <a:ext cx="4612386" cy="384048"/>
          </a:xfrm>
          <a:prstGeom prst="roundRect">
            <a:avLst>
              <a:gd name="adj" fmla="val 19048"/>
            </a:avLst>
          </a:prstGeom>
          <a:solidFill>
            <a:schemeClr val="accent5"/>
          </a:solidFill>
          <a:ln/>
        </p:spPr>
      </p:sp>
      <p:sp>
        <p:nvSpPr>
          <p:cNvPr id="30" name="Text 28"/>
          <p:cNvSpPr txBox="1"/>
          <p:nvPr/>
        </p:nvSpPr>
        <p:spPr>
          <a:xfrm>
            <a:off x="548640" y="4069080"/>
            <a:ext cx="3017520" cy="384048"/>
          </a:xfrm>
          <a:prstGeom prst="rect">
            <a:avLst/>
          </a:prstGeom>
          <a:noFill/>
          <a:ln/>
        </p:spPr>
        <p:txBody>
          <a:bodyPr wrap="square" lIns="0" tIns="0" rIns="0" bIns="0" rtlCol="0" anchor="ctr"/>
          <a:lstStyle/>
          <a:p>
            <a:pPr indent="0" marL="0">
              <a:buNone/>
            </a:pPr>
            <a:r>
              <a:rPr lang="en-US" sz="1500" dirty="0">
                <a:solidFill>
                  <a:schemeClr val="tx1"/>
                </a:solidFill>
              </a:rPr>
              <a:t>Modelo de previsão</a:t>
            </a:r>
            <a:endParaRPr lang="en-US" sz="1500" dirty="0"/>
          </a:p>
        </p:txBody>
      </p:sp>
      <p:sp>
        <p:nvSpPr>
          <p:cNvPr id="31" name="Shape 29"/>
          <p:cNvSpPr/>
          <p:nvPr/>
        </p:nvSpPr>
        <p:spPr>
          <a:xfrm>
            <a:off x="9019032" y="4069080"/>
            <a:ext cx="2612136" cy="384048"/>
          </a:xfrm>
          <a:prstGeom prst="roundRect">
            <a:avLst>
              <a:gd name="adj" fmla="val 19048"/>
            </a:avLst>
          </a:prstGeom>
          <a:solidFill>
            <a:schemeClr val="accent2"/>
          </a:solidFill>
          <a:ln/>
        </p:spPr>
      </p:sp>
      <p:sp>
        <p:nvSpPr>
          <p:cNvPr id="32" name="Text 30"/>
          <p:cNvSpPr txBox="1"/>
          <p:nvPr/>
        </p:nvSpPr>
        <p:spPr>
          <a:xfrm>
            <a:off x="548640" y="4617720"/>
            <a:ext cx="3017520" cy="384048"/>
          </a:xfrm>
          <a:prstGeom prst="rect">
            <a:avLst/>
          </a:prstGeom>
          <a:noFill/>
          <a:ln/>
        </p:spPr>
        <p:txBody>
          <a:bodyPr wrap="square" lIns="0" tIns="0" rIns="0" bIns="0" rtlCol="0" anchor="ctr"/>
          <a:lstStyle/>
          <a:p>
            <a:pPr indent="0" marL="0">
              <a:buNone/>
            </a:pPr>
            <a:r>
              <a:rPr lang="en-US" sz="1500" dirty="0">
                <a:solidFill>
                  <a:schemeClr val="tx1"/>
                </a:solidFill>
              </a:rPr>
              <a:t>Avaliação e relatório</a:t>
            </a:r>
            <a:endParaRPr lang="en-US" sz="1500" dirty="0"/>
          </a:p>
        </p:txBody>
      </p:sp>
      <p:sp>
        <p:nvSpPr>
          <p:cNvPr id="33" name="Shape 31"/>
          <p:cNvSpPr/>
          <p:nvPr/>
        </p:nvSpPr>
        <p:spPr>
          <a:xfrm>
            <a:off x="10352532" y="4617720"/>
            <a:ext cx="1278636" cy="384048"/>
          </a:xfrm>
          <a:prstGeom prst="roundRect">
            <a:avLst>
              <a:gd name="adj" fmla="val 19048"/>
            </a:avLst>
          </a:prstGeom>
          <a:solidFill>
            <a:schemeClr val="accent4"/>
          </a:solidFill>
          <a:ln/>
        </p:spPr>
      </p:sp>
      <p:sp>
        <p:nvSpPr>
          <p:cNvPr id="34" name="Shape 32"/>
          <p:cNvSpPr/>
          <p:nvPr/>
        </p:nvSpPr>
        <p:spPr>
          <a:xfrm>
            <a:off x="7520940" y="5230368"/>
            <a:ext cx="274320" cy="274320"/>
          </a:xfrm>
          <a:prstGeom prst="diamond">
            <a:avLst/>
          </a:prstGeom>
          <a:solidFill>
            <a:schemeClr val="accent3"/>
          </a:solidFill>
          <a:ln/>
        </p:spPr>
      </p:sp>
      <p:sp>
        <p:nvSpPr>
          <p:cNvPr id="35" name="Text 33"/>
          <p:cNvSpPr txBox="1"/>
          <p:nvPr/>
        </p:nvSpPr>
        <p:spPr>
          <a:xfrm>
            <a:off x="6377940" y="5532120"/>
            <a:ext cx="2560320" cy="274320"/>
          </a:xfrm>
          <a:prstGeom prst="rect">
            <a:avLst/>
          </a:prstGeom>
          <a:noFill/>
          <a:ln/>
        </p:spPr>
        <p:txBody>
          <a:bodyPr wrap="square" lIns="0" tIns="0" rIns="0" bIns="0" rtlCol="0" anchor="t"/>
          <a:lstStyle/>
          <a:p>
            <a:pPr algn="ctr" indent="0" marL="0">
              <a:buNone/>
            </a:pPr>
            <a:r>
              <a:rPr lang="en-US" sz="1200" b="1" dirty="0">
                <a:solidFill>
                  <a:schemeClr val="accent3"/>
                </a:solidFill>
              </a:rPr>
              <a:t>1.ª leitura real no painel</a:t>
            </a:r>
            <a:endParaRPr lang="en-US" sz="1200" dirty="0"/>
          </a:p>
        </p:txBody>
      </p:sp>
      <p:sp>
        <p:nvSpPr>
          <p:cNvPr id="36" name="Shape 34"/>
          <p:cNvSpPr/>
          <p:nvPr/>
        </p:nvSpPr>
        <p:spPr>
          <a:xfrm>
            <a:off x="11521440" y="5230368"/>
            <a:ext cx="274320" cy="274320"/>
          </a:xfrm>
          <a:prstGeom prst="diamond">
            <a:avLst/>
          </a:prstGeom>
          <a:solidFill>
            <a:schemeClr val="accent3"/>
          </a:solidFill>
          <a:ln/>
        </p:spPr>
      </p:sp>
      <p:sp>
        <p:nvSpPr>
          <p:cNvPr id="37" name="Text 35"/>
          <p:cNvSpPr txBox="1"/>
          <p:nvPr/>
        </p:nvSpPr>
        <p:spPr>
          <a:xfrm>
            <a:off x="9098280" y="5532120"/>
            <a:ext cx="2560320" cy="274320"/>
          </a:xfrm>
          <a:prstGeom prst="rect">
            <a:avLst/>
          </a:prstGeom>
          <a:noFill/>
          <a:ln/>
        </p:spPr>
        <p:txBody>
          <a:bodyPr wrap="square" lIns="0" tIns="0" rIns="0" bIns="0" rtlCol="0" anchor="t"/>
          <a:lstStyle/>
          <a:p>
            <a:pPr algn="r" indent="0" marL="0">
              <a:buNone/>
            </a:pPr>
            <a:r>
              <a:rPr lang="en-US" sz="1200" b="1" dirty="0">
                <a:solidFill>
                  <a:schemeClr val="accent3"/>
                </a:solidFill>
              </a:rPr>
              <a:t>Decisão de expansão</a:t>
            </a:r>
            <a:endParaRPr lang="en-US" sz="1200" dirty="0"/>
          </a:p>
        </p:txBody>
      </p:sp>
      <p:sp>
        <p:nvSpPr>
          <p:cNvPr id="38" name="Text 36"/>
          <p:cNvSpPr txBox="1"/>
          <p:nvPr/>
        </p:nvSpPr>
        <p:spPr>
          <a:xfrm>
            <a:off x="548640" y="5852160"/>
            <a:ext cx="1097280" cy="32004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MEDIMOS</a:t>
            </a:r>
            <a:endParaRPr lang="en-US" sz="1100" dirty="0"/>
          </a:p>
        </p:txBody>
      </p:sp>
      <p:sp>
        <p:nvSpPr>
          <p:cNvPr id="39" name="Text 37"/>
          <p:cNvSpPr txBox="1"/>
          <p:nvPr/>
        </p:nvSpPr>
        <p:spPr>
          <a:xfrm>
            <a:off x="1600200" y="5852160"/>
            <a:ext cx="2331720" cy="347472"/>
          </a:xfrm>
          <a:prstGeom prst="roundRect">
            <a:avLst>
              <a:gd name="adj" fmla="val 50000"/>
            </a:avLst>
          </a:prstGeom>
          <a:solidFill>
            <a:schemeClr val="accent1">
              <a:alpha val="14000"/>
            </a:schemeClr>
          </a:solidFill>
          <a:ln/>
        </p:spPr>
        <p:txBody>
          <a:bodyPr wrap="square" lIns="50800" tIns="50800" rIns="50800" bIns="50800" rtlCol="0" anchor="ctr"/>
          <a:lstStyle/>
          <a:p>
            <a:pPr algn="ctr" indent="0" marL="0">
              <a:buNone/>
            </a:pPr>
            <a:r>
              <a:rPr lang="en-US" sz="1300" b="1" dirty="0">
                <a:solidFill>
                  <a:schemeClr val="tx1"/>
                </a:solidFill>
              </a:rPr>
              <a:t>Horas de posto seco</a:t>
            </a:r>
            <a:endParaRPr lang="en-US" sz="1300" dirty="0"/>
          </a:p>
        </p:txBody>
      </p:sp>
      <p:sp>
        <p:nvSpPr>
          <p:cNvPr id="40" name="Text 38"/>
          <p:cNvSpPr txBox="1"/>
          <p:nvPr/>
        </p:nvSpPr>
        <p:spPr>
          <a:xfrm>
            <a:off x="4114800" y="5852160"/>
            <a:ext cx="2331720" cy="347472"/>
          </a:xfrm>
          <a:prstGeom prst="roundRect">
            <a:avLst>
              <a:gd name="adj" fmla="val 50000"/>
            </a:avLst>
          </a:prstGeom>
          <a:solidFill>
            <a:schemeClr val="accent1">
              <a:alpha val="14000"/>
            </a:schemeClr>
          </a:solidFill>
          <a:ln/>
        </p:spPr>
        <p:txBody>
          <a:bodyPr wrap="square" lIns="50800" tIns="50800" rIns="50800" bIns="50800" rtlCol="0" anchor="ctr"/>
          <a:lstStyle/>
          <a:p>
            <a:pPr algn="ctr" indent="0" marL="0">
              <a:buNone/>
            </a:pPr>
            <a:r>
              <a:rPr lang="en-US" sz="1300" b="1" dirty="0">
                <a:solidFill>
                  <a:schemeClr val="tx1"/>
                </a:solidFill>
              </a:rPr>
              <a:t>Ruturas e emergências</a:t>
            </a:r>
            <a:endParaRPr lang="en-US" sz="1300" dirty="0"/>
          </a:p>
        </p:txBody>
      </p:sp>
      <p:sp>
        <p:nvSpPr>
          <p:cNvPr id="41" name="Text 39"/>
          <p:cNvSpPr txBox="1"/>
          <p:nvPr/>
        </p:nvSpPr>
        <p:spPr>
          <a:xfrm>
            <a:off x="6629400" y="5852160"/>
            <a:ext cx="2331720" cy="347472"/>
          </a:xfrm>
          <a:prstGeom prst="roundRect">
            <a:avLst>
              <a:gd name="adj" fmla="val 50000"/>
            </a:avLst>
          </a:prstGeom>
          <a:solidFill>
            <a:schemeClr val="accent1">
              <a:alpha val="14000"/>
            </a:schemeClr>
          </a:solidFill>
          <a:ln/>
        </p:spPr>
        <p:txBody>
          <a:bodyPr wrap="square" lIns="50800" tIns="50800" rIns="50800" bIns="50800" rtlCol="0" anchor="ctr"/>
          <a:lstStyle/>
          <a:p>
            <a:pPr algn="ctr" indent="0" marL="0">
              <a:buNone/>
            </a:pPr>
            <a:r>
              <a:rPr lang="en-US" sz="1300" b="1" dirty="0">
                <a:solidFill>
                  <a:schemeClr val="tx1"/>
                </a:solidFill>
              </a:rPr>
              <a:t>Erro da previsão</a:t>
            </a:r>
            <a:endParaRPr lang="en-US" sz="1300" dirty="0"/>
          </a:p>
        </p:txBody>
      </p:sp>
      <p:sp>
        <p:nvSpPr>
          <p:cNvPr id="42" name="Text 40"/>
          <p:cNvSpPr txBox="1"/>
          <p:nvPr/>
        </p:nvSpPr>
        <p:spPr>
          <a:xfrm>
            <a:off x="9144000" y="5852160"/>
            <a:ext cx="2331720" cy="347472"/>
          </a:xfrm>
          <a:prstGeom prst="roundRect">
            <a:avLst>
              <a:gd name="adj" fmla="val 50000"/>
            </a:avLst>
          </a:prstGeom>
          <a:solidFill>
            <a:schemeClr val="accent1">
              <a:alpha val="14000"/>
            </a:schemeClr>
          </a:solidFill>
          <a:ln/>
        </p:spPr>
        <p:txBody>
          <a:bodyPr wrap="square" lIns="50800" tIns="50800" rIns="50800" bIns="50800" rtlCol="0" anchor="ctr"/>
          <a:lstStyle/>
          <a:p>
            <a:pPr algn="ctr" indent="0" marL="0">
              <a:buNone/>
            </a:pPr>
            <a:r>
              <a:rPr lang="en-US" sz="1300" b="1" dirty="0">
                <a:solidFill>
                  <a:schemeClr val="tx1"/>
                </a:solidFill>
              </a:rPr>
              <a:t>Fatura vs. recebido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09 · CUSTOS ESTIMADOS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400" b="1" dirty="0">
                <a:solidFill>
                  <a:schemeClr val="tx1"/>
                </a:solidFill>
              </a:rPr>
              <a:t>Custos por posto, em ordem de grandeza</a:t>
            </a:r>
            <a:endParaRPr lang="en-US" sz="3400" dirty="0"/>
          </a:p>
        </p:txBody>
      </p:sp>
      <p:sp>
        <p:nvSpPr>
          <p:cNvPr id="4" name="Shape 2"/>
          <p:cNvSpPr/>
          <p:nvPr/>
        </p:nvSpPr>
        <p:spPr>
          <a:xfrm>
            <a:off x="548640" y="1554480"/>
            <a:ext cx="3520440" cy="2331720"/>
          </a:xfrm>
          <a:prstGeom prst="roundRect">
            <a:avLst>
              <a:gd name="adj" fmla="val 5490"/>
            </a:avLst>
          </a:prstGeom>
          <a:solidFill>
            <a:schemeClr val="bg2"/>
          </a:solidFill>
          <a:ln/>
        </p:spPr>
      </p:sp>
      <p:sp>
        <p:nvSpPr>
          <p:cNvPr id="5" name="Shape 3"/>
          <p:cNvSpPr/>
          <p:nvPr/>
        </p:nvSpPr>
        <p:spPr>
          <a:xfrm>
            <a:off x="822960" y="1783080"/>
            <a:ext cx="640080" cy="640080"/>
          </a:xfrm>
          <a:prstGeom prst="ellipse">
            <a:avLst/>
          </a:prstGeom>
          <a:solidFill>
            <a:srgbClr val="5B4BC4"/>
          </a:solidFill>
          <a:ln/>
        </p:spPr>
      </p:sp>
      <p:pic>
        <p:nvPicPr>
          <p:cNvPr id="6" name="Image 0" descr="preencoded.png">    </p:cNvPr>
          <p:cNvPicPr>
            <a:picLocks noChangeAspect="1"/>
          </p:cNvPicPr>
          <p:nvPr/>
        </p:nvPicPr>
        <p:blipFill>
          <a:blip r:embed="rId1"/>
          <a:stretch>
            <a:fillRect/>
          </a:stretch>
        </p:blipFill>
        <p:spPr>
          <a:xfrm>
            <a:off x="963778" y="1923898"/>
            <a:ext cx="358445" cy="358445"/>
          </a:xfrm>
          <a:prstGeom prst="rect">
            <a:avLst/>
          </a:prstGeom>
        </p:spPr>
      </p:pic>
      <p:sp>
        <p:nvSpPr>
          <p:cNvPr id="7" name="Text 4"/>
          <p:cNvSpPr txBox="1"/>
          <p:nvPr/>
        </p:nvSpPr>
        <p:spPr>
          <a:xfrm>
            <a:off x="822960" y="2560320"/>
            <a:ext cx="3108960" cy="594360"/>
          </a:xfrm>
          <a:prstGeom prst="rect">
            <a:avLst/>
          </a:prstGeom>
          <a:noFill/>
          <a:ln/>
        </p:spPr>
        <p:txBody>
          <a:bodyPr wrap="square" lIns="0" tIns="0" rIns="0" bIns="0" rtlCol="0" anchor="t"/>
          <a:lstStyle/>
          <a:p>
            <a:pPr indent="0" marL="0">
              <a:buNone/>
            </a:pPr>
            <a:r>
              <a:rPr lang="en-US" sz="3000" b="1" dirty="0">
                <a:solidFill>
                  <a:schemeClr val="accent1"/>
                </a:solidFill>
              </a:rPr>
              <a:t>US$ 150–500</a:t>
            </a:r>
            <a:endParaRPr lang="en-US" sz="3000" dirty="0"/>
          </a:p>
        </p:txBody>
      </p:sp>
      <p:sp>
        <p:nvSpPr>
          <p:cNvPr id="8" name="Text 5"/>
          <p:cNvSpPr txBox="1"/>
          <p:nvPr/>
        </p:nvSpPr>
        <p:spPr>
          <a:xfrm>
            <a:off x="822960" y="3127248"/>
            <a:ext cx="3108960" cy="347472"/>
          </a:xfrm>
          <a:prstGeom prst="rect">
            <a:avLst/>
          </a:prstGeom>
          <a:noFill/>
          <a:ln/>
        </p:spPr>
        <p:txBody>
          <a:bodyPr wrap="square" lIns="0" tIns="0" rIns="0" bIns="0" rtlCol="0" anchor="t"/>
          <a:lstStyle/>
          <a:p>
            <a:pPr indent="0" marL="0">
              <a:buNone/>
            </a:pPr>
            <a:r>
              <a:rPr lang="en-US" sz="1600" b="1" dirty="0">
                <a:solidFill>
                  <a:schemeClr val="tx1"/>
                </a:solidFill>
              </a:rPr>
              <a:t>Gateway 4G + antena</a:t>
            </a:r>
            <a:endParaRPr lang="en-US" sz="1600" dirty="0"/>
          </a:p>
        </p:txBody>
      </p:sp>
      <p:sp>
        <p:nvSpPr>
          <p:cNvPr id="9" name="Text 6"/>
          <p:cNvSpPr txBox="1"/>
          <p:nvPr/>
        </p:nvSpPr>
        <p:spPr>
          <a:xfrm>
            <a:off x="822960" y="3474720"/>
            <a:ext cx="3108960" cy="320040"/>
          </a:xfrm>
          <a:prstGeom prst="rect">
            <a:avLst/>
          </a:prstGeom>
          <a:noFill/>
          <a:ln/>
        </p:spPr>
        <p:txBody>
          <a:bodyPr wrap="square" lIns="0" tIns="0" rIns="0" bIns="0" rtlCol="0" anchor="t"/>
          <a:lstStyle/>
          <a:p>
            <a:pPr indent="0" marL="0">
              <a:buNone/>
            </a:pPr>
            <a:r>
              <a:rPr lang="en-US" sz="1400" dirty="0">
                <a:solidFill>
                  <a:schemeClr val="tx2"/>
                </a:solidFill>
              </a:rPr>
              <a:t>Uma vez, por posto</a:t>
            </a:r>
            <a:endParaRPr lang="en-US" sz="1400" dirty="0"/>
          </a:p>
        </p:txBody>
      </p:sp>
      <p:sp>
        <p:nvSpPr>
          <p:cNvPr id="10" name="Shape 7"/>
          <p:cNvSpPr/>
          <p:nvPr/>
        </p:nvSpPr>
        <p:spPr>
          <a:xfrm>
            <a:off x="4343400" y="1554480"/>
            <a:ext cx="3520440" cy="2331720"/>
          </a:xfrm>
          <a:prstGeom prst="roundRect">
            <a:avLst>
              <a:gd name="adj" fmla="val 5490"/>
            </a:avLst>
          </a:prstGeom>
          <a:solidFill>
            <a:schemeClr val="bg2"/>
          </a:solidFill>
          <a:ln/>
        </p:spPr>
      </p:sp>
      <p:sp>
        <p:nvSpPr>
          <p:cNvPr id="11" name="Shape 8"/>
          <p:cNvSpPr/>
          <p:nvPr/>
        </p:nvSpPr>
        <p:spPr>
          <a:xfrm>
            <a:off x="4617720" y="1783080"/>
            <a:ext cx="640080" cy="640080"/>
          </a:xfrm>
          <a:prstGeom prst="ellipse">
            <a:avLst/>
          </a:prstGeom>
          <a:solidFill>
            <a:srgbClr val="5B4BC4"/>
          </a:solidFill>
          <a:ln/>
        </p:spPr>
      </p:sp>
      <p:pic>
        <p:nvPicPr>
          <p:cNvPr id="12" name="Image 1" descr="preencoded.png">    </p:cNvPr>
          <p:cNvPicPr>
            <a:picLocks noChangeAspect="1"/>
          </p:cNvPicPr>
          <p:nvPr/>
        </p:nvPicPr>
        <p:blipFill>
          <a:blip r:embed="rId2"/>
          <a:stretch>
            <a:fillRect/>
          </a:stretch>
        </p:blipFill>
        <p:spPr>
          <a:xfrm>
            <a:off x="4758538" y="1923898"/>
            <a:ext cx="358445" cy="358445"/>
          </a:xfrm>
          <a:prstGeom prst="rect">
            <a:avLst/>
          </a:prstGeom>
        </p:spPr>
      </p:pic>
      <p:sp>
        <p:nvSpPr>
          <p:cNvPr id="13" name="Text 9"/>
          <p:cNvSpPr txBox="1"/>
          <p:nvPr/>
        </p:nvSpPr>
        <p:spPr>
          <a:xfrm>
            <a:off x="4617720" y="2560320"/>
            <a:ext cx="3108960" cy="594360"/>
          </a:xfrm>
          <a:prstGeom prst="rect">
            <a:avLst/>
          </a:prstGeom>
          <a:noFill/>
          <a:ln/>
        </p:spPr>
        <p:txBody>
          <a:bodyPr wrap="square" lIns="0" tIns="0" rIns="0" bIns="0" rtlCol="0" anchor="t"/>
          <a:lstStyle/>
          <a:p>
            <a:pPr indent="0" marL="0">
              <a:buNone/>
            </a:pPr>
            <a:r>
              <a:rPr lang="en-US" sz="3000" b="1" dirty="0">
                <a:solidFill>
                  <a:schemeClr val="accent1"/>
                </a:solidFill>
              </a:rPr>
              <a:t>US$ 50–150</a:t>
            </a:r>
            <a:endParaRPr lang="en-US" sz="3000" dirty="0"/>
          </a:p>
        </p:txBody>
      </p:sp>
      <p:sp>
        <p:nvSpPr>
          <p:cNvPr id="14" name="Text 10"/>
          <p:cNvSpPr txBox="1"/>
          <p:nvPr/>
        </p:nvSpPr>
        <p:spPr>
          <a:xfrm>
            <a:off x="4617720" y="3127248"/>
            <a:ext cx="3108960" cy="347472"/>
          </a:xfrm>
          <a:prstGeom prst="rect">
            <a:avLst/>
          </a:prstGeom>
          <a:noFill/>
          <a:ln/>
        </p:spPr>
        <p:txBody>
          <a:bodyPr wrap="square" lIns="0" tIns="0" rIns="0" bIns="0" rtlCol="0" anchor="t"/>
          <a:lstStyle/>
          <a:p>
            <a:pPr indent="0" marL="0">
              <a:buNone/>
            </a:pPr>
            <a:r>
              <a:rPr lang="en-US" sz="1600" b="1" dirty="0">
                <a:solidFill>
                  <a:schemeClr val="tx1"/>
                </a:solidFill>
              </a:rPr>
              <a:t>UPS / bateria dedicada</a:t>
            </a:r>
            <a:endParaRPr lang="en-US" sz="1600" dirty="0"/>
          </a:p>
        </p:txBody>
      </p:sp>
      <p:sp>
        <p:nvSpPr>
          <p:cNvPr id="15" name="Text 11"/>
          <p:cNvSpPr txBox="1"/>
          <p:nvPr/>
        </p:nvSpPr>
        <p:spPr>
          <a:xfrm>
            <a:off x="4617720" y="3474720"/>
            <a:ext cx="3108960" cy="320040"/>
          </a:xfrm>
          <a:prstGeom prst="rect">
            <a:avLst/>
          </a:prstGeom>
          <a:noFill/>
          <a:ln/>
        </p:spPr>
        <p:txBody>
          <a:bodyPr wrap="square" lIns="0" tIns="0" rIns="0" bIns="0" rtlCol="0" anchor="t"/>
          <a:lstStyle/>
          <a:p>
            <a:pPr indent="0" marL="0">
              <a:buNone/>
            </a:pPr>
            <a:r>
              <a:rPr lang="en-US" sz="1400" dirty="0">
                <a:solidFill>
                  <a:schemeClr val="tx2"/>
                </a:solidFill>
              </a:rPr>
              <a:t>Só se o posto não tiver</a:t>
            </a:r>
            <a:endParaRPr lang="en-US" sz="1400" dirty="0"/>
          </a:p>
        </p:txBody>
      </p:sp>
      <p:sp>
        <p:nvSpPr>
          <p:cNvPr id="16" name="Shape 12"/>
          <p:cNvSpPr/>
          <p:nvPr/>
        </p:nvSpPr>
        <p:spPr>
          <a:xfrm>
            <a:off x="8138160" y="1554480"/>
            <a:ext cx="3520440" cy="2331720"/>
          </a:xfrm>
          <a:prstGeom prst="roundRect">
            <a:avLst>
              <a:gd name="adj" fmla="val 5490"/>
            </a:avLst>
          </a:prstGeom>
          <a:solidFill>
            <a:schemeClr val="bg2"/>
          </a:solidFill>
          <a:ln/>
        </p:spPr>
      </p:sp>
      <p:sp>
        <p:nvSpPr>
          <p:cNvPr id="17" name="Shape 13"/>
          <p:cNvSpPr/>
          <p:nvPr/>
        </p:nvSpPr>
        <p:spPr>
          <a:xfrm>
            <a:off x="8412480" y="1783080"/>
            <a:ext cx="640080" cy="640080"/>
          </a:xfrm>
          <a:prstGeom prst="ellipse">
            <a:avLst/>
          </a:prstGeom>
          <a:solidFill>
            <a:srgbClr val="5B4BC4"/>
          </a:solidFill>
          <a:ln/>
        </p:spPr>
      </p:sp>
      <p:pic>
        <p:nvPicPr>
          <p:cNvPr id="18" name="Image 2" descr="preencoded.png">    </p:cNvPr>
          <p:cNvPicPr>
            <a:picLocks noChangeAspect="1"/>
          </p:cNvPicPr>
          <p:nvPr/>
        </p:nvPicPr>
        <p:blipFill>
          <a:blip r:embed="rId3"/>
          <a:stretch>
            <a:fillRect/>
          </a:stretch>
        </p:blipFill>
        <p:spPr>
          <a:xfrm>
            <a:off x="8553298" y="1923898"/>
            <a:ext cx="358445" cy="358445"/>
          </a:xfrm>
          <a:prstGeom prst="rect">
            <a:avLst/>
          </a:prstGeom>
        </p:spPr>
      </p:pic>
      <p:sp>
        <p:nvSpPr>
          <p:cNvPr id="19" name="Text 14"/>
          <p:cNvSpPr txBox="1"/>
          <p:nvPr/>
        </p:nvSpPr>
        <p:spPr>
          <a:xfrm>
            <a:off x="8412480" y="2560320"/>
            <a:ext cx="3108960" cy="594360"/>
          </a:xfrm>
          <a:prstGeom prst="rect">
            <a:avLst/>
          </a:prstGeom>
          <a:noFill/>
          <a:ln/>
        </p:spPr>
        <p:txBody>
          <a:bodyPr wrap="square" lIns="0" tIns="0" rIns="0" bIns="0" rtlCol="0" anchor="t"/>
          <a:lstStyle/>
          <a:p>
            <a:pPr indent="0" marL="0">
              <a:buNone/>
            </a:pPr>
            <a:r>
              <a:rPr lang="en-US" sz="3000" b="1" dirty="0">
                <a:solidFill>
                  <a:schemeClr val="accent1"/>
                </a:solidFill>
              </a:rPr>
              <a:t>Poucos US$/mês</a:t>
            </a:r>
            <a:endParaRPr lang="en-US" sz="3000" dirty="0"/>
          </a:p>
        </p:txBody>
      </p:sp>
      <p:sp>
        <p:nvSpPr>
          <p:cNvPr id="20" name="Text 15"/>
          <p:cNvSpPr txBox="1"/>
          <p:nvPr/>
        </p:nvSpPr>
        <p:spPr>
          <a:xfrm>
            <a:off x="8412480" y="3127248"/>
            <a:ext cx="3108960" cy="347472"/>
          </a:xfrm>
          <a:prstGeom prst="rect">
            <a:avLst/>
          </a:prstGeom>
          <a:noFill/>
          <a:ln/>
        </p:spPr>
        <p:txBody>
          <a:bodyPr wrap="square" lIns="0" tIns="0" rIns="0" bIns="0" rtlCol="0" anchor="t"/>
          <a:lstStyle/>
          <a:p>
            <a:pPr indent="0" marL="0">
              <a:buNone/>
            </a:pPr>
            <a:r>
              <a:rPr lang="en-US" sz="1600" b="1" dirty="0">
                <a:solidFill>
                  <a:schemeClr val="tx1"/>
                </a:solidFill>
              </a:rPr>
              <a:t>2 cartões SIM M2M</a:t>
            </a:r>
            <a:endParaRPr lang="en-US" sz="1600" dirty="0"/>
          </a:p>
        </p:txBody>
      </p:sp>
      <p:sp>
        <p:nvSpPr>
          <p:cNvPr id="21" name="Text 16"/>
          <p:cNvSpPr txBox="1"/>
          <p:nvPr/>
        </p:nvSpPr>
        <p:spPr>
          <a:xfrm>
            <a:off x="8412480" y="3474720"/>
            <a:ext cx="3108960" cy="320040"/>
          </a:xfrm>
          <a:prstGeom prst="rect">
            <a:avLst/>
          </a:prstGeom>
          <a:noFill/>
          <a:ln/>
        </p:spPr>
        <p:txBody>
          <a:bodyPr wrap="square" lIns="0" tIns="0" rIns="0" bIns="0" rtlCol="0" anchor="t"/>
          <a:lstStyle/>
          <a:p>
            <a:pPr indent="0" marL="0">
              <a:buNone/>
            </a:pPr>
            <a:r>
              <a:rPr lang="en-US" sz="1400" dirty="0">
                <a:solidFill>
                  <a:schemeClr val="tx2"/>
                </a:solidFill>
              </a:rPr>
              <a:t>≈ 5 MB de dados por mês</a:t>
            </a:r>
            <a:endParaRPr lang="en-US" sz="1400" dirty="0"/>
          </a:p>
        </p:txBody>
      </p:sp>
      <p:sp>
        <p:nvSpPr>
          <p:cNvPr id="22" name="Shape 17"/>
          <p:cNvSpPr/>
          <p:nvPr/>
        </p:nvSpPr>
        <p:spPr>
          <a:xfrm>
            <a:off x="548640" y="4114800"/>
            <a:ext cx="11109960" cy="960120"/>
          </a:xfrm>
          <a:prstGeom prst="roundRect">
            <a:avLst>
              <a:gd name="adj" fmla="val 11429"/>
            </a:avLst>
          </a:prstGeom>
          <a:solidFill>
            <a:schemeClr val="accent2">
              <a:alpha val="18000"/>
            </a:schemeClr>
          </a:solidFill>
          <a:ln/>
        </p:spPr>
      </p:sp>
      <p:sp>
        <p:nvSpPr>
          <p:cNvPr id="23" name="Shape 18"/>
          <p:cNvSpPr/>
          <p:nvPr/>
        </p:nvSpPr>
        <p:spPr>
          <a:xfrm>
            <a:off x="777240" y="4279392"/>
            <a:ext cx="640080" cy="640080"/>
          </a:xfrm>
          <a:prstGeom prst="ellipse">
            <a:avLst/>
          </a:prstGeom>
          <a:solidFill>
            <a:srgbClr val="8A5A00"/>
          </a:solidFill>
          <a:ln/>
        </p:spPr>
      </p:sp>
      <p:pic>
        <p:nvPicPr>
          <p:cNvPr id="24" name="Image 3" descr="preencoded.png">    </p:cNvPr>
          <p:cNvPicPr>
            <a:picLocks noChangeAspect="1"/>
          </p:cNvPicPr>
          <p:nvPr/>
        </p:nvPicPr>
        <p:blipFill>
          <a:blip r:embed="rId4"/>
          <a:stretch>
            <a:fillRect/>
          </a:stretch>
        </p:blipFill>
        <p:spPr>
          <a:xfrm>
            <a:off x="918058" y="4420210"/>
            <a:ext cx="358445" cy="358445"/>
          </a:xfrm>
          <a:prstGeom prst="rect">
            <a:avLst/>
          </a:prstGeom>
        </p:spPr>
      </p:pic>
      <p:sp>
        <p:nvSpPr>
          <p:cNvPr id="25" name="Text 19"/>
          <p:cNvSpPr txBox="1"/>
          <p:nvPr/>
        </p:nvSpPr>
        <p:spPr>
          <a:xfrm>
            <a:off x="1600200" y="4114800"/>
            <a:ext cx="9875520" cy="960120"/>
          </a:xfrm>
          <a:prstGeom prst="rect">
            <a:avLst/>
          </a:prstGeom>
          <a:noFill/>
          <a:ln/>
        </p:spPr>
        <p:txBody>
          <a:bodyPr wrap="square" lIns="0" tIns="0" rIns="0" bIns="0" rtlCol="0" anchor="ctr"/>
          <a:lstStyle/>
          <a:p>
            <a:pPr indent="0" marL="0">
              <a:buNone/>
            </a:pPr>
            <a:r>
              <a:rPr lang="en-US" sz="1600" b="1" dirty="0">
                <a:solidFill>
                  <a:schemeClr val="tx1"/>
                </a:solidFill>
              </a:rPr>
              <a:t>Postos sem medidor automático: </a:t>
            </a:r>
            <a:pPr indent="0" marL="0">
              <a:buNone/>
            </a:pPr>
            <a:r>
              <a:rPr lang="en-US" sz="1600" dirty="0">
                <a:solidFill>
                  <a:schemeClr val="tx1"/>
                </a:solidFill>
              </a:rPr>
              <a:t>sonda ou radar certificado + instalação — de centenas a mais de US$ 2 000 por tanque.</a:t>
            </a:r>
            <a:endParaRPr lang="en-US" sz="1600" dirty="0"/>
          </a:p>
        </p:txBody>
      </p:sp>
      <p:sp>
        <p:nvSpPr>
          <p:cNvPr id="26" name="Shape 20"/>
          <p:cNvSpPr/>
          <p:nvPr/>
        </p:nvSpPr>
        <p:spPr>
          <a:xfrm>
            <a:off x="548640" y="5303520"/>
            <a:ext cx="11109960" cy="822960"/>
          </a:xfrm>
          <a:prstGeom prst="roundRect">
            <a:avLst>
              <a:gd name="adj" fmla="val 13333"/>
            </a:avLst>
          </a:prstGeom>
          <a:solidFill>
            <a:schemeClr val="accent3">
              <a:alpha val="12000"/>
            </a:schemeClr>
          </a:solidFill>
          <a:ln/>
        </p:spPr>
      </p:sp>
      <p:pic>
        <p:nvPicPr>
          <p:cNvPr id="27" name="Image 4" descr="preencoded.png">    </p:cNvPr>
          <p:cNvPicPr>
            <a:picLocks noChangeAspect="1"/>
          </p:cNvPicPr>
          <p:nvPr/>
        </p:nvPicPr>
        <p:blipFill>
          <a:blip r:embed="rId5"/>
          <a:stretch>
            <a:fillRect/>
          </a:stretch>
        </p:blipFill>
        <p:spPr>
          <a:xfrm>
            <a:off x="777240" y="5468112"/>
            <a:ext cx="457200" cy="457200"/>
          </a:xfrm>
          <a:prstGeom prst="rect">
            <a:avLst/>
          </a:prstGeom>
        </p:spPr>
      </p:pic>
      <p:sp>
        <p:nvSpPr>
          <p:cNvPr id="28" name="Text 21"/>
          <p:cNvSpPr txBox="1"/>
          <p:nvPr/>
        </p:nvSpPr>
        <p:spPr>
          <a:xfrm>
            <a:off x="1417320" y="5303520"/>
            <a:ext cx="10058400" cy="822960"/>
          </a:xfrm>
          <a:prstGeom prst="rect">
            <a:avLst/>
          </a:prstGeom>
          <a:noFill/>
          <a:ln/>
        </p:spPr>
        <p:txBody>
          <a:bodyPr wrap="square" lIns="0" tIns="0" rIns="0" bIns="0" rtlCol="0" anchor="ctr"/>
          <a:lstStyle/>
          <a:p>
            <a:pPr indent="0" marL="0">
              <a:buNone/>
            </a:pPr>
            <a:r>
              <a:rPr lang="en-US" sz="1500" b="1" dirty="0">
                <a:solidFill>
                  <a:schemeClr val="accent3"/>
                </a:solidFill>
              </a:rPr>
              <a:t>Estimativas de mercado, não uma cotação. </a:t>
            </a:r>
            <a:pPr indent="0" marL="0">
              <a:buNone/>
            </a:pPr>
            <a:r>
              <a:rPr lang="en-US" sz="1500" dirty="0">
                <a:solidFill>
                  <a:schemeClr val="tx1"/>
                </a:solidFill>
              </a:rPr>
              <a:t>Os valores reais saem do levantamento: fornecedores locais, impostos e importação.</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65760"/>
          </a:xfrm>
          <a:prstGeom prst="rect">
            <a:avLst/>
          </a:prstGeom>
          <a:noFill/>
          <a:ln/>
        </p:spPr>
        <p:txBody>
          <a:bodyPr wrap="square" lIns="0" tIns="0" rIns="0" bIns="0" rtlCol="0"/>
          <a:lstStyle/>
          <a:p>
            <a:pPr indent="0" marL="0">
              <a:buNone/>
            </a:pPr>
            <a:r>
              <a:rPr lang="en-US" sz="1300" b="1" spc="300" kern="0" dirty="0">
                <a:solidFill>
                  <a:schemeClr val="accent2"/>
                </a:solidFill>
                <a:latin typeface="Courier New" pitchFamily="34" charset="0"/>
                <a:ea typeface="Courier New" pitchFamily="34" charset="-122"/>
                <a:cs typeface="Courier New" pitchFamily="34" charset="-120"/>
              </a:rPr>
              <a:t>10 · PRÓXIMO PASSO</a:t>
            </a:r>
            <a:endParaRPr lang="en-US" sz="1300" dirty="0"/>
          </a:p>
        </p:txBody>
      </p:sp>
      <p:sp>
        <p:nvSpPr>
          <p:cNvPr id="3" name="Text 0"/>
          <p:cNvSpPr/>
          <p:nvPr>
            <p:ph idx="101" type="title" hasCustomPrompt="1"/>
          </p:nvPr>
        </p:nvSpPr>
        <p:spPr>
          <a:xfrm>
            <a:off x="548640" y="868680"/>
            <a:ext cx="11064240" cy="914400"/>
          </a:xfrm>
          <a:prstGeom prst="rect">
            <a:avLst/>
          </a:prstGeom>
          <a:noFill/>
          <a:ln/>
        </p:spPr>
        <p:txBody>
          <a:bodyPr wrap="square" lIns="0" tIns="0" rIns="0" bIns="0" rtlCol="0" anchor="t"/>
          <a:lstStyle/>
          <a:p>
            <a:pPr algn="l" indent="0" marL="0">
              <a:buNone/>
            </a:pPr>
            <a:r>
              <a:rPr lang="en-US" sz="4000" b="1" dirty="0">
                <a:solidFill>
                  <a:schemeClr val="bg1"/>
                </a:solidFill>
              </a:rPr>
              <a:t>Visita técnica a 2–3 postos em Luanda</a:t>
            </a:r>
            <a:endParaRPr lang="en-US" sz="4000" dirty="0"/>
          </a:p>
        </p:txBody>
      </p:sp>
      <p:sp>
        <p:nvSpPr>
          <p:cNvPr id="4" name="Text 2"/>
          <p:cNvSpPr txBox="1"/>
          <p:nvPr/>
        </p:nvSpPr>
        <p:spPr>
          <a:xfrm>
            <a:off x="548640" y="1783080"/>
            <a:ext cx="10515600" cy="731520"/>
          </a:xfrm>
          <a:prstGeom prst="rect">
            <a:avLst/>
          </a:prstGeom>
          <a:noFill/>
          <a:ln/>
        </p:spPr>
        <p:txBody>
          <a:bodyPr wrap="square" lIns="0" tIns="0" rIns="0" bIns="0" rtlCol="0" anchor="t"/>
          <a:lstStyle/>
          <a:p>
            <a:pPr indent="0" marL="0">
              <a:buNone/>
            </a:pPr>
            <a:r>
              <a:rPr lang="en-US" sz="1800" dirty="0">
                <a:solidFill>
                  <a:srgbClr val="C9CFDD"/>
                </a:solidFill>
              </a:rPr>
              <a:t>Fotografar as consolas, medir o sinal móvel e confirmar a ligação — e o plano passa de estimativa a proposta concreta.</a:t>
            </a:r>
            <a:endParaRPr lang="en-US" sz="1800" dirty="0"/>
          </a:p>
        </p:txBody>
      </p:sp>
      <p:sp>
        <p:nvSpPr>
          <p:cNvPr id="5" name="Shape 3"/>
          <p:cNvSpPr/>
          <p:nvPr/>
        </p:nvSpPr>
        <p:spPr>
          <a:xfrm>
            <a:off x="548640" y="2834640"/>
            <a:ext cx="3520440" cy="2194560"/>
          </a:xfrm>
          <a:prstGeom prst="roundRect">
            <a:avLst>
              <a:gd name="adj" fmla="val 5833"/>
            </a:avLst>
          </a:prstGeom>
          <a:solidFill>
            <a:schemeClr val="bg1">
              <a:alpha val="8000"/>
            </a:schemeClr>
          </a:solidFill>
          <a:ln w="12700">
            <a:solidFill>
              <a:srgbClr val="3A4A6B"/>
            </a:solidFill>
            <a:prstDash val="solid"/>
          </a:ln>
        </p:spPr>
      </p:sp>
      <p:sp>
        <p:nvSpPr>
          <p:cNvPr id="6" name="Text 4"/>
          <p:cNvSpPr txBox="1"/>
          <p:nvPr/>
        </p:nvSpPr>
        <p:spPr>
          <a:xfrm>
            <a:off x="822960" y="3108960"/>
            <a:ext cx="640080" cy="640080"/>
          </a:xfrm>
          <a:prstGeom prst="ellipse">
            <a:avLst>
              <a:gd name="adj" fmla="val 11429"/>
            </a:avLst>
          </a:prstGeom>
          <a:solidFill>
            <a:schemeClr val="accent2"/>
          </a:solid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7" name="Text 5"/>
          <p:cNvSpPr txBox="1"/>
          <p:nvPr/>
        </p:nvSpPr>
        <p:spPr>
          <a:xfrm>
            <a:off x="822960" y="3931920"/>
            <a:ext cx="3017520" cy="1005840"/>
          </a:xfrm>
          <a:prstGeom prst="rect">
            <a:avLst/>
          </a:prstGeom>
          <a:noFill/>
          <a:ln/>
        </p:spPr>
        <p:txBody>
          <a:bodyPr wrap="square" lIns="0" tIns="0" rIns="0" bIns="0" rtlCol="0" anchor="t"/>
          <a:lstStyle/>
          <a:p>
            <a:pPr indent="0" marL="0">
              <a:buNone/>
            </a:pPr>
            <a:r>
              <a:rPr lang="en-US" sz="1800" b="1" dirty="0">
                <a:solidFill>
                  <a:schemeClr val="bg1"/>
                </a:solidFill>
              </a:rPr>
              <a:t>Que marcas de medidor automático (ATG) estão instaladas nos postos?</a:t>
            </a:r>
            <a:endParaRPr lang="en-US" sz="1800" dirty="0"/>
          </a:p>
        </p:txBody>
      </p:sp>
      <p:sp>
        <p:nvSpPr>
          <p:cNvPr id="8" name="Shape 6"/>
          <p:cNvSpPr/>
          <p:nvPr/>
        </p:nvSpPr>
        <p:spPr>
          <a:xfrm>
            <a:off x="4343400" y="2834640"/>
            <a:ext cx="3520440" cy="2194560"/>
          </a:xfrm>
          <a:prstGeom prst="roundRect">
            <a:avLst>
              <a:gd name="adj" fmla="val 5833"/>
            </a:avLst>
          </a:prstGeom>
          <a:solidFill>
            <a:schemeClr val="bg1">
              <a:alpha val="8000"/>
            </a:schemeClr>
          </a:solidFill>
          <a:ln w="12700">
            <a:solidFill>
              <a:srgbClr val="3A4A6B"/>
            </a:solidFill>
            <a:prstDash val="solid"/>
          </a:ln>
        </p:spPr>
      </p:sp>
      <p:sp>
        <p:nvSpPr>
          <p:cNvPr id="9" name="Text 7"/>
          <p:cNvSpPr txBox="1"/>
          <p:nvPr/>
        </p:nvSpPr>
        <p:spPr>
          <a:xfrm>
            <a:off x="4617720" y="3108960"/>
            <a:ext cx="640080" cy="640080"/>
          </a:xfrm>
          <a:prstGeom prst="ellipse">
            <a:avLst>
              <a:gd name="adj" fmla="val 11429"/>
            </a:avLst>
          </a:prstGeom>
          <a:solidFill>
            <a:schemeClr val="accent2"/>
          </a:solid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0" name="Text 8"/>
          <p:cNvSpPr txBox="1"/>
          <p:nvPr/>
        </p:nvSpPr>
        <p:spPr>
          <a:xfrm>
            <a:off x="4617720" y="3931920"/>
            <a:ext cx="3017520" cy="1005840"/>
          </a:xfrm>
          <a:prstGeom prst="rect">
            <a:avLst/>
          </a:prstGeom>
          <a:noFill/>
          <a:ln/>
        </p:spPr>
        <p:txBody>
          <a:bodyPr wrap="square" lIns="0" tIns="0" rIns="0" bIns="0" rtlCol="0" anchor="t"/>
          <a:lstStyle/>
          <a:p>
            <a:pPr indent="0" marL="0">
              <a:buNone/>
            </a:pPr>
            <a:r>
              <a:rPr lang="en-US" sz="1800" b="1" dirty="0">
                <a:solidFill>
                  <a:schemeClr val="bg1"/>
                </a:solidFill>
              </a:rPr>
              <a:t>Onde alojar a plataforma: datacenter da Sonangol ou nuvem?</a:t>
            </a:r>
            <a:endParaRPr lang="en-US" sz="1800" dirty="0"/>
          </a:p>
        </p:txBody>
      </p:sp>
      <p:sp>
        <p:nvSpPr>
          <p:cNvPr id="11" name="Shape 9"/>
          <p:cNvSpPr/>
          <p:nvPr/>
        </p:nvSpPr>
        <p:spPr>
          <a:xfrm>
            <a:off x="8138160" y="2834640"/>
            <a:ext cx="3520440" cy="2194560"/>
          </a:xfrm>
          <a:prstGeom prst="roundRect">
            <a:avLst>
              <a:gd name="adj" fmla="val 5833"/>
            </a:avLst>
          </a:prstGeom>
          <a:solidFill>
            <a:schemeClr val="bg1">
              <a:alpha val="8000"/>
            </a:schemeClr>
          </a:solidFill>
          <a:ln w="12700">
            <a:solidFill>
              <a:srgbClr val="3A4A6B"/>
            </a:solidFill>
            <a:prstDash val="solid"/>
          </a:ln>
        </p:spPr>
      </p:sp>
      <p:sp>
        <p:nvSpPr>
          <p:cNvPr id="12" name="Text 10"/>
          <p:cNvSpPr txBox="1"/>
          <p:nvPr/>
        </p:nvSpPr>
        <p:spPr>
          <a:xfrm>
            <a:off x="8412480" y="3108960"/>
            <a:ext cx="640080" cy="640080"/>
          </a:xfrm>
          <a:prstGeom prst="ellipse">
            <a:avLst>
              <a:gd name="adj" fmla="val 11429"/>
            </a:avLst>
          </a:prstGeom>
          <a:solidFill>
            <a:schemeClr val="accent2"/>
          </a:solid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3" name="Text 11"/>
          <p:cNvSpPr txBox="1"/>
          <p:nvPr/>
        </p:nvSpPr>
        <p:spPr>
          <a:xfrm>
            <a:off x="8412480" y="3931920"/>
            <a:ext cx="3017520" cy="1005840"/>
          </a:xfrm>
          <a:prstGeom prst="rect">
            <a:avLst/>
          </a:prstGeom>
          <a:noFill/>
          <a:ln/>
        </p:spPr>
        <p:txBody>
          <a:bodyPr wrap="square" lIns="0" tIns="0" rIns="0" bIns="0" rtlCol="0" anchor="t"/>
          <a:lstStyle/>
          <a:p>
            <a:pPr indent="0" marL="0">
              <a:buNone/>
            </a:pPr>
            <a:r>
              <a:rPr lang="en-US" sz="1800" b="1" dirty="0">
                <a:solidFill>
                  <a:schemeClr val="bg1"/>
                </a:solidFill>
              </a:rPr>
              <a:t>Quem lidera o piloto: Operações, TI ou Logística?</a:t>
            </a:r>
            <a:endParaRPr lang="en-US" sz="1800" dirty="0"/>
          </a:p>
        </p:txBody>
      </p:sp>
      <p:sp>
        <p:nvSpPr>
          <p:cNvPr id="14" name="Text 12"/>
          <p:cNvSpPr txBox="1"/>
          <p:nvPr/>
        </p:nvSpPr>
        <p:spPr>
          <a:xfrm>
            <a:off x="548640" y="5760720"/>
            <a:ext cx="8778240" cy="411480"/>
          </a:xfrm>
          <a:prstGeom prst="rect">
            <a:avLst/>
          </a:prstGeom>
          <a:noFill/>
          <a:ln/>
        </p:spPr>
        <p:txBody>
          <a:bodyPr wrap="square" lIns="0" tIns="0" rIns="0" bIns="0" rtlCol="0" anchor="t"/>
          <a:lstStyle/>
          <a:p>
            <a:pPr indent="0" marL="0">
              <a:buNone/>
            </a:pPr>
            <a:r>
              <a:rPr lang="en-US" sz="1600" b="1" dirty="0">
                <a:solidFill>
                  <a:schemeClr val="bg1"/>
                </a:solidFill>
              </a:rPr>
              <a:t>Aires Augusto Miguêns</a:t>
            </a:r>
            <a:pPr indent="0" marL="0">
              <a:buNone/>
            </a:pPr>
            <a:r>
              <a:rPr lang="en-US" sz="1600" dirty="0">
                <a:solidFill>
                  <a:schemeClr val="bg1"/>
                </a:solidFill>
              </a:rPr>
              <a:t>  ·  airesmiguens@gmail.com  ·  +244 931 391 063  ·  airestech.us</a:t>
            </a:r>
            <a:endParaRPr lang="en-US" sz="1600" dirty="0"/>
          </a:p>
        </p:txBody>
      </p:sp>
      <p:pic>
        <p:nvPicPr>
          <p:cNvPr id="15" name="logo-sonangol" descr="Sonangol">    </p:cNvPr>
          <p:cNvPicPr>
            <a:picLocks noChangeAspect="1"/>
          </p:cNvPicPr>
          <p:nvPr/>
        </p:nvPicPr>
        <p:blipFill>
          <a:blip r:embed="rId1"/>
          <a:stretch>
            <a:fillRect/>
          </a:stretch>
        </p:blipFill>
        <p:spPr>
          <a:xfrm>
            <a:off x="10031096" y="5742432"/>
            <a:ext cx="1627504" cy="457200"/>
          </a:xfrm>
          <a:prstGeom prst="rect">
            <a:avLst/>
          </a:prstGeom>
        </p:spPr>
      </p:pic>
    </p:spTree>
  </p:cSld>
  <p:clrMapOvr>
    <a:masterClrMapping/>
  </p:clrMapOvr>
</p:sld>
</file>

<file path=ppt/theme/theme1.xml><?xml version="1.0" encoding="utf-8"?>
<a:theme xmlns:a="http://schemas.openxmlformats.org/drawingml/2006/main" name="Vigia">
  <a:themeElements>
    <a:clrScheme name="Vigia">
      <a:dk1>
        <a:srgbClr val="14213D"/>
      </a:dk1>
      <a:lt1>
        <a:srgbClr val="FFFFFF"/>
      </a:lt1>
      <a:dk2>
        <a:srgbClr val="4A5568"/>
      </a:dk2>
      <a:lt2>
        <a:srgbClr val="F4F5F7"/>
      </a:lt2>
      <a:accent1>
        <a:srgbClr val="5B4BC4"/>
      </a:accent1>
      <a:accent2>
        <a:srgbClr val="E9A23B"/>
      </a:accent2>
      <a:accent3>
        <a:srgbClr val="B42318"/>
      </a:accent3>
      <a:accent4>
        <a:srgbClr val="1E7A46"/>
      </a:accent4>
      <a:accent5>
        <a:srgbClr val="4F8FD6"/>
      </a:accent5>
      <a:accent6>
        <a:srgbClr val="8A5A00"/>
      </a:accent6>
      <a:hlink>
        <a:srgbClr val="5B4BC4"/>
      </a:hlink>
      <a:folHlink>
        <a:srgbClr val="4A5568"/>
      </a:folHlink>
    </a:clrScheme>
    <a:fontScheme name="Vigi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Vigia — Telemetria remota de tanques</dc:title>
  <dc:subject>Arquitetura técnica de telemetria de tanques para a Sonangol Distribuidora</dc:subject>
  <dc:creator>Aires Augusto Miguêns</dc:creator>
  <cp:lastModifiedBy>Aires Augusto Miguêns</cp:lastModifiedBy>
  <cp:revision>1</cp:revision>
  <dcterms:created xsi:type="dcterms:W3CDTF">2026-10-21T07:11:16Z</dcterms:created>
  <dcterms:modified xsi:type="dcterms:W3CDTF">2026-10-21T07:11:16Z</dcterms:modified>
</cp:coreProperties>
</file>